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5"/>
  </p:notesMasterIdLst>
  <p:sldIdLst>
    <p:sldId id="437" r:id="rId5"/>
    <p:sldId id="438" r:id="rId6"/>
    <p:sldId id="439" r:id="rId7"/>
    <p:sldId id="440" r:id="rId8"/>
    <p:sldId id="524" r:id="rId9"/>
    <p:sldId id="544" r:id="rId10"/>
    <p:sldId id="597" r:id="rId11"/>
    <p:sldId id="598" r:id="rId12"/>
    <p:sldId id="580" r:id="rId13"/>
    <p:sldId id="604" r:id="rId14"/>
    <p:sldId id="626" r:id="rId15"/>
    <p:sldId id="627" r:id="rId16"/>
    <p:sldId id="628" r:id="rId17"/>
    <p:sldId id="630" r:id="rId18"/>
    <p:sldId id="629" r:id="rId19"/>
    <p:sldId id="605" r:id="rId20"/>
    <p:sldId id="606" r:id="rId21"/>
    <p:sldId id="607" r:id="rId22"/>
    <p:sldId id="608" r:id="rId23"/>
    <p:sldId id="609" r:id="rId24"/>
    <p:sldId id="610" r:id="rId25"/>
    <p:sldId id="611" r:id="rId26"/>
    <p:sldId id="579" r:id="rId27"/>
    <p:sldId id="612" r:id="rId28"/>
    <p:sldId id="613" r:id="rId29"/>
    <p:sldId id="614" r:id="rId30"/>
    <p:sldId id="615" r:id="rId31"/>
    <p:sldId id="616" r:id="rId32"/>
    <p:sldId id="617" r:id="rId33"/>
    <p:sldId id="618" r:id="rId34"/>
    <p:sldId id="581" r:id="rId35"/>
    <p:sldId id="619" r:id="rId36"/>
    <p:sldId id="620" r:id="rId37"/>
    <p:sldId id="621" r:id="rId38"/>
    <p:sldId id="622" r:id="rId39"/>
    <p:sldId id="595" r:id="rId40"/>
    <p:sldId id="486" r:id="rId41"/>
    <p:sldId id="487" r:id="rId42"/>
    <p:sldId id="624" r:id="rId43"/>
    <p:sldId id="488" r:id="rId44"/>
  </p:sldIdLst>
  <p:sldSz cx="18288000" cy="10287000"/>
  <p:notesSz cx="6858000" cy="9144000"/>
  <p:embeddedFontLst>
    <p:embeddedFont>
      <p:font typeface="Cambria Math" panose="02040503050406030204" pitchFamily="18" charset="0"/>
      <p:regular r:id="rId46"/>
    </p:embeddedFont>
    <p:embeddedFont>
      <p:font typeface="Montserrat 1" panose="020B0604020202020204" charset="0"/>
      <p:regular r:id="rId47"/>
    </p:embeddedFont>
    <p:embeddedFont>
      <p:font typeface="Montserrat 1 Bold" panose="020B0604020202020204" charset="0"/>
      <p:regular r:id="rId48"/>
    </p:embeddedFont>
    <p:embeddedFont>
      <p:font typeface="Montserrat 2" panose="020B0604020202020204" charset="0"/>
      <p:regular r:id="rId49"/>
    </p:embeddedFont>
    <p:embeddedFont>
      <p:font typeface="Montserrat 2 Bold" panose="020B0604020202020204" charset="0"/>
      <p:regular r:id="rId50"/>
    </p:embeddedFont>
    <p:embeddedFont>
      <p:font typeface="Montserrat 2 Medium" panose="020B0604020202020204" charset="0"/>
      <p:regular r:id="rId51"/>
    </p:embeddedFont>
    <p:embeddedFont>
      <p:font typeface="Phoenix Square" panose="020B0604020202020204" charset="0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C951B0A-B001-02A1-36BC-9C7639ABFEF5}" name="Federico De Donatis" initials="FD" userId="S::federico.dedonatis@suncubes.space::83371a07-8c34-4fdc-a9d5-8b5dbf947458" providerId="AD"/>
  <p188:author id="{8B7364AA-8F0A-C579-A9B1-BF6AF1F986D3}" name="Luca Attorrese" initials="LA" userId="S::luca.attorrese@suncubes.space::f58af1db-81da-45aa-bf02-5dd3889653d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1740CE-E833-4260-87F3-3E2DE5EFD47F}" v="75" dt="2026-10-21T09:12:15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3.fntdata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1.fntdata"/><Relationship Id="rId59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4.fntdata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Attorrese" userId="f58af1db-81da-45aa-bf02-5dd3889653d1" providerId="ADAL" clId="{A75278D7-9768-4157-8FBA-42650A5E073F}"/>
    <pc:docChg chg="custSel addSld delSld modSld sldOrd">
      <pc:chgData name="Luca Attorrese" userId="f58af1db-81da-45aa-bf02-5dd3889653d1" providerId="ADAL" clId="{A75278D7-9768-4157-8FBA-42650A5E073F}" dt="2026-10-21T17:35:26.232" v="40" actId="47"/>
      <pc:docMkLst>
        <pc:docMk/>
      </pc:docMkLst>
      <pc:sldChg chg="del">
        <pc:chgData name="Luca Attorrese" userId="f58af1db-81da-45aa-bf02-5dd3889653d1" providerId="ADAL" clId="{A75278D7-9768-4157-8FBA-42650A5E073F}" dt="2026-10-21T17:35:20.521" v="39" actId="47"/>
        <pc:sldMkLst>
          <pc:docMk/>
          <pc:sldMk cId="1520006614" sldId="578"/>
        </pc:sldMkLst>
      </pc:sldChg>
      <pc:sldChg chg="del">
        <pc:chgData name="Luca Attorrese" userId="f58af1db-81da-45aa-bf02-5dd3889653d1" providerId="ADAL" clId="{A75278D7-9768-4157-8FBA-42650A5E073F}" dt="2026-10-21T17:35:17.065" v="38" actId="47"/>
        <pc:sldMkLst>
          <pc:docMk/>
          <pc:sldMk cId="1605977858" sldId="596"/>
        </pc:sldMkLst>
      </pc:sldChg>
      <pc:sldChg chg="del">
        <pc:chgData name="Luca Attorrese" userId="f58af1db-81da-45aa-bf02-5dd3889653d1" providerId="ADAL" clId="{A75278D7-9768-4157-8FBA-42650A5E073F}" dt="2026-10-21T17:35:14.068" v="37" actId="2696"/>
        <pc:sldMkLst>
          <pc:docMk/>
          <pc:sldMk cId="1605977858" sldId="599"/>
        </pc:sldMkLst>
      </pc:sldChg>
      <pc:sldChg chg="del">
        <pc:chgData name="Luca Attorrese" userId="f58af1db-81da-45aa-bf02-5dd3889653d1" providerId="ADAL" clId="{A75278D7-9768-4157-8FBA-42650A5E073F}" dt="2026-10-21T09:10:47.028" v="5"/>
        <pc:sldMkLst>
          <pc:docMk/>
          <pc:sldMk cId="1605977858" sldId="600"/>
        </pc:sldMkLst>
      </pc:sldChg>
      <pc:sldChg chg="del">
        <pc:chgData name="Luca Attorrese" userId="f58af1db-81da-45aa-bf02-5dd3889653d1" providerId="ADAL" clId="{A75278D7-9768-4157-8FBA-42650A5E073F}" dt="2026-10-21T09:10:50.452" v="9"/>
        <pc:sldMkLst>
          <pc:docMk/>
          <pc:sldMk cId="1605977858" sldId="601"/>
        </pc:sldMkLst>
      </pc:sldChg>
      <pc:sldChg chg="del">
        <pc:chgData name="Luca Attorrese" userId="f58af1db-81da-45aa-bf02-5dd3889653d1" providerId="ADAL" clId="{A75278D7-9768-4157-8FBA-42650A5E073F}" dt="2026-10-21T09:10:51.802" v="11"/>
        <pc:sldMkLst>
          <pc:docMk/>
          <pc:sldMk cId="1605977858" sldId="602"/>
        </pc:sldMkLst>
      </pc:sldChg>
      <pc:sldChg chg="del ord">
        <pc:chgData name="Luca Attorrese" userId="f58af1db-81da-45aa-bf02-5dd3889653d1" providerId="ADAL" clId="{A75278D7-9768-4157-8FBA-42650A5E073F}" dt="2026-10-21T09:10:49.111" v="7"/>
        <pc:sldMkLst>
          <pc:docMk/>
          <pc:sldMk cId="1605977858" sldId="603"/>
        </pc:sldMkLst>
      </pc:sldChg>
      <pc:sldChg chg="ord">
        <pc:chgData name="Luca Attorrese" userId="f58af1db-81da-45aa-bf02-5dd3889653d1" providerId="ADAL" clId="{A75278D7-9768-4157-8FBA-42650A5E073F}" dt="2026-10-21T08:47:38.126" v="1"/>
        <pc:sldMkLst>
          <pc:docMk/>
          <pc:sldMk cId="1605977858" sldId="604"/>
        </pc:sldMkLst>
      </pc:sldChg>
      <pc:sldChg chg="modSp mod">
        <pc:chgData name="Luca Attorrese" userId="f58af1db-81da-45aa-bf02-5dd3889653d1" providerId="ADAL" clId="{A75278D7-9768-4157-8FBA-42650A5E073F}" dt="2026-10-21T12:50:46.884" v="34" actId="122"/>
        <pc:sldMkLst>
          <pc:docMk/>
          <pc:sldMk cId="1605977858" sldId="616"/>
        </pc:sldMkLst>
        <pc:spChg chg="mod">
          <ac:chgData name="Luca Attorrese" userId="f58af1db-81da-45aa-bf02-5dd3889653d1" providerId="ADAL" clId="{A75278D7-9768-4157-8FBA-42650A5E073F}" dt="2026-10-21T12:50:46.884" v="34" actId="122"/>
          <ac:spMkLst>
            <pc:docMk/>
            <pc:sldMk cId="1605977858" sldId="616"/>
            <ac:spMk id="48" creationId="{00000000-0000-0000-0000-000000000000}"/>
          </ac:spMkLst>
        </pc:spChg>
        <pc:spChg chg="mod">
          <ac:chgData name="Luca Attorrese" userId="f58af1db-81da-45aa-bf02-5dd3889653d1" providerId="ADAL" clId="{A75278D7-9768-4157-8FBA-42650A5E073F}" dt="2026-10-21T12:50:45.405" v="33" actId="122"/>
          <ac:spMkLst>
            <pc:docMk/>
            <pc:sldMk cId="1605977858" sldId="616"/>
            <ac:spMk id="49" creationId="{00000000-0000-0000-0000-000000000000}"/>
          </ac:spMkLst>
        </pc:spChg>
        <pc:spChg chg="mod">
          <ac:chgData name="Luca Attorrese" userId="f58af1db-81da-45aa-bf02-5dd3889653d1" providerId="ADAL" clId="{A75278D7-9768-4157-8FBA-42650A5E073F}" dt="2026-10-21T12:50:33.231" v="29" actId="122"/>
          <ac:spMkLst>
            <pc:docMk/>
            <pc:sldMk cId="1605977858" sldId="616"/>
            <ac:spMk id="52" creationId="{00000000-0000-0000-0000-000000000000}"/>
          </ac:spMkLst>
        </pc:spChg>
        <pc:spChg chg="mod">
          <ac:chgData name="Luca Attorrese" userId="f58af1db-81da-45aa-bf02-5dd3889653d1" providerId="ADAL" clId="{A75278D7-9768-4157-8FBA-42650A5E073F}" dt="2026-10-21T12:50:43.293" v="32" actId="122"/>
          <ac:spMkLst>
            <pc:docMk/>
            <pc:sldMk cId="1605977858" sldId="616"/>
            <ac:spMk id="53" creationId="{00000000-0000-0000-0000-000000000000}"/>
          </ac:spMkLst>
        </pc:spChg>
        <pc:spChg chg="mod">
          <ac:chgData name="Luca Attorrese" userId="f58af1db-81da-45aa-bf02-5dd3889653d1" providerId="ADAL" clId="{A75278D7-9768-4157-8FBA-42650A5E073F}" dt="2026-10-21T12:50:34.891" v="30" actId="122"/>
          <ac:spMkLst>
            <pc:docMk/>
            <pc:sldMk cId="1605977858" sldId="616"/>
            <ac:spMk id="56" creationId="{00000000-0000-0000-0000-000000000000}"/>
          </ac:spMkLst>
        </pc:spChg>
        <pc:spChg chg="mod">
          <ac:chgData name="Luca Attorrese" userId="f58af1db-81da-45aa-bf02-5dd3889653d1" providerId="ADAL" clId="{A75278D7-9768-4157-8FBA-42650A5E073F}" dt="2026-10-21T12:50:41.343" v="31" actId="122"/>
          <ac:spMkLst>
            <pc:docMk/>
            <pc:sldMk cId="1605977858" sldId="616"/>
            <ac:spMk id="57" creationId="{00000000-0000-0000-0000-000000000000}"/>
          </ac:spMkLst>
        </pc:spChg>
      </pc:sldChg>
      <pc:sldChg chg="del">
        <pc:chgData name="Luca Attorrese" userId="f58af1db-81da-45aa-bf02-5dd3889653d1" providerId="ADAL" clId="{A75278D7-9768-4157-8FBA-42650A5E073F}" dt="2026-10-21T17:35:26.232" v="40" actId="47"/>
        <pc:sldMkLst>
          <pc:docMk/>
          <pc:sldMk cId="1605977858" sldId="623"/>
        </pc:sldMkLst>
      </pc:sldChg>
      <pc:sldChg chg="add del ord">
        <pc:chgData name="Luca Attorrese" userId="f58af1db-81da-45aa-bf02-5dd3889653d1" providerId="ADAL" clId="{A75278D7-9768-4157-8FBA-42650A5E073F}" dt="2026-10-21T09:12:15.339" v="14"/>
        <pc:sldMkLst>
          <pc:docMk/>
          <pc:sldMk cId="3441503872" sldId="625"/>
        </pc:sldMkLst>
      </pc:sldChg>
      <pc:sldChg chg="add">
        <pc:chgData name="Luca Attorrese" userId="f58af1db-81da-45aa-bf02-5dd3889653d1" providerId="ADAL" clId="{A75278D7-9768-4157-8FBA-42650A5E073F}" dt="2026-10-21T09:10:46.983" v="4"/>
        <pc:sldMkLst>
          <pc:docMk/>
          <pc:sldMk cId="4198989582" sldId="626"/>
        </pc:sldMkLst>
      </pc:sldChg>
      <pc:sldChg chg="add">
        <pc:chgData name="Luca Attorrese" userId="f58af1db-81da-45aa-bf02-5dd3889653d1" providerId="ADAL" clId="{A75278D7-9768-4157-8FBA-42650A5E073F}" dt="2026-10-21T09:10:49.089" v="6"/>
        <pc:sldMkLst>
          <pc:docMk/>
          <pc:sldMk cId="1230799210" sldId="627"/>
        </pc:sldMkLst>
      </pc:sldChg>
      <pc:sldChg chg="add">
        <pc:chgData name="Luca Attorrese" userId="f58af1db-81da-45aa-bf02-5dd3889653d1" providerId="ADAL" clId="{A75278D7-9768-4157-8FBA-42650A5E073F}" dt="2026-10-21T09:10:50.432" v="8"/>
        <pc:sldMkLst>
          <pc:docMk/>
          <pc:sldMk cId="901284077" sldId="628"/>
        </pc:sldMkLst>
      </pc:sldChg>
      <pc:sldChg chg="add">
        <pc:chgData name="Luca Attorrese" userId="f58af1db-81da-45aa-bf02-5dd3889653d1" providerId="ADAL" clId="{A75278D7-9768-4157-8FBA-42650A5E073F}" dt="2026-10-21T09:10:51.778" v="10"/>
        <pc:sldMkLst>
          <pc:docMk/>
          <pc:sldMk cId="4195678523" sldId="629"/>
        </pc:sldMkLst>
      </pc:sldChg>
      <pc:sldChg chg="modSp add mod">
        <pc:chgData name="Luca Attorrese" userId="f58af1db-81da-45aa-bf02-5dd3889653d1" providerId="ADAL" clId="{A75278D7-9768-4157-8FBA-42650A5E073F}" dt="2026-10-21T09:12:15.838" v="28"/>
        <pc:sldMkLst>
          <pc:docMk/>
          <pc:sldMk cId="605909936" sldId="630"/>
        </pc:sldMkLst>
        <pc:spChg chg="mod">
          <ac:chgData name="Luca Attorrese" userId="f58af1db-81da-45aa-bf02-5dd3889653d1" providerId="ADAL" clId="{A75278D7-9768-4157-8FBA-42650A5E073F}" dt="2026-10-21T09:12:15.325" v="13" actId="27636"/>
          <ac:spMkLst>
            <pc:docMk/>
            <pc:sldMk cId="605909936" sldId="630"/>
            <ac:spMk id="24" creationId="{ABE1ECA0-7428-4542-A796-1ECB410AD58C}"/>
          </ac:spMkLst>
        </pc:spChg>
        <pc:spChg chg="mod">
          <ac:chgData name="Luca Attorrese" userId="f58af1db-81da-45aa-bf02-5dd3889653d1" providerId="ADAL" clId="{A75278D7-9768-4157-8FBA-42650A5E073F}" dt="2026-10-21T09:12:15.832" v="16"/>
          <ac:spMkLst>
            <pc:docMk/>
            <pc:sldMk cId="605909936" sldId="630"/>
            <ac:spMk id="46" creationId="{00000000-0000-0000-0000-000000000000}"/>
          </ac:spMkLst>
        </pc:spChg>
        <pc:spChg chg="mod">
          <ac:chgData name="Luca Attorrese" userId="f58af1db-81da-45aa-bf02-5dd3889653d1" providerId="ADAL" clId="{A75278D7-9768-4157-8FBA-42650A5E073F}" dt="2026-10-21T09:12:15.833" v="18"/>
          <ac:spMkLst>
            <pc:docMk/>
            <pc:sldMk cId="605909936" sldId="630"/>
            <ac:spMk id="49" creationId="{00000000-0000-0000-0000-000000000000}"/>
          </ac:spMkLst>
        </pc:spChg>
        <pc:spChg chg="mod">
          <ac:chgData name="Luca Attorrese" userId="f58af1db-81da-45aa-bf02-5dd3889653d1" providerId="ADAL" clId="{A75278D7-9768-4157-8FBA-42650A5E073F}" dt="2026-10-21T09:12:15.834" v="20"/>
          <ac:spMkLst>
            <pc:docMk/>
            <pc:sldMk cId="605909936" sldId="630"/>
            <ac:spMk id="50" creationId="{00000000-0000-0000-0000-000000000000}"/>
          </ac:spMkLst>
        </pc:spChg>
        <pc:spChg chg="mod">
          <ac:chgData name="Luca Attorrese" userId="f58af1db-81da-45aa-bf02-5dd3889653d1" providerId="ADAL" clId="{A75278D7-9768-4157-8FBA-42650A5E073F}" dt="2026-10-21T09:12:15.834" v="21"/>
          <ac:spMkLst>
            <pc:docMk/>
            <pc:sldMk cId="605909936" sldId="630"/>
            <ac:spMk id="53" creationId="{00000000-0000-0000-0000-000000000000}"/>
          </ac:spMkLst>
        </pc:spChg>
        <pc:spChg chg="mod">
          <ac:chgData name="Luca Attorrese" userId="f58af1db-81da-45aa-bf02-5dd3889653d1" providerId="ADAL" clId="{A75278D7-9768-4157-8FBA-42650A5E073F}" dt="2026-10-21T09:12:15.836" v="23"/>
          <ac:spMkLst>
            <pc:docMk/>
            <pc:sldMk cId="605909936" sldId="630"/>
            <ac:spMk id="54" creationId="{00000000-0000-0000-0000-000000000000}"/>
          </ac:spMkLst>
        </pc:spChg>
        <pc:spChg chg="mod">
          <ac:chgData name="Luca Attorrese" userId="f58af1db-81da-45aa-bf02-5dd3889653d1" providerId="ADAL" clId="{A75278D7-9768-4157-8FBA-42650A5E073F}" dt="2026-10-21T09:12:15.836" v="24"/>
          <ac:spMkLst>
            <pc:docMk/>
            <pc:sldMk cId="605909936" sldId="630"/>
            <ac:spMk id="57" creationId="{00000000-0000-0000-0000-000000000000}"/>
          </ac:spMkLst>
        </pc:spChg>
        <pc:spChg chg="mod">
          <ac:chgData name="Luca Attorrese" userId="f58af1db-81da-45aa-bf02-5dd3889653d1" providerId="ADAL" clId="{A75278D7-9768-4157-8FBA-42650A5E073F}" dt="2026-10-21T09:12:15.837" v="26"/>
          <ac:spMkLst>
            <pc:docMk/>
            <pc:sldMk cId="605909936" sldId="630"/>
            <ac:spMk id="58" creationId="{00000000-0000-0000-0000-000000000000}"/>
          </ac:spMkLst>
        </pc:spChg>
        <pc:spChg chg="mod">
          <ac:chgData name="Luca Attorrese" userId="f58af1db-81da-45aa-bf02-5dd3889653d1" providerId="ADAL" clId="{A75278D7-9768-4157-8FBA-42650A5E073F}" dt="2026-10-21T09:12:15.838" v="28"/>
          <ac:spMkLst>
            <pc:docMk/>
            <pc:sldMk cId="605909936" sldId="630"/>
            <ac:spMk id="60" creationId="{00000000-0000-0000-0000-000000000000}"/>
          </ac:spMkLst>
        </pc:spChg>
      </pc:sldChg>
      <pc:sldChg chg="new del">
        <pc:chgData name="Luca Attorrese" userId="f58af1db-81da-45aa-bf02-5dd3889653d1" providerId="ADAL" clId="{A75278D7-9768-4157-8FBA-42650A5E073F}" dt="2026-10-21T17:25:46.411" v="36" actId="2696"/>
        <pc:sldMkLst>
          <pc:docMk/>
          <pc:sldMk cId="4055433021" sldId="63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it-IT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 = 6 cm</c:v>
                </c:pt>
              </c:strCache>
            </c:strRef>
          </c:tx>
          <c:spPr>
            <a:ln w="50800">
              <a:solidFill>
                <a:srgbClr val="FF5A00"/>
              </a:solidFill>
            </a:ln>
          </c:spPr>
          <c:marker>
            <c:symbol val="none"/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0.01</c:v>
                </c:pt>
                <c:pt idx="1">
                  <c:v>4.2000000000000003E-2</c:v>
                </c:pt>
                <c:pt idx="2">
                  <c:v>9.4E-2</c:v>
                </c:pt>
                <c:pt idx="3">
                  <c:v>0.16700000000000001</c:v>
                </c:pt>
                <c:pt idx="4">
                  <c:v>0.26</c:v>
                </c:pt>
                <c:pt idx="5">
                  <c:v>0.375</c:v>
                </c:pt>
                <c:pt idx="6">
                  <c:v>0.51</c:v>
                </c:pt>
                <c:pt idx="7">
                  <c:v>0.66700000000000004</c:v>
                </c:pt>
                <c:pt idx="8">
                  <c:v>0.84399999999999997</c:v>
                </c:pt>
                <c:pt idx="9">
                  <c:v>1.042</c:v>
                </c:pt>
                <c:pt idx="10">
                  <c:v>1.26</c:v>
                </c:pt>
                <c:pt idx="11">
                  <c:v>1.5</c:v>
                </c:pt>
                <c:pt idx="12">
                  <c:v>1.76</c:v>
                </c:pt>
                <c:pt idx="13">
                  <c:v>2.0419999999999998</c:v>
                </c:pt>
                <c:pt idx="14">
                  <c:v>2.3439999999999999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F0A-494E-90F0-64577B6319C9}"/>
            </c:ext>
          </c:extLst>
        </c:ser>
        <c:ser>
          <c:idx val="1"/>
          <c:order val="1"/>
          <c:tx>
            <c:strRef>
              <c:f>Sheet1!$B$18</c:f>
              <c:strCache>
                <c:ptCount val="1"/>
                <c:pt idx="0">
                  <c:v>B = 12 cm</c:v>
                </c:pt>
              </c:strCache>
            </c:strRef>
          </c:tx>
          <c:spPr>
            <a:ln w="50800">
              <a:solidFill>
                <a:srgbClr val="15B9C5"/>
              </a:solidFill>
            </a:ln>
          </c:spPr>
          <c:marker>
            <c:symbol val="none"/>
          </c:marker>
          <c:xVal>
            <c:numRef>
              <c:f>Sheet1!$A$19:$A$33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Sheet1!$B$19:$B$33</c:f>
              <c:numCache>
                <c:formatCode>General</c:formatCode>
                <c:ptCount val="15"/>
                <c:pt idx="0">
                  <c:v>5.0000000000000001E-3</c:v>
                </c:pt>
                <c:pt idx="1">
                  <c:v>2.1000000000000001E-2</c:v>
                </c:pt>
                <c:pt idx="2">
                  <c:v>4.7E-2</c:v>
                </c:pt>
                <c:pt idx="3">
                  <c:v>8.3000000000000004E-2</c:v>
                </c:pt>
                <c:pt idx="4">
                  <c:v>0.13</c:v>
                </c:pt>
                <c:pt idx="5">
                  <c:v>0.188</c:v>
                </c:pt>
                <c:pt idx="6">
                  <c:v>0.255</c:v>
                </c:pt>
                <c:pt idx="7">
                  <c:v>0.33300000000000002</c:v>
                </c:pt>
                <c:pt idx="8">
                  <c:v>0.42199999999999999</c:v>
                </c:pt>
                <c:pt idx="9">
                  <c:v>0.52100000000000002</c:v>
                </c:pt>
                <c:pt idx="10">
                  <c:v>0.63</c:v>
                </c:pt>
                <c:pt idx="11">
                  <c:v>0.75</c:v>
                </c:pt>
                <c:pt idx="12">
                  <c:v>0.88</c:v>
                </c:pt>
                <c:pt idx="13">
                  <c:v>1.0209999999999999</c:v>
                </c:pt>
                <c:pt idx="14">
                  <c:v>1.1719999999999999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F0A-494E-90F0-64577B6319C9}"/>
            </c:ext>
          </c:extLst>
        </c:ser>
        <c:ser>
          <c:idx val="2"/>
          <c:order val="2"/>
          <c:tx>
            <c:strRef>
              <c:f>Sheet1!$B$35</c:f>
              <c:strCache>
                <c:ptCount val="1"/>
                <c:pt idx="0">
                  <c:v>B = 30 cm</c:v>
                </c:pt>
              </c:strCache>
            </c:strRef>
          </c:tx>
          <c:spPr>
            <a:ln w="50800">
              <a:solidFill>
                <a:srgbClr val="0B2D45"/>
              </a:solidFill>
            </a:ln>
          </c:spPr>
          <c:marker>
            <c:symbol val="none"/>
          </c:marker>
          <c:xVal>
            <c:numRef>
              <c:f>Sheet1!$A$36:$A$50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Sheet1!$B$36:$B$50</c:f>
              <c:numCache>
                <c:formatCode>General</c:formatCode>
                <c:ptCount val="15"/>
                <c:pt idx="0">
                  <c:v>2E-3</c:v>
                </c:pt>
                <c:pt idx="1">
                  <c:v>8.0000000000000002E-3</c:v>
                </c:pt>
                <c:pt idx="2">
                  <c:v>1.9E-2</c:v>
                </c:pt>
                <c:pt idx="3">
                  <c:v>3.3000000000000002E-2</c:v>
                </c:pt>
                <c:pt idx="4">
                  <c:v>5.1999999999999998E-2</c:v>
                </c:pt>
                <c:pt idx="5">
                  <c:v>7.4999999999999997E-2</c:v>
                </c:pt>
                <c:pt idx="6">
                  <c:v>0.10199999999999999</c:v>
                </c:pt>
                <c:pt idx="7">
                  <c:v>0.13300000000000001</c:v>
                </c:pt>
                <c:pt idx="8">
                  <c:v>0.16900000000000001</c:v>
                </c:pt>
                <c:pt idx="9">
                  <c:v>0.20799999999999999</c:v>
                </c:pt>
                <c:pt idx="10">
                  <c:v>0.252</c:v>
                </c:pt>
                <c:pt idx="11">
                  <c:v>0.3</c:v>
                </c:pt>
                <c:pt idx="12">
                  <c:v>0.35199999999999998</c:v>
                </c:pt>
                <c:pt idx="13">
                  <c:v>0.40799999999999997</c:v>
                </c:pt>
                <c:pt idx="14">
                  <c:v>0.46899999999999997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F0A-494E-90F0-64577B631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15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it-IT" sz="1800" b="1">
                    <a:solidFill>
                      <a:srgbClr val="0B2D45"/>
                    </a:solidFill>
                    <a:latin typeface="Arial"/>
                  </a:rPr>
                  <a:t>distance Z [m]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A97A3"/>
            </a:solidFill>
          </a:ln>
        </c:spPr>
        <c:txPr>
          <a:bodyPr/>
          <a:lstStyle/>
          <a:p>
            <a:pPr>
              <a:defRPr sz="1600">
                <a:solidFill>
                  <a:srgbClr val="0B2D45"/>
                </a:solidFill>
                <a:latin typeface="Arial"/>
              </a:defRPr>
            </a:pPr>
            <a:endParaRPr lang="it-IT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in val="0"/>
        </c:scaling>
        <c:delete val="0"/>
        <c:axPos val="l"/>
        <c:majorGridlines>
          <c:spPr>
            <a:ln>
              <a:solidFill>
                <a:srgbClr val="D5DBE0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it-IT" sz="1800" b="1">
                    <a:solidFill>
                      <a:srgbClr val="0B2D45"/>
                    </a:solidFill>
                    <a:latin typeface="Arial"/>
                  </a:rPr>
                  <a:t>depth error </a:t>
                </a:r>
                <a:r>
                  <a:rPr lang="el-GR" sz="1800" b="1">
                    <a:solidFill>
                      <a:srgbClr val="0B2D45"/>
                    </a:solidFill>
                    <a:latin typeface="Arial"/>
                  </a:rPr>
                  <a:t>δ</a:t>
                </a:r>
                <a:r>
                  <a:rPr lang="it-IT" sz="1800" b="1">
                    <a:solidFill>
                      <a:srgbClr val="0B2D45"/>
                    </a:solidFill>
                    <a:latin typeface="Arial"/>
                  </a:rPr>
                  <a:t>Z [m]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A97A3"/>
            </a:solidFill>
          </a:ln>
        </c:spPr>
        <c:txPr>
          <a:bodyPr/>
          <a:lstStyle/>
          <a:p>
            <a:pPr>
              <a:defRPr sz="1600">
                <a:solidFill>
                  <a:srgbClr val="0B2D45"/>
                </a:solidFill>
                <a:latin typeface="Arial"/>
              </a:defRPr>
            </a:pPr>
            <a:endParaRPr lang="it-IT"/>
          </a:p>
        </c:txPr>
        <c:crossAx val="-2128940872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800">
              <a:solidFill>
                <a:srgbClr val="0B2D45"/>
              </a:solidFill>
              <a:latin typeface="Arial"/>
            </a:defRPr>
          </a:pPr>
          <a:endParaRPr lang="it-IT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B7448-D3CB-47F4-82A6-5D1A1BE72E51}" type="datetimeFigureOut">
              <a:rPr lang="it-IT" smtClean="0"/>
              <a:t>21/10/2026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29D6-24D4-489C-B967-48EE3CBF84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928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Bridge from Lesson 2: the drone knows its own state. Today: what can a camera tell it about motion and about the world?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Recall: VISION appears in every row. Today we open that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Mirror of the 'What is a sensor?' slide of Lesson 2. Insist on timestamp at capture (mid-exposure), not at arrival on the companion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three-column frame as the sensor-selection slides of Lesson 2. FOV trade-off: wide FOV keeps features in view during fast motion but lowers angular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Number one source of bugs in practice. Suggest: always write the transform name as T_target_source and check with a pure-yaw and a pure-pitch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Derive by similar triangles: v/f = Y/Z. Coordinates in the camera optical frame (x right, y down, z forward). Then convert metric image coordinates to pixels with fx, fy, cx, 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T_CB = rotation + translation from body to camera. For a forward-looking camera the rotation is a fixed axis permutation (next slide). The translation matters for lever-arm effects when the drone rotates.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fx = (W/2)/tan(HFOV/2). Worked example useful for the Gazebo camera in the exercise, which is defined by its horizontal FOV and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conceptual bridge of the lesson. A camera enters a Kalman filter exactly like the accelerometer did: predicted measurement vs actual measurement, innovation,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Distortion is applied in normalized image coordinates, between the perspective division and K. OpenCV: plumb_bob / rational model and cv::fisheye. Kalibr: radtan and equidistant.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conceptual bridge of the lesson. A camera enters a Kalman filter exactly like the accelerometer did: predicted measurement vs actual measurement, innovation,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idea: calibrate a webcam live with OpenCV and show the reprojection error. Suggested image: Kalibr AprilGrid. The 0.5 px threshold is a rule of thumb, not a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observability argument as the yaw slide of Lesson 2: a transformation of the state that leaves the measurement unchanged is invisible to the estimator.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Derivative of Z = fB/d with respect to d gives dZ = -Z^2/(fB) dd. Stereo also needs rectification: both images warped so that matches lie on the same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Numbers from dZ = Z^2 dd / (f B). With f=400 px, dd=0.25 px, B=0.06 m, Z=10 m: dZ ≈ 1.04 m. Ask the class what baseline they would need for 10 cm at 10 m (≈ 0.6 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Fisheye is a lens/projection model rather than a sensor type, but it is a common design choice for VIO (wide FOV keeps features visible during fast rotation). Event cameras can be mentioned as a research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Downward camera: angular flow rate times height gives ground speed, after subtracting body rotation measured by the gyro. This is why flow sensors are paired with a rangefinder.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demo: run OpenCV goodFeaturesToTrack + calcOpticalFlowPyrLK on a short drone video and show the tracks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2D-2D: monocular initialization, scale unknown. 3D-2D: once a map or a marker exists. 3D-3D: when depth is measured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Parallel with gyro integration in Lesson 2. Absolute references: GNSS, loop closure on a map, known landmarks or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Exact callback to the 'Why one sensor is not enough' slide of Lesson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Examples are well-known open-source or commercial VIO systems; check current status before the lesson. The Intel RealSense T265 tracking camera was discontinued.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class which failure modes apply to the reference mission (remote site inspection). Large innovations are the symptom; gating is the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 domains from Lesson 1. MAVLink ODOMETRY with frame_id MAV_FRAME_LOCAL_FRD (or VISION_POSITION_ESTIMATE) maps to vehicle_visual_odometry; with ROS 2 the companion publishes /fmu/in/vehicle_visual_odometry via uXRCE-DDS.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EKF2_EV_DELAY: difference between the vision timestamp and the actual capture time on the IMU clock. Rough estimate from logs by comparing IMU rates and EV rates (SDLOG_PROFILE bit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 from the docs: velocities in ODOMETRY are expressed in the body FRD frame. Sanity test: yaw the vehicle until the streamed quaternion is close to identity, then move along each 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Closes the loop opened at the end of Lesson 2. Both features run in PX4 with perception on the companion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Build → Estimate → Perceive: from the system, to the state, to the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23362" y="3451504"/>
            <a:ext cx="18552543" cy="35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1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Autonomous Drones and Perception</a:t>
            </a:r>
          </a:p>
        </p:txBody>
      </p:sp>
      <p:sp>
        <p:nvSpPr>
          <p:cNvPr id="8" name="Freeform 8"/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4561654" y="8394375"/>
            <a:ext cx="3593607" cy="790594"/>
          </a:xfrm>
          <a:custGeom>
            <a:avLst/>
            <a:gdLst/>
            <a:ahLst/>
            <a:cxnLst/>
            <a:rect l="l" t="t" r="r" b="b"/>
            <a:pathLst>
              <a:path w="3593607" h="790594">
                <a:moveTo>
                  <a:pt x="0" y="0"/>
                </a:moveTo>
                <a:lnTo>
                  <a:pt x="3593607" y="0"/>
                </a:lnTo>
                <a:lnTo>
                  <a:pt x="3593607" y="790593"/>
                </a:lnTo>
                <a:lnTo>
                  <a:pt x="0" y="790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8525312" y="7875763"/>
            <a:ext cx="4217583" cy="1559284"/>
          </a:xfrm>
          <a:custGeom>
            <a:avLst/>
            <a:gdLst/>
            <a:ahLst/>
            <a:cxnLst/>
            <a:rect l="l" t="t" r="r" b="b"/>
            <a:pathLst>
              <a:path w="4217583" h="1559284">
                <a:moveTo>
                  <a:pt x="0" y="0"/>
                </a:moveTo>
                <a:lnTo>
                  <a:pt x="4217583" y="0"/>
                </a:lnTo>
                <a:lnTo>
                  <a:pt x="4217583" y="1559284"/>
                </a:lnTo>
                <a:lnTo>
                  <a:pt x="0" y="1559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1" name="Group 11"/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-195325" y="2994438"/>
            <a:ext cx="8720638" cy="430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2"/>
              </a:lnSpc>
              <a:spcBef>
                <a:spcPct val="0"/>
              </a:spcBef>
            </a:pPr>
            <a:r>
              <a:rPr lang="en-US" sz="2523">
                <a:solidFill>
                  <a:srgbClr val="FFFFFF"/>
                </a:solidFill>
                <a:latin typeface="Montserrat 2"/>
                <a:ea typeface="Montserrat 2"/>
                <a:cs typeface="Montserrat 2"/>
                <a:sym typeface="Montserrat 2"/>
              </a:rPr>
              <a:t>[R]overTech x Polispace x Suncubes Workshop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00920" y="8273498"/>
            <a:ext cx="6939843" cy="106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59"/>
              </a:lnSpc>
            </a:pPr>
            <a:r>
              <a:rPr lang="en-US" sz="3042">
                <a:solidFill>
                  <a:srgbClr val="FFFFFF"/>
                </a:solidFill>
                <a:latin typeface="Montserrat 2"/>
                <a:ea typeface="Montserrat 2"/>
                <a:cs typeface="Montserrat 2"/>
                <a:sym typeface="Montserrat 2"/>
              </a:rPr>
              <a:t>Federico De Donatis</a:t>
            </a:r>
          </a:p>
          <a:p>
            <a:pPr algn="r">
              <a:lnSpc>
                <a:spcPts val="4259"/>
              </a:lnSpc>
              <a:spcBef>
                <a:spcPct val="0"/>
              </a:spcBef>
            </a:pPr>
            <a:r>
              <a:rPr lang="en-US" sz="3042">
                <a:solidFill>
                  <a:srgbClr val="FFFFFF"/>
                </a:solidFill>
                <a:latin typeface="Montserrat 2"/>
                <a:ea typeface="Montserrat 2"/>
                <a:cs typeface="Montserrat 2"/>
                <a:sym typeface="Montserrat 2"/>
              </a:rPr>
              <a:t>Luca Attorrese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64295" y="7875763"/>
            <a:ext cx="3120720" cy="1827817"/>
            <a:chOff x="0" y="0"/>
            <a:chExt cx="4160961" cy="243709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1950887"/>
              <a:ext cx="4160961" cy="4862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60"/>
                </a:lnSpc>
              </a:pPr>
              <a:r>
                <a:rPr lang="en-US" sz="1971">
                  <a:solidFill>
                    <a:srgbClr val="FF6301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1971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3484" y="-381000"/>
              <a:ext cx="2993992" cy="24176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052"/>
                </a:lnSpc>
              </a:pPr>
              <a:r>
                <a:rPr lang="en-US" sz="10037" spc="1515">
                  <a:solidFill>
                    <a:srgbClr val="FF6300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[ 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6285" y="-87005"/>
              <a:ext cx="1808391" cy="1905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1030"/>
                </a:lnSpc>
                <a:spcBef>
                  <a:spcPct val="0"/>
                </a:spcBef>
              </a:pPr>
              <a:r>
                <a:rPr lang="en-US" sz="7879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662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23362" y="3451504"/>
            <a:ext cx="18552543" cy="356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FROM PIXELS</a:t>
            </a:r>
          </a:p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TO MOTION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9" name="TextBox 9"/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415322" y="2890967"/>
            <a:ext cx="8720638" cy="546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12"/>
              </a:lnSpc>
              <a:spcBef>
                <a:spcPct val="0"/>
              </a:spcBef>
            </a:pPr>
            <a:r>
              <a:rPr lang="en-US" sz="3223" b="1">
                <a:solidFill>
                  <a:srgbClr val="FFFFFF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Lesson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49797" y="7545419"/>
            <a:ext cx="15512388" cy="513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59"/>
              </a:lnSpc>
              <a:spcBef>
                <a:spcPct val="0"/>
              </a:spcBef>
            </a:pPr>
            <a:r>
              <a:rPr lang="en-US" sz="3042">
                <a:solidFill>
                  <a:srgbClr val="FFFFFF"/>
                </a:solidFill>
                <a:latin typeface="Montserrat 2"/>
                <a:ea typeface="Montserrat 2"/>
                <a:cs typeface="Montserrat 2"/>
                <a:sym typeface="Montserrat 2"/>
              </a:rPr>
              <a:t>Camera Models, Calibration and Visual Odometry</a:t>
            </a:r>
          </a:p>
        </p:txBody>
      </p:sp>
    </p:spTree>
    <p:extLst>
      <p:ext uri="{BB962C8B-B14F-4D97-AF65-F5344CB8AC3E}">
        <p14:creationId xmlns:p14="http://schemas.microsoft.com/office/powerpoint/2010/main" val="2124597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149213" y="2980144"/>
            <a:ext cx="7771211" cy="853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4"/>
              </a:lnSpc>
            </a:pPr>
            <a:r>
              <a:rPr lang="en-US" sz="5010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Federico De Donatis</a:t>
            </a:r>
          </a:p>
        </p:txBody>
      </p:sp>
      <p:sp>
        <p:nvSpPr>
          <p:cNvPr id="4" name="Freeform 4"/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0" y="-25121"/>
            <a:ext cx="18288000" cy="2118431"/>
            <a:chOff x="0" y="0"/>
            <a:chExt cx="4816593" cy="5579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57941"/>
            </a:xfrm>
            <a:custGeom>
              <a:avLst/>
              <a:gdLst/>
              <a:ahLst/>
              <a:cxnLst/>
              <a:rect l="l" t="t" r="r" b="b"/>
              <a:pathLst>
                <a:path w="4816592" h="557941">
                  <a:moveTo>
                    <a:pt x="0" y="0"/>
                  </a:moveTo>
                  <a:lnTo>
                    <a:pt x="4816592" y="0"/>
                  </a:lnTo>
                  <a:lnTo>
                    <a:pt x="4816592" y="557941"/>
                  </a:lnTo>
                  <a:lnTo>
                    <a:pt x="0" y="557941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596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40991" y="7999403"/>
            <a:ext cx="8218355" cy="47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9"/>
              </a:lnSpc>
              <a:spcBef>
                <a:spcPct val="0"/>
              </a:spcBef>
            </a:pPr>
            <a:r>
              <a:rPr lang="en-US" sz="2771" b="1">
                <a:solidFill>
                  <a:srgbClr val="FFFFFF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Systems architecture &amp; avionics integration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4864" y="219458"/>
            <a:ext cx="18288000" cy="146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7"/>
              </a:lnSpc>
              <a:spcBef>
                <a:spcPct val="0"/>
              </a:spcBef>
            </a:pPr>
            <a:r>
              <a:rPr lang="en-US" sz="8605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Your Speakers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96328" y="7999403"/>
            <a:ext cx="7982707" cy="47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7"/>
              </a:lnSpc>
              <a:spcBef>
                <a:spcPct val="0"/>
              </a:spcBef>
            </a:pPr>
            <a:r>
              <a:rPr lang="en-US" sz="2769" b="1">
                <a:solidFill>
                  <a:srgbClr val="FFFFFF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Robotics and perception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67575" y="2980144"/>
            <a:ext cx="7771211" cy="853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4"/>
              </a:lnSpc>
            </a:pPr>
            <a:r>
              <a:rPr lang="en-US" sz="5010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Luca </a:t>
            </a:r>
            <a:r>
              <a:rPr lang="en-US" sz="5010" b="1" err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Attorrese</a:t>
            </a:r>
            <a:endParaRPr lang="en-US" sz="5010" b="1">
              <a:solidFill>
                <a:srgbClr val="FF6300"/>
              </a:solidFill>
              <a:latin typeface="Montserrat 2 Bold"/>
              <a:ea typeface="Montserrat 2 Bold"/>
              <a:cs typeface="Montserrat 2 Bold"/>
              <a:sym typeface="Montserrat 2 Bold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C6CD0F-C8AF-4340-981B-70F5BBAC0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9084" y="4007091"/>
            <a:ext cx="3711468" cy="37114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1FBACB-1AAF-6205-A9A9-E1FA7F558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7446" y="4007091"/>
            <a:ext cx="3711468" cy="371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83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0" y="-25121"/>
            <a:ext cx="18288000" cy="2118431"/>
            <a:chOff x="0" y="0"/>
            <a:chExt cx="4816593" cy="5579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57941"/>
            </a:xfrm>
            <a:custGeom>
              <a:avLst/>
              <a:gdLst/>
              <a:ahLst/>
              <a:cxnLst/>
              <a:rect l="l" t="t" r="r" b="b"/>
              <a:pathLst>
                <a:path w="4816592" h="557941">
                  <a:moveTo>
                    <a:pt x="0" y="0"/>
                  </a:moveTo>
                  <a:lnTo>
                    <a:pt x="4816592" y="0"/>
                  </a:lnTo>
                  <a:lnTo>
                    <a:pt x="4816592" y="557941"/>
                  </a:lnTo>
                  <a:lnTo>
                    <a:pt x="0" y="557941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596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5177" y="3459531"/>
            <a:ext cx="4659691" cy="4918041"/>
            <a:chOff x="0" y="0"/>
            <a:chExt cx="1227244" cy="12952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7244" cy="1295287"/>
            </a:xfrm>
            <a:custGeom>
              <a:avLst/>
              <a:gdLst/>
              <a:ahLst/>
              <a:cxnLst/>
              <a:rect l="l" t="t" r="r" b="b"/>
              <a:pathLst>
                <a:path w="1227244" h="1295287">
                  <a:moveTo>
                    <a:pt x="84735" y="0"/>
                  </a:moveTo>
                  <a:lnTo>
                    <a:pt x="1142509" y="0"/>
                  </a:lnTo>
                  <a:cubicBezTo>
                    <a:pt x="1164982" y="0"/>
                    <a:pt x="1186534" y="8927"/>
                    <a:pt x="1202425" y="24818"/>
                  </a:cubicBezTo>
                  <a:cubicBezTo>
                    <a:pt x="1218316" y="40709"/>
                    <a:pt x="1227244" y="62262"/>
                    <a:pt x="1227244" y="84735"/>
                  </a:cubicBezTo>
                  <a:lnTo>
                    <a:pt x="1227244" y="1210552"/>
                  </a:lnTo>
                  <a:cubicBezTo>
                    <a:pt x="1227244" y="1257350"/>
                    <a:pt x="1189307" y="1295287"/>
                    <a:pt x="1142509" y="1295287"/>
                  </a:cubicBezTo>
                  <a:lnTo>
                    <a:pt x="84735" y="1295287"/>
                  </a:lnTo>
                  <a:cubicBezTo>
                    <a:pt x="37937" y="1295287"/>
                    <a:pt x="0" y="1257350"/>
                    <a:pt x="0" y="1210552"/>
                  </a:cubicBezTo>
                  <a:lnTo>
                    <a:pt x="0" y="84735"/>
                  </a:lnTo>
                  <a:cubicBezTo>
                    <a:pt x="0" y="37937"/>
                    <a:pt x="37937" y="0"/>
                    <a:pt x="847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27244" cy="1333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99609" y="3459531"/>
            <a:ext cx="4659691" cy="4918041"/>
            <a:chOff x="0" y="0"/>
            <a:chExt cx="1227244" cy="12952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27244" cy="1295287"/>
            </a:xfrm>
            <a:custGeom>
              <a:avLst/>
              <a:gdLst/>
              <a:ahLst/>
              <a:cxnLst/>
              <a:rect l="l" t="t" r="r" b="b"/>
              <a:pathLst>
                <a:path w="1227244" h="1295287">
                  <a:moveTo>
                    <a:pt x="84735" y="0"/>
                  </a:moveTo>
                  <a:lnTo>
                    <a:pt x="1142509" y="0"/>
                  </a:lnTo>
                  <a:cubicBezTo>
                    <a:pt x="1164982" y="0"/>
                    <a:pt x="1186534" y="8927"/>
                    <a:pt x="1202425" y="24818"/>
                  </a:cubicBezTo>
                  <a:cubicBezTo>
                    <a:pt x="1218316" y="40709"/>
                    <a:pt x="1227244" y="62262"/>
                    <a:pt x="1227244" y="84735"/>
                  </a:cubicBezTo>
                  <a:lnTo>
                    <a:pt x="1227244" y="1210552"/>
                  </a:lnTo>
                  <a:cubicBezTo>
                    <a:pt x="1227244" y="1257350"/>
                    <a:pt x="1189307" y="1295287"/>
                    <a:pt x="1142509" y="1295287"/>
                  </a:cubicBezTo>
                  <a:lnTo>
                    <a:pt x="84735" y="1295287"/>
                  </a:lnTo>
                  <a:cubicBezTo>
                    <a:pt x="37937" y="1295287"/>
                    <a:pt x="0" y="1257350"/>
                    <a:pt x="0" y="1210552"/>
                  </a:cubicBezTo>
                  <a:lnTo>
                    <a:pt x="0" y="84735"/>
                  </a:lnTo>
                  <a:cubicBezTo>
                    <a:pt x="0" y="37937"/>
                    <a:pt x="37937" y="0"/>
                    <a:pt x="847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27244" cy="1333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82393" y="3459531"/>
            <a:ext cx="4659691" cy="4918041"/>
            <a:chOff x="0" y="0"/>
            <a:chExt cx="1227244" cy="12952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27244" cy="1295287"/>
            </a:xfrm>
            <a:custGeom>
              <a:avLst/>
              <a:gdLst/>
              <a:ahLst/>
              <a:cxnLst/>
              <a:rect l="l" t="t" r="r" b="b"/>
              <a:pathLst>
                <a:path w="1227244" h="1295287">
                  <a:moveTo>
                    <a:pt x="84735" y="0"/>
                  </a:moveTo>
                  <a:lnTo>
                    <a:pt x="1142509" y="0"/>
                  </a:lnTo>
                  <a:cubicBezTo>
                    <a:pt x="1164982" y="0"/>
                    <a:pt x="1186534" y="8927"/>
                    <a:pt x="1202425" y="24818"/>
                  </a:cubicBezTo>
                  <a:cubicBezTo>
                    <a:pt x="1218316" y="40709"/>
                    <a:pt x="1227244" y="62262"/>
                    <a:pt x="1227244" y="84735"/>
                  </a:cubicBezTo>
                  <a:lnTo>
                    <a:pt x="1227244" y="1210552"/>
                  </a:lnTo>
                  <a:cubicBezTo>
                    <a:pt x="1227244" y="1257350"/>
                    <a:pt x="1189307" y="1295287"/>
                    <a:pt x="1142509" y="1295287"/>
                  </a:cubicBezTo>
                  <a:lnTo>
                    <a:pt x="84735" y="1295287"/>
                  </a:lnTo>
                  <a:cubicBezTo>
                    <a:pt x="37937" y="1295287"/>
                    <a:pt x="0" y="1257350"/>
                    <a:pt x="0" y="1210552"/>
                  </a:cubicBezTo>
                  <a:lnTo>
                    <a:pt x="0" y="84735"/>
                  </a:lnTo>
                  <a:cubicBezTo>
                    <a:pt x="0" y="37937"/>
                    <a:pt x="37937" y="0"/>
                    <a:pt x="847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27244" cy="1333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AutoShape 16"/>
          <p:cNvSpPr/>
          <p:nvPr/>
        </p:nvSpPr>
        <p:spPr>
          <a:xfrm>
            <a:off x="5916800" y="5918552"/>
            <a:ext cx="573661" cy="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17" name="AutoShape 17"/>
          <p:cNvSpPr/>
          <p:nvPr/>
        </p:nvSpPr>
        <p:spPr>
          <a:xfrm>
            <a:off x="11737359" y="5899502"/>
            <a:ext cx="573661" cy="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18" name="AutoShape 18"/>
          <p:cNvSpPr/>
          <p:nvPr/>
        </p:nvSpPr>
        <p:spPr>
          <a:xfrm>
            <a:off x="965177" y="4821209"/>
            <a:ext cx="4659691" cy="1905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9" name="AutoShape 19"/>
          <p:cNvSpPr/>
          <p:nvPr/>
        </p:nvSpPr>
        <p:spPr>
          <a:xfrm flipV="1">
            <a:off x="6814155" y="4840259"/>
            <a:ext cx="4595925" cy="1905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0" name="AutoShape 20"/>
          <p:cNvSpPr/>
          <p:nvPr/>
        </p:nvSpPr>
        <p:spPr>
          <a:xfrm>
            <a:off x="12599532" y="4811684"/>
            <a:ext cx="4659691" cy="1905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1" name="Freeform 21"/>
          <p:cNvSpPr/>
          <p:nvPr/>
        </p:nvSpPr>
        <p:spPr>
          <a:xfrm>
            <a:off x="15416784" y="3117088"/>
            <a:ext cx="2033960" cy="1057659"/>
          </a:xfrm>
          <a:custGeom>
            <a:avLst/>
            <a:gdLst/>
            <a:ahLst/>
            <a:cxnLst/>
            <a:rect l="l" t="t" r="r" b="b"/>
            <a:pathLst>
              <a:path w="2033960" h="1057659">
                <a:moveTo>
                  <a:pt x="0" y="0"/>
                </a:moveTo>
                <a:lnTo>
                  <a:pt x="2033960" y="0"/>
                </a:lnTo>
                <a:lnTo>
                  <a:pt x="2033960" y="1057659"/>
                </a:lnTo>
                <a:lnTo>
                  <a:pt x="0" y="10576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2" name="TextBox 22"/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281837" y="284523"/>
            <a:ext cx="18288000" cy="146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7"/>
              </a:lnSpc>
              <a:spcBef>
                <a:spcPct val="0"/>
              </a:spcBef>
            </a:pPr>
            <a:r>
              <a:rPr lang="en-US" sz="8605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Workshop Map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0139" y="3826519"/>
            <a:ext cx="1940662" cy="62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000000"/>
                </a:solidFill>
                <a:latin typeface="Montserrat 1"/>
                <a:ea typeface="Montserrat 1"/>
                <a:cs typeface="Montserrat 1"/>
                <a:sym typeface="Montserrat 1"/>
              </a:rPr>
              <a:t>Lesson 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956826" y="3826519"/>
            <a:ext cx="2206973" cy="62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000000"/>
                </a:solidFill>
                <a:latin typeface="Montserrat 1"/>
                <a:ea typeface="Montserrat 1"/>
                <a:cs typeface="Montserrat 1"/>
                <a:sym typeface="Montserrat 1"/>
              </a:rPr>
              <a:t>Lesson 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38658" y="3826519"/>
            <a:ext cx="2157742" cy="62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000000"/>
                </a:solidFill>
                <a:latin typeface="Montserrat 1"/>
                <a:ea typeface="Montserrat 1"/>
                <a:cs typeface="Montserrat 1"/>
                <a:sym typeface="Montserrat 1"/>
              </a:rPr>
              <a:t>Lesson 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93660" y="4978629"/>
            <a:ext cx="3734549" cy="99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ESTIMATE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79887" y="4927327"/>
            <a:ext cx="3797014" cy="99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PERCEIVE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34140" y="5029200"/>
            <a:ext cx="2406546" cy="99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BUILD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0219" y="6630025"/>
            <a:ext cx="3882628" cy="703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61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Hardware, PX4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80139" y="6630025"/>
            <a:ext cx="2727722" cy="703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61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IMU + EKF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737359" y="6482939"/>
            <a:ext cx="6533598" cy="1437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50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Camera + </a:t>
            </a:r>
            <a:endParaRPr lang="en-US" sz="4150">
              <a:sym typeface="Montserrat 1"/>
            </a:endParaRPr>
          </a:p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50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Visual Odometry</a:t>
            </a:r>
            <a:endParaRPr lang="en-US" sz="4150"/>
          </a:p>
        </p:txBody>
      </p:sp>
      <p:sp>
        <p:nvSpPr>
          <p:cNvPr id="33" name="TextBox 33"/>
          <p:cNvSpPr txBox="1"/>
          <p:nvPr/>
        </p:nvSpPr>
        <p:spPr>
          <a:xfrm>
            <a:off x="2386944" y="8466710"/>
            <a:ext cx="1880255" cy="920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  <a:spcBef>
                <a:spcPct val="0"/>
              </a:spcBef>
            </a:pPr>
            <a:r>
              <a:rPr lang="en-US" sz="5378">
                <a:solidFill>
                  <a:srgbClr val="FF6300"/>
                </a:solidFill>
                <a:latin typeface="Montserrat 1"/>
                <a:ea typeface="Montserrat 1"/>
                <a:cs typeface="Montserrat 1"/>
                <a:sym typeface="Montserrat 1"/>
              </a:rPr>
              <a:t>07/10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45445" y="8400450"/>
            <a:ext cx="1847544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  <a:spcBef>
                <a:spcPct val="0"/>
              </a:spcBef>
            </a:pPr>
            <a:r>
              <a:rPr lang="en-US" sz="5378">
                <a:solidFill>
                  <a:srgbClr val="FF6300"/>
                </a:solidFill>
                <a:latin typeface="Montserrat 1"/>
                <a:ea typeface="Montserrat 1"/>
                <a:cs typeface="Montserrat 1"/>
                <a:sym typeface="Montserrat 1"/>
              </a:rPr>
              <a:t>14/10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071846" y="8417015"/>
            <a:ext cx="1814610" cy="887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  <a:spcBef>
                <a:spcPct val="0"/>
              </a:spcBef>
            </a:pPr>
            <a:r>
              <a:rPr lang="en-US" sz="5378">
                <a:solidFill>
                  <a:srgbClr val="FF6300"/>
                </a:solidFill>
                <a:latin typeface="Montserrat 1"/>
                <a:ea typeface="Montserrat 1"/>
                <a:cs typeface="Montserrat 1"/>
                <a:sym typeface="Montserrat 1"/>
              </a:rPr>
              <a:t>21/10</a:t>
            </a:r>
          </a:p>
        </p:txBody>
      </p:sp>
    </p:spTree>
    <p:extLst>
      <p:ext uri="{BB962C8B-B14F-4D97-AF65-F5344CB8AC3E}">
        <p14:creationId xmlns:p14="http://schemas.microsoft.com/office/powerpoint/2010/main" val="1571621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9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A5F6631-7AF0-431E-AF54-46D96142FBD6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75F04-21DE-4190-8B00-91F7F9868F70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>
            <a:sp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</a:rPr>
              <a:t>Navigation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5A684-FBCC-481C-9462-7D9E644A0F4A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ptos"/>
              </a:rPr>
              <a:t>What is still missing?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D682DC-9751-463C-831F-44CF1E719AE7}"/>
              </a:ext>
            </a:extLst>
          </p:cNvPr>
          <p:cNvSpPr/>
          <p:nvPr/>
        </p:nvSpPr>
        <p:spPr>
          <a:xfrm>
            <a:off x="2942304" y="3712721"/>
            <a:ext cx="3810000" cy="1143000"/>
          </a:xfrm>
          <a:prstGeom prst="rect">
            <a:avLst/>
          </a:prstGeom>
          <a:solidFill>
            <a:srgbClr val="173F5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5B183-35DA-409A-AB54-C92F757C3FF5}"/>
              </a:ext>
            </a:extLst>
          </p:cNvPr>
          <p:cNvSpPr txBox="1"/>
          <p:nvPr/>
        </p:nvSpPr>
        <p:spPr>
          <a:xfrm>
            <a:off x="3132804" y="3998471"/>
            <a:ext cx="3429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500" b="1">
                <a:solidFill>
                  <a:srgbClr val="FFFFFF"/>
                </a:solidFill>
                <a:latin typeface="Aptos"/>
              </a:rPr>
              <a:t>WHERE IT 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2DB0C9-D588-46EA-A8C6-72DC3A64D58B}"/>
              </a:ext>
            </a:extLst>
          </p:cNvPr>
          <p:cNvSpPr/>
          <p:nvPr/>
        </p:nvSpPr>
        <p:spPr>
          <a:xfrm>
            <a:off x="7514304" y="3712721"/>
            <a:ext cx="3810000" cy="1143000"/>
          </a:xfrm>
          <a:prstGeom prst="rect">
            <a:avLst/>
          </a:prstGeom>
          <a:solidFill>
            <a:srgbClr val="173F5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2CD55-6DF9-4AAB-9240-5AAE69E3D8C9}"/>
              </a:ext>
            </a:extLst>
          </p:cNvPr>
          <p:cNvSpPr txBox="1"/>
          <p:nvPr/>
        </p:nvSpPr>
        <p:spPr>
          <a:xfrm>
            <a:off x="7704804" y="3998471"/>
            <a:ext cx="3429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500" b="1">
                <a:solidFill>
                  <a:srgbClr val="FFFFFF"/>
                </a:solidFill>
                <a:latin typeface="Aptos"/>
              </a:rPr>
              <a:t>HOW FAST IT MOVES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E85A98-65F2-4C1B-A23B-2EAD441B43DB}"/>
              </a:ext>
            </a:extLst>
          </p:cNvPr>
          <p:cNvSpPr/>
          <p:nvPr/>
        </p:nvSpPr>
        <p:spPr>
          <a:xfrm>
            <a:off x="12086304" y="3712721"/>
            <a:ext cx="3810000" cy="1143000"/>
          </a:xfrm>
          <a:prstGeom prst="rect">
            <a:avLst/>
          </a:prstGeom>
          <a:solidFill>
            <a:srgbClr val="173F53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5C8E1-8CDE-4A4C-A949-DBF4541DBE69}"/>
              </a:ext>
            </a:extLst>
          </p:cNvPr>
          <p:cNvSpPr txBox="1"/>
          <p:nvPr/>
        </p:nvSpPr>
        <p:spPr>
          <a:xfrm>
            <a:off x="12276804" y="3998471"/>
            <a:ext cx="3429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500" b="1">
                <a:solidFill>
                  <a:srgbClr val="FFFFFF"/>
                </a:solidFill>
                <a:latin typeface="Aptos"/>
              </a:rPr>
              <a:t>HOW IT IS ORIENTED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7FBD98-3422-41E4-8BD9-91F591B205EC}"/>
              </a:ext>
            </a:extLst>
          </p:cNvPr>
          <p:cNvSpPr txBox="1"/>
          <p:nvPr/>
        </p:nvSpPr>
        <p:spPr>
          <a:xfrm>
            <a:off x="2095500" y="5461000"/>
            <a:ext cx="14097000" cy="63094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3500" b="1">
                <a:solidFill>
                  <a:srgbClr val="FFFFFF"/>
                </a:solidFill>
                <a:latin typeface="Aptos"/>
              </a:rPr>
              <a:t>What does it know about the world around it?</a:t>
            </a:r>
            <a:endParaRPr lang="it-IT" sz="3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F0F48A-DF03-4FE0-B9B4-69CFD803FA57}"/>
              </a:ext>
            </a:extLst>
          </p:cNvPr>
          <p:cNvSpPr/>
          <p:nvPr/>
        </p:nvSpPr>
        <p:spPr>
          <a:xfrm>
            <a:off x="2667000" y="6667500"/>
            <a:ext cx="12954000" cy="1149145"/>
          </a:xfrm>
          <a:prstGeom prst="rect">
            <a:avLst/>
          </a:prstGeom>
          <a:solidFill>
            <a:srgbClr val="F5F6F7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C7991-A934-4E83-8AD9-D42D26F0594A}"/>
              </a:ext>
            </a:extLst>
          </p:cNvPr>
          <p:cNvSpPr txBox="1"/>
          <p:nvPr/>
        </p:nvSpPr>
        <p:spPr>
          <a:xfrm>
            <a:off x="3048000" y="6934200"/>
            <a:ext cx="3619500" cy="55399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3000" b="1">
                <a:solidFill>
                  <a:srgbClr val="FF5A00"/>
                </a:solidFill>
                <a:latin typeface="Aptos"/>
              </a:rPr>
              <a:t>PERCEPTION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E48A30-D84A-4FA9-84C9-28A8A0691205}"/>
              </a:ext>
            </a:extLst>
          </p:cNvPr>
          <p:cNvSpPr txBox="1"/>
          <p:nvPr/>
        </p:nvSpPr>
        <p:spPr>
          <a:xfrm>
            <a:off x="7239000" y="6959600"/>
            <a:ext cx="2286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500" b="1">
                <a:solidFill>
                  <a:srgbClr val="0B2D45"/>
                </a:solidFill>
                <a:latin typeface="Aptos"/>
              </a:rPr>
              <a:t>CAMERA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05D4DD-A16C-47CC-8CF9-343AF80A8C1D}"/>
              </a:ext>
            </a:extLst>
          </p:cNvPr>
          <p:cNvSpPr txBox="1"/>
          <p:nvPr/>
        </p:nvSpPr>
        <p:spPr>
          <a:xfrm>
            <a:off x="10096500" y="6959600"/>
            <a:ext cx="2286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500" b="1">
                <a:solidFill>
                  <a:srgbClr val="0B2D45"/>
                </a:solidFill>
                <a:latin typeface="Aptos"/>
              </a:rPr>
              <a:t>DEPTH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DEEF40-F4E1-4493-BB41-32E6215BA1C2}"/>
              </a:ext>
            </a:extLst>
          </p:cNvPr>
          <p:cNvSpPr txBox="1"/>
          <p:nvPr/>
        </p:nvSpPr>
        <p:spPr>
          <a:xfrm>
            <a:off x="12954000" y="6959600"/>
            <a:ext cx="2286000" cy="4770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it-IT" sz="2500" b="1" err="1">
                <a:solidFill>
                  <a:srgbClr val="0B2D45"/>
                </a:solidFill>
                <a:latin typeface="Aptos"/>
              </a:rPr>
              <a:t>LiDAR</a:t>
            </a:r>
            <a:endParaRPr lang="it-IT" sz="2500" b="1">
              <a:solidFill>
                <a:srgbClr val="0B2D4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3385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BA3C4-09D8-CE55-4BC7-4EC0F5053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2">
            <a:extLst>
              <a:ext uri="{FF2B5EF4-FFF2-40B4-BE49-F238E27FC236}">
                <a16:creationId xmlns:a16="http://schemas.microsoft.com/office/drawing/2014/main" id="{D0C343DA-F362-D297-71B5-273C90340B7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8" name="Freeform 3">
              <a:extLst>
                <a:ext uri="{FF2B5EF4-FFF2-40B4-BE49-F238E27FC236}">
                  <a16:creationId xmlns:a16="http://schemas.microsoft.com/office/drawing/2014/main" id="{1B4566E0-609C-D4C6-8C7E-7DC67406FC79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22CB754-4CCE-CB63-D724-F86F0043432E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D3D953-BF34-0F4D-4A1F-87C052209510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Sensors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0277F7-1B1E-3E04-A81B-BECF9E0E9F14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it-IT" sz="6924" b="1">
                <a:solidFill>
                  <a:srgbClr val="FF5A00"/>
                </a:solidFill>
                <a:latin typeface="Arial"/>
                <a:cs typeface="Arial"/>
              </a:rPr>
              <a:t>One state, many sources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5AA257-226D-4BD8-D7AC-BC0A659B643F}"/>
              </a:ext>
            </a:extLst>
          </p:cNvPr>
          <p:cNvSpPr/>
          <p:nvPr/>
        </p:nvSpPr>
        <p:spPr>
          <a:xfrm>
            <a:off x="857250" y="3810000"/>
            <a:ext cx="3714750" cy="10668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DC11C5-9E0D-E611-E9B9-F97DDE4CAFDF}"/>
              </a:ext>
            </a:extLst>
          </p:cNvPr>
          <p:cNvSpPr txBox="1"/>
          <p:nvPr/>
        </p:nvSpPr>
        <p:spPr>
          <a:xfrm>
            <a:off x="1047750" y="3924300"/>
            <a:ext cx="33337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ATTITUDE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3CC447-A798-9191-506C-A41C93AF07CB}"/>
              </a:ext>
            </a:extLst>
          </p:cNvPr>
          <p:cNvSpPr txBox="1"/>
          <p:nvPr/>
        </p:nvSpPr>
        <p:spPr>
          <a:xfrm>
            <a:off x="4705350" y="3905250"/>
            <a:ext cx="7239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200" b="1">
                <a:solidFill>
                  <a:srgbClr val="FF5A00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7F3EBA-57F8-1F1B-8D2D-DFF9BC24432B}"/>
              </a:ext>
            </a:extLst>
          </p:cNvPr>
          <p:cNvSpPr/>
          <p:nvPr/>
        </p:nvSpPr>
        <p:spPr>
          <a:xfrm>
            <a:off x="5524500" y="38100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B06C10-91AC-DD5B-D81D-FF61350C56C2}"/>
              </a:ext>
            </a:extLst>
          </p:cNvPr>
          <p:cNvSpPr txBox="1"/>
          <p:nvPr/>
        </p:nvSpPr>
        <p:spPr>
          <a:xfrm>
            <a:off x="5600700" y="39243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GYRO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4A90A3-7EED-0505-0FC2-9C065B8DE016}"/>
              </a:ext>
            </a:extLst>
          </p:cNvPr>
          <p:cNvSpPr/>
          <p:nvPr/>
        </p:nvSpPr>
        <p:spPr>
          <a:xfrm>
            <a:off x="8515350" y="38100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A50BD2-066F-F1CE-8E24-E0E10379C9DC}"/>
              </a:ext>
            </a:extLst>
          </p:cNvPr>
          <p:cNvSpPr txBox="1"/>
          <p:nvPr/>
        </p:nvSpPr>
        <p:spPr>
          <a:xfrm>
            <a:off x="8591550" y="39243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GRAVITY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3C75073-6D5E-0EE7-B1DE-A89731414CC1}"/>
              </a:ext>
            </a:extLst>
          </p:cNvPr>
          <p:cNvSpPr/>
          <p:nvPr/>
        </p:nvSpPr>
        <p:spPr>
          <a:xfrm>
            <a:off x="11506200" y="38100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E72918-E052-092D-69B5-936C4531B49C}"/>
              </a:ext>
            </a:extLst>
          </p:cNvPr>
          <p:cNvSpPr txBox="1"/>
          <p:nvPr/>
        </p:nvSpPr>
        <p:spPr>
          <a:xfrm>
            <a:off x="11582400" y="39243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MAGNETIC FIELD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B841F5-23F6-DFBB-B8A1-F33FBDF9E08D}"/>
              </a:ext>
            </a:extLst>
          </p:cNvPr>
          <p:cNvSpPr/>
          <p:nvPr/>
        </p:nvSpPr>
        <p:spPr>
          <a:xfrm>
            <a:off x="14497050" y="3810000"/>
            <a:ext cx="2838450" cy="1066800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>
              <a:highlight>
                <a:srgbClr val="FFFF00"/>
              </a:highlight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77DBD3-2E8F-4F71-AB3D-1C8426C04810}"/>
              </a:ext>
            </a:extLst>
          </p:cNvPr>
          <p:cNvSpPr txBox="1"/>
          <p:nvPr/>
        </p:nvSpPr>
        <p:spPr>
          <a:xfrm>
            <a:off x="14573250" y="39243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VISION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BF0C29-621D-B2EE-7310-4C61178D3416}"/>
              </a:ext>
            </a:extLst>
          </p:cNvPr>
          <p:cNvSpPr/>
          <p:nvPr/>
        </p:nvSpPr>
        <p:spPr>
          <a:xfrm>
            <a:off x="857250" y="5524500"/>
            <a:ext cx="3714750" cy="10668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B44129-E036-07FB-6284-BD9B598933AA}"/>
              </a:ext>
            </a:extLst>
          </p:cNvPr>
          <p:cNvSpPr txBox="1"/>
          <p:nvPr/>
        </p:nvSpPr>
        <p:spPr>
          <a:xfrm>
            <a:off x="1047750" y="5638800"/>
            <a:ext cx="33337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HEIGHT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B4CF14-FD90-F4E4-265A-B3F4AF126DC6}"/>
              </a:ext>
            </a:extLst>
          </p:cNvPr>
          <p:cNvSpPr txBox="1"/>
          <p:nvPr/>
        </p:nvSpPr>
        <p:spPr>
          <a:xfrm>
            <a:off x="4705350" y="5619750"/>
            <a:ext cx="7239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200" b="1">
                <a:solidFill>
                  <a:srgbClr val="FF5A00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BA272C4-322D-EAF7-A96D-354A967D78CA}"/>
              </a:ext>
            </a:extLst>
          </p:cNvPr>
          <p:cNvSpPr/>
          <p:nvPr/>
        </p:nvSpPr>
        <p:spPr>
          <a:xfrm>
            <a:off x="5524500" y="55245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8BE732-31C9-3CBC-6255-7070F04881A0}"/>
              </a:ext>
            </a:extLst>
          </p:cNvPr>
          <p:cNvSpPr txBox="1"/>
          <p:nvPr/>
        </p:nvSpPr>
        <p:spPr>
          <a:xfrm>
            <a:off x="5600700" y="56388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BAROMETER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F8C1605-C14A-0A4B-1BD6-09208A9FC81D}"/>
              </a:ext>
            </a:extLst>
          </p:cNvPr>
          <p:cNvSpPr/>
          <p:nvPr/>
        </p:nvSpPr>
        <p:spPr>
          <a:xfrm>
            <a:off x="8515350" y="55245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67FD7C-9759-74F3-EB97-A805D9A74A93}"/>
              </a:ext>
            </a:extLst>
          </p:cNvPr>
          <p:cNvSpPr txBox="1"/>
          <p:nvPr/>
        </p:nvSpPr>
        <p:spPr>
          <a:xfrm>
            <a:off x="8591550" y="56388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GNSS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D634C60-CEBF-D606-272E-F3FA74137AD4}"/>
              </a:ext>
            </a:extLst>
          </p:cNvPr>
          <p:cNvSpPr/>
          <p:nvPr/>
        </p:nvSpPr>
        <p:spPr>
          <a:xfrm>
            <a:off x="11506200" y="5524500"/>
            <a:ext cx="283845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100025-32F1-20C9-075D-913B3D8321B6}"/>
              </a:ext>
            </a:extLst>
          </p:cNvPr>
          <p:cNvSpPr txBox="1"/>
          <p:nvPr/>
        </p:nvSpPr>
        <p:spPr>
          <a:xfrm>
            <a:off x="11582400" y="56388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RANGE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87C5EC-2E55-3164-25FB-0C5138133365}"/>
              </a:ext>
            </a:extLst>
          </p:cNvPr>
          <p:cNvSpPr/>
          <p:nvPr/>
        </p:nvSpPr>
        <p:spPr>
          <a:xfrm>
            <a:off x="14497050" y="5524500"/>
            <a:ext cx="2838450" cy="1066800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6A0FD2-3A0B-38E9-48A5-922883415CE0}"/>
              </a:ext>
            </a:extLst>
          </p:cNvPr>
          <p:cNvSpPr txBox="1"/>
          <p:nvPr/>
        </p:nvSpPr>
        <p:spPr>
          <a:xfrm>
            <a:off x="14573250" y="5638800"/>
            <a:ext cx="26860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VISION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8EB9BD0-5466-3FA4-1F86-2CC5CD849DA1}"/>
              </a:ext>
            </a:extLst>
          </p:cNvPr>
          <p:cNvSpPr/>
          <p:nvPr/>
        </p:nvSpPr>
        <p:spPr>
          <a:xfrm>
            <a:off x="857250" y="7239000"/>
            <a:ext cx="3714750" cy="1066800"/>
          </a:xfrm>
          <a:prstGeom prst="rect">
            <a:avLst/>
          </a:prstGeom>
          <a:solidFill>
            <a:srgbClr val="153C4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72B885-420D-1E4D-7D54-5F69FB1CB899}"/>
              </a:ext>
            </a:extLst>
          </p:cNvPr>
          <p:cNvSpPr txBox="1"/>
          <p:nvPr/>
        </p:nvSpPr>
        <p:spPr>
          <a:xfrm>
            <a:off x="1047750" y="7353300"/>
            <a:ext cx="333375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FFFFFF"/>
                </a:solidFill>
                <a:latin typeface="Arial"/>
                <a:cs typeface="Arial"/>
              </a:rPr>
              <a:t>HORIZONTAL MOTION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4ECEAD-F2C4-EEAE-6211-5FD7FA5F1317}"/>
              </a:ext>
            </a:extLst>
          </p:cNvPr>
          <p:cNvSpPr txBox="1"/>
          <p:nvPr/>
        </p:nvSpPr>
        <p:spPr>
          <a:xfrm>
            <a:off x="4705350" y="7334250"/>
            <a:ext cx="7239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2200" b="1">
                <a:solidFill>
                  <a:srgbClr val="FF5A00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924461E-7542-21D4-9E74-5588373F823A}"/>
              </a:ext>
            </a:extLst>
          </p:cNvPr>
          <p:cNvSpPr/>
          <p:nvPr/>
        </p:nvSpPr>
        <p:spPr>
          <a:xfrm>
            <a:off x="5524500" y="7239000"/>
            <a:ext cx="383540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824626-6CBE-73D4-A708-ABBB7F8CBC91}"/>
              </a:ext>
            </a:extLst>
          </p:cNvPr>
          <p:cNvSpPr txBox="1"/>
          <p:nvPr/>
        </p:nvSpPr>
        <p:spPr>
          <a:xfrm>
            <a:off x="5600700" y="7353300"/>
            <a:ext cx="3683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GNSS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FD0694F-6AE4-CD52-5AF8-E0D4A988314F}"/>
              </a:ext>
            </a:extLst>
          </p:cNvPr>
          <p:cNvSpPr/>
          <p:nvPr/>
        </p:nvSpPr>
        <p:spPr>
          <a:xfrm>
            <a:off x="9512300" y="7239000"/>
            <a:ext cx="3835400" cy="10668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9AB09A-31D9-0900-8310-3FE632ECF8BB}"/>
              </a:ext>
            </a:extLst>
          </p:cNvPr>
          <p:cNvSpPr txBox="1"/>
          <p:nvPr/>
        </p:nvSpPr>
        <p:spPr>
          <a:xfrm>
            <a:off x="9588500" y="7353300"/>
            <a:ext cx="3683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OPTICAL FLOW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B3F2AF7-A4A7-BD7C-A35B-2433900CE44F}"/>
              </a:ext>
            </a:extLst>
          </p:cNvPr>
          <p:cNvSpPr/>
          <p:nvPr/>
        </p:nvSpPr>
        <p:spPr>
          <a:xfrm>
            <a:off x="13500099" y="7239000"/>
            <a:ext cx="3835400" cy="1066800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C0F2BD-6DEC-870A-17B3-3A58D294B64C}"/>
              </a:ext>
            </a:extLst>
          </p:cNvPr>
          <p:cNvSpPr txBox="1"/>
          <p:nvPr/>
        </p:nvSpPr>
        <p:spPr>
          <a:xfrm>
            <a:off x="13576299" y="7353300"/>
            <a:ext cx="36830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ctr"/>
            <a:r>
              <a:rPr lang="it-IT" sz="2400" b="1">
                <a:solidFill>
                  <a:srgbClr val="08283A"/>
                </a:solidFill>
                <a:latin typeface="Arial"/>
                <a:cs typeface="Arial"/>
              </a:rPr>
              <a:t>VIO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D561F-19E5-36DB-E1A6-E5708E6D93FC}"/>
              </a:ext>
            </a:extLst>
          </p:cNvPr>
          <p:cNvSpPr txBox="1"/>
          <p:nvPr/>
        </p:nvSpPr>
        <p:spPr>
          <a:xfrm>
            <a:off x="1238250" y="8724900"/>
            <a:ext cx="158115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ctr"/>
            <a:r>
              <a:rPr lang="en-US" sz="3500" b="1">
                <a:solidFill>
                  <a:srgbClr val="FFFFFF"/>
                </a:solidFill>
                <a:latin typeface="Arial"/>
                <a:cs typeface="Arial"/>
              </a:rPr>
              <a:t>If every sensor is incomplete, maybe the information is in the combination.</a:t>
            </a:r>
            <a:endParaRPr lang="it-IT" sz="35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D0F510-2C92-2E06-3CB1-9A2FC3F7913E}"/>
              </a:ext>
            </a:extLst>
          </p:cNvPr>
          <p:cNvSpPr txBox="1"/>
          <p:nvPr/>
        </p:nvSpPr>
        <p:spPr>
          <a:xfrm>
            <a:off x="5715000" y="9410700"/>
            <a:ext cx="6858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it-IT" sz="4800" b="1">
                <a:solidFill>
                  <a:srgbClr val="FF5A00"/>
                </a:solidFill>
                <a:latin typeface="Arial"/>
                <a:cs typeface="Arial"/>
              </a:rPr>
              <a:t>SENSOR FUSION</a:t>
            </a:r>
          </a:p>
        </p:txBody>
      </p:sp>
    </p:spTree>
    <p:extLst>
      <p:ext uri="{BB962C8B-B14F-4D97-AF65-F5344CB8AC3E}">
        <p14:creationId xmlns:p14="http://schemas.microsoft.com/office/powerpoint/2010/main" val="2760744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Camera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From photons to pixels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840480"/>
            <a:ext cx="2728569" cy="301752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840480"/>
            <a:ext cx="2728569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4133088"/>
            <a:ext cx="221650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B2D45"/>
                </a:solidFill>
                <a:latin typeface="Arial"/>
              </a:rPr>
              <a:t>LIGHT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663440"/>
            <a:ext cx="221650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0B2D45"/>
                </a:solidFill>
                <a:latin typeface="Arial"/>
              </a:rPr>
              <a:t>scene radiance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734409" y="506577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301337" y="3840480"/>
            <a:ext cx="2728569" cy="301752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301337" y="3840480"/>
            <a:ext cx="2728569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57369" y="4133088"/>
            <a:ext cx="221650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B2D45"/>
                </a:solidFill>
                <a:latin typeface="Arial"/>
              </a:rPr>
              <a:t>LENS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57369" y="4663440"/>
            <a:ext cx="221650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0B2D45"/>
                </a:solidFill>
                <a:latin typeface="Arial"/>
              </a:rPr>
              <a:t>focus · FOV · distortion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7212787" y="506577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79715" y="3840480"/>
            <a:ext cx="2728569" cy="301752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779715" y="3840480"/>
            <a:ext cx="2728569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035747" y="4133088"/>
            <a:ext cx="221650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B2D45"/>
                </a:solidFill>
                <a:latin typeface="Arial"/>
              </a:rPr>
              <a:t>SENSOR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35747" y="4663440"/>
            <a:ext cx="221650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0B2D45"/>
                </a:solidFill>
                <a:latin typeface="Arial"/>
              </a:rPr>
              <a:t>CMOS pixels · exposure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10691164" y="506577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258092" y="3840480"/>
            <a:ext cx="2728569" cy="301752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1258092" y="3840480"/>
            <a:ext cx="2728569" cy="118872"/>
          </a:xfrm>
          <a:prstGeom prst="rect">
            <a:avLst/>
          </a:prstGeom>
          <a:solidFill>
            <a:srgbClr val="A7D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514124" y="4133088"/>
            <a:ext cx="221650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B2D45"/>
                </a:solidFill>
                <a:latin typeface="Arial"/>
              </a:rPr>
              <a:t>READOUT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14124" y="4663440"/>
            <a:ext cx="221650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0B2D45"/>
                </a:solidFill>
                <a:latin typeface="Arial"/>
              </a:rPr>
              <a:t>shutter · gain · ADC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4169542" y="506577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4736470" y="3840480"/>
            <a:ext cx="2728569" cy="301752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4736470" y="3840480"/>
            <a:ext cx="2728569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4992502" y="4133088"/>
            <a:ext cx="221650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B2D45"/>
                </a:solidFill>
                <a:latin typeface="Arial"/>
              </a:rPr>
              <a:t>IMAGE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992502" y="4663440"/>
            <a:ext cx="221650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0B2D45"/>
                </a:solidFill>
                <a:latin typeface="Arial"/>
              </a:rPr>
              <a:t>pixels + timestamp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7498079"/>
            <a:ext cx="8733995" cy="8002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Same chain as Lesson 2: transduction → conditioning → sampling → digital measurement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05D3341B-2A08-6868-0740-EF8EC0284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50" y="7134216"/>
            <a:ext cx="5555262" cy="282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Camera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How do I choose a camera?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57600"/>
            <a:ext cx="3657600" cy="96012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05840" y="3657600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DYNAMIC WINDOW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365760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37759" y="3657600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0B2D45"/>
                </a:solidFill>
                <a:latin typeface="Arial"/>
              </a:rPr>
              <a:t>RESOLUTION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365760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35440" y="3657600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0B2D45"/>
                </a:solidFill>
                <a:latin typeface="Arial"/>
              </a:rPr>
              <a:t>FIELD OF VIEW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441680" y="365760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533119" y="3657600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0B2D45"/>
                </a:solidFill>
                <a:latin typeface="Arial"/>
              </a:rPr>
              <a:t>FRAME RATE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4983480"/>
            <a:ext cx="3657600" cy="96012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05840" y="4983480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ERROR BEHAVIOUR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498348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937759" y="4983480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0B2D45"/>
                </a:solidFill>
                <a:latin typeface="Arial"/>
              </a:rPr>
              <a:t>NOISE / LOW LIGHT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0" y="498348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235440" y="4983480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0B2D45"/>
                </a:solidFill>
                <a:latin typeface="Arial"/>
              </a:rPr>
              <a:t>MOTION BLUR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441680" y="498348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3533119" y="4983480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0B2D45"/>
                </a:solidFill>
                <a:latin typeface="Arial"/>
              </a:rPr>
              <a:t>ROLLING SHUTTER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" y="6309360"/>
            <a:ext cx="3657600" cy="96012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05840" y="6309360"/>
            <a:ext cx="32918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INTEGRATION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46320" y="630936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937759" y="6627837"/>
            <a:ext cx="384048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0B2D45"/>
                </a:solidFill>
                <a:latin typeface="Arial"/>
              </a:rPr>
              <a:t>INTERFACE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0" y="630936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235440" y="6309360"/>
            <a:ext cx="38404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0B2D45"/>
                </a:solidFill>
                <a:latin typeface="Arial"/>
              </a:rPr>
              <a:t>LATENCY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441680" y="6309360"/>
            <a:ext cx="402336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3533119" y="6466254"/>
            <a:ext cx="3840480" cy="6463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0B2D45"/>
                </a:solidFill>
                <a:latin typeface="Arial"/>
              </a:rPr>
              <a:t>TIME SYNC</a:t>
            </a:r>
            <a:r>
              <a:rPr lang="it-IT" sz="2100" b="1" i="0">
                <a:solidFill>
                  <a:srgbClr val="0B2D45"/>
                </a:solidFill>
                <a:latin typeface="Arial"/>
              </a:rPr>
              <a:t> WITH OTHER SENSORS (EG. IMU)</a:t>
            </a:r>
            <a:endParaRPr sz="2100" b="1" i="0">
              <a:solidFill>
                <a:srgbClr val="0B2D45"/>
              </a:solidFill>
              <a:latin typeface="Arial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22960" y="800100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For visual odometry, </a:t>
            </a:r>
            <a:r>
              <a:rPr sz="3200" b="1" i="0">
                <a:solidFill>
                  <a:srgbClr val="FF5A00"/>
                </a:solidFill>
                <a:latin typeface="Arial"/>
              </a:rPr>
              <a:t>global shutter and good timestamps</a:t>
            </a:r>
            <a:r>
              <a:rPr sz="3200" b="1" i="0">
                <a:solidFill>
                  <a:srgbClr val="FFFFFF"/>
                </a:solidFill>
                <a:latin typeface="Arial"/>
              </a:rPr>
              <a:t> beat megapixels.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5A078-925B-1648-7726-AF13D1ACA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54412F-E408-6F26-9E05-9BE05C19CB67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52D8F56-528D-3129-88A6-9FA73D4CDF1F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E36A998-56BC-E310-68B9-3E8A1BAEE513}"/>
              </a:ext>
            </a:extLst>
          </p:cNvPr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8E0D97A-27C0-DDD5-9FA8-50C33ECDFCAF}"/>
                </a:ext>
              </a:extLst>
            </p:cNvPr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7699DF9-D7C4-9F39-3F09-3C3D4EF2FDE4}"/>
                </a:ext>
              </a:extLst>
            </p:cNvPr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9A34722-C462-C87F-6F53-D5D772557D84}"/>
              </a:ext>
            </a:extLst>
          </p:cNvPr>
          <p:cNvSpPr txBox="1"/>
          <p:nvPr/>
        </p:nvSpPr>
        <p:spPr>
          <a:xfrm>
            <a:off x="423362" y="3451504"/>
            <a:ext cx="18552543" cy="171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CAMERA MODEL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533F7F8E-8298-4A65-F839-76D1D13F4CC4}"/>
              </a:ext>
            </a:extLst>
          </p:cNvPr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79729F6-02EC-1DDB-417E-D5F7A1059BF8}"/>
                </a:ext>
              </a:extLst>
            </p:cNvPr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87FD974-4F7E-6B48-B9FB-55FEE0410238}"/>
                </a:ext>
              </a:extLst>
            </p:cNvPr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01570B8E-9911-12EC-AB28-FF7A8E405B42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5392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Camera 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Don't confuse the frames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16642080" cy="41148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f5_fra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598" y="3840480"/>
            <a:ext cx="9904803" cy="3657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3108960" y="8001000"/>
            <a:ext cx="1207008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91840" y="8092440"/>
            <a:ext cx="11704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D7262B"/>
                </a:solidFill>
                <a:latin typeface="Arial"/>
              </a:rPr>
              <a:t>A forward-looking camera's z axis is the body's x axis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8686800"/>
            <a:ext cx="11704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0B2D45"/>
                </a:solidFill>
                <a:latin typeface="Arial"/>
              </a:rPr>
              <a:t>World frames too: PX4 uses NED, ROS uses ENU (REP-105). Every boundary needs an explicit rotation.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 err="1">
                <a:solidFill>
                  <a:srgbClr val="000000"/>
                </a:solidFill>
                <a:latin typeface="Montserrat 2 Medium"/>
                <a:cs typeface="Arial"/>
              </a:rPr>
              <a:t>Camera model</a:t>
            </a:r>
            <a:endParaRPr lang="it-IT" sz="8600" b="1">
              <a:solidFill>
                <a:srgbClr val="000000"/>
              </a:solidFill>
              <a:latin typeface="Montserrat 2 Medium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The pinhole model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9509760" cy="47548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f3_pinh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11297"/>
            <a:ext cx="9052560" cy="3756045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10789920" y="3611880"/>
            <a:ext cx="6675120" cy="224028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064240" y="3794760"/>
            <a:ext cx="6126480" cy="1874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0" i="0">
                <a:solidFill>
                  <a:srgbClr val="FFFFFF"/>
                </a:solidFill>
                <a:latin typeface="Cambria Math"/>
              </a:rPr>
              <a:t>u = f</a:t>
            </a:r>
            <a:r>
              <a:rPr sz="3400" b="0" i="0" baseline="-25000">
                <a:solidFill>
                  <a:srgbClr val="FFFFFF"/>
                </a:solidFill>
                <a:latin typeface="Cambria Math"/>
              </a:rPr>
              <a:t>x</a:t>
            </a:r>
            <a:r>
              <a:rPr sz="3400" b="0" i="0">
                <a:solidFill>
                  <a:srgbClr val="FFFFFF"/>
                </a:solidFill>
                <a:latin typeface="Cambria Math"/>
              </a:rPr>
              <a:t> · X / Z + c</a:t>
            </a:r>
            <a:r>
              <a:rPr sz="3400" b="0" i="0" baseline="-25000">
                <a:solidFill>
                  <a:srgbClr val="FFFFFF"/>
                </a:solidFill>
                <a:latin typeface="Cambria Math"/>
              </a:rPr>
              <a:t>x</a:t>
            </a:r>
          </a:p>
          <a:p>
            <a:pPr algn="ctr">
              <a:spcAft>
                <a:spcPts val="800"/>
              </a:spcAft>
            </a:pPr>
            <a:r>
              <a:rPr sz="3400" b="0" i="0">
                <a:solidFill>
                  <a:srgbClr val="FFFFFF"/>
                </a:solidFill>
                <a:latin typeface="Cambria Math"/>
              </a:rPr>
              <a:t>v = f</a:t>
            </a:r>
            <a:r>
              <a:rPr sz="3400" b="0" i="0" baseline="-25000">
                <a:solidFill>
                  <a:srgbClr val="FFFFFF"/>
                </a:solidFill>
                <a:latin typeface="Cambria Math"/>
              </a:rPr>
              <a:t>y</a:t>
            </a:r>
            <a:r>
              <a:rPr sz="3400" b="0" i="0">
                <a:solidFill>
                  <a:srgbClr val="FFFFFF"/>
                </a:solidFill>
                <a:latin typeface="Cambria Math"/>
              </a:rPr>
              <a:t> · Y / Z + c</a:t>
            </a:r>
            <a:r>
              <a:rPr sz="3400" b="0" i="0" baseline="-25000">
                <a:solidFill>
                  <a:srgbClr val="FFFFFF"/>
                </a:solidFill>
                <a:latin typeface="Cambria Math"/>
              </a:rPr>
              <a:t>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89920" y="6126480"/>
            <a:ext cx="6675120" cy="22402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789920" y="6126480"/>
            <a:ext cx="667512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045952" y="6419088"/>
            <a:ext cx="616305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PERSPECTIVE DIVISION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45952" y="7010400"/>
            <a:ext cx="6163056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dividing by Z is exactly where depth disappears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873252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Ideal camera: an infinitely small hole, no lens, no distortion.</a:t>
            </a:r>
          </a:p>
        </p:txBody>
      </p:sp>
    </p:spTree>
    <p:extLst>
      <p:ext uri="{BB962C8B-B14F-4D97-AF65-F5344CB8AC3E}">
        <p14:creationId xmlns:p14="http://schemas.microsoft.com/office/powerpoint/2010/main" val="4198989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 err="1">
                <a:solidFill>
                  <a:srgbClr val="000000"/>
                </a:solidFill>
                <a:latin typeface="Montserrat 2 Medium"/>
                <a:cs typeface="Arial"/>
              </a:rPr>
              <a:t>Camera model</a:t>
            </a:r>
            <a:endParaRPr lang="it-IT" sz="8600" b="1">
              <a:solidFill>
                <a:srgbClr val="000000"/>
              </a:solidFill>
              <a:latin typeface="Montserrat 2 Medium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Step 1 · Extrinsics: where is the camera?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3598164" cy="23774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611880"/>
            <a:ext cx="3598164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3904488"/>
            <a:ext cx="308610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0B2D45"/>
                </a:solidFill>
                <a:latin typeface="Arial"/>
              </a:rPr>
              <a:t>WORLD · NED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404360"/>
            <a:ext cx="30861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3D point P</a:t>
            </a:r>
            <a:r>
              <a:rPr sz="2200" b="0" i="0" baseline="-25000">
                <a:solidFill>
                  <a:srgbClr val="0B2D45"/>
                </a:solidFill>
                <a:latin typeface="Arial"/>
              </a:rPr>
              <a:t>W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604004" y="451713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170932" y="3611880"/>
            <a:ext cx="3598164" cy="23774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170932" y="3611880"/>
            <a:ext cx="3598164" cy="118872"/>
          </a:xfrm>
          <a:prstGeom prst="rect">
            <a:avLst/>
          </a:prstGeom>
          <a:solidFill>
            <a:srgbClr val="A7D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26964" y="3904488"/>
            <a:ext cx="308610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0B2D45"/>
                </a:solidFill>
                <a:latin typeface="Arial"/>
              </a:rPr>
              <a:t>BODY · FRD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26964" y="4404360"/>
            <a:ext cx="30861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vehicle frame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8951976" y="451713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518904" y="3611880"/>
            <a:ext cx="3598164" cy="23774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518904" y="3611880"/>
            <a:ext cx="3598164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774936" y="3904488"/>
            <a:ext cx="308610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0B2D45"/>
                </a:solidFill>
                <a:latin typeface="Arial"/>
              </a:rPr>
              <a:t>CAMERA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74936" y="4404360"/>
            <a:ext cx="30861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optical frame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13299948" y="451713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3866876" y="3611880"/>
            <a:ext cx="3598164" cy="23774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3866876" y="3611880"/>
            <a:ext cx="3598164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4122908" y="3904488"/>
            <a:ext cx="308610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0B2D45"/>
                </a:solidFill>
                <a:latin typeface="Arial"/>
              </a:rPr>
              <a:t>PIXEL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122908" y="4404360"/>
            <a:ext cx="308610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(u, v)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6120" y="617220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vehicle pose</a:t>
            </a:r>
          </a:p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estimated · Lesson 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5512" y="617220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extrinsics T</a:t>
            </a:r>
            <a:r>
              <a:rPr sz="2200" b="0" i="0" baseline="-25000">
                <a:solidFill>
                  <a:srgbClr val="FFFFFF"/>
                </a:solidFill>
                <a:latin typeface="Arial"/>
              </a:rPr>
              <a:t>CB</a:t>
            </a:r>
          </a:p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calibrated · fixed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804904" y="617220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intrinsics K</a:t>
            </a:r>
          </a:p>
          <a:p>
            <a:pPr algn="ctr"/>
            <a:r>
              <a:rPr sz="2200" b="0" i="0">
                <a:solidFill>
                  <a:srgbClr val="FFFFFF"/>
                </a:solidFill>
                <a:latin typeface="Arial"/>
              </a:rPr>
              <a:t>+ distortion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23360" y="7269480"/>
            <a:ext cx="10241280" cy="100584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297680" y="745236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0" i="0">
                <a:solidFill>
                  <a:srgbClr val="FFFFFF"/>
                </a:solidFill>
                <a:latin typeface="Cambria Math"/>
              </a:rPr>
              <a:t>p = π( K · T</a:t>
            </a:r>
            <a:r>
              <a:rPr sz="3400" b="0" i="0" baseline="-25000">
                <a:solidFill>
                  <a:srgbClr val="FFFFFF"/>
                </a:solidFill>
                <a:latin typeface="Cambria Math"/>
              </a:rPr>
              <a:t>CB</a:t>
            </a:r>
            <a:r>
              <a:rPr sz="3400" b="0" i="0">
                <a:solidFill>
                  <a:srgbClr val="FFFFFF"/>
                </a:solidFill>
                <a:latin typeface="Cambria Math"/>
              </a:rPr>
              <a:t> · T</a:t>
            </a:r>
            <a:r>
              <a:rPr sz="3400" b="0" i="0" baseline="-25000">
                <a:solidFill>
                  <a:srgbClr val="FFFFFF"/>
                </a:solidFill>
                <a:latin typeface="Cambria Math"/>
              </a:rPr>
              <a:t>BW</a:t>
            </a:r>
            <a:r>
              <a:rPr sz="3400" b="0" i="0">
                <a:solidFill>
                  <a:srgbClr val="FFFFFF"/>
                </a:solidFill>
                <a:latin typeface="Cambria Math"/>
              </a:rPr>
              <a:t> · P</a:t>
            </a:r>
            <a:r>
              <a:rPr sz="3400" b="0" i="0" baseline="-25000">
                <a:solidFill>
                  <a:srgbClr val="FFFFFF"/>
                </a:solidFill>
                <a:latin typeface="Cambria Math"/>
              </a:rPr>
              <a:t>W</a:t>
            </a:r>
            <a:r>
              <a:rPr sz="3400" b="0" i="0">
                <a:solidFill>
                  <a:srgbClr val="FFFFFF"/>
                </a:solidFill>
                <a:latin typeface="Cambria Math"/>
              </a:rPr>
              <a:t> 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8595360"/>
            <a:ext cx="166420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Lesson 1 again: same vector</a:t>
            </a:r>
            <a:r>
              <a:rPr lang="it-IT" sz="2600" b="1">
                <a:solidFill>
                  <a:srgbClr val="FFFFFF"/>
                </a:solidFill>
                <a:latin typeface="Arial"/>
              </a:rPr>
              <a:t> </a:t>
            </a:r>
            <a:r>
              <a:rPr lang="it-IT" sz="2600" b="1" err="1">
                <a:solidFill>
                  <a:srgbClr val="FFFFFF"/>
                </a:solidFill>
                <a:latin typeface="Arial"/>
              </a:rPr>
              <a:t>but</a:t>
            </a:r>
            <a:r>
              <a:rPr lang="it-IT" sz="2600" b="1">
                <a:solidFill>
                  <a:srgbClr val="FFFFFF"/>
                </a:solidFill>
                <a:latin typeface="Arial"/>
              </a:rPr>
              <a:t> </a:t>
            </a:r>
            <a:r>
              <a:rPr sz="2600" b="1" i="0">
                <a:solidFill>
                  <a:srgbClr val="FFFFFF"/>
                </a:solidFill>
                <a:latin typeface="Arial"/>
              </a:rPr>
              <a:t>different coordinates. </a:t>
            </a:r>
            <a:r>
              <a:rPr sz="2600" b="1" i="0" err="1">
                <a:solidFill>
                  <a:srgbClr val="FFFFFF"/>
                </a:solidFill>
                <a:latin typeface="Arial"/>
              </a:rPr>
              <a:t>Extrinsics</a:t>
            </a:r>
            <a:r>
              <a:rPr sz="2600" b="1" i="0">
                <a:solidFill>
                  <a:srgbClr val="FFFFFF"/>
                </a:solidFill>
                <a:latin typeface="Arial"/>
              </a:rPr>
              <a:t> are one more fixed frame.</a:t>
            </a:r>
          </a:p>
        </p:txBody>
      </p:sp>
    </p:spTree>
    <p:extLst>
      <p:ext uri="{BB962C8B-B14F-4D97-AF65-F5344CB8AC3E}">
        <p14:creationId xmlns:p14="http://schemas.microsoft.com/office/powerpoint/2010/main" val="1230799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 err="1">
                <a:solidFill>
                  <a:srgbClr val="000000"/>
                </a:solidFill>
                <a:latin typeface="Montserrat 2 Medium"/>
                <a:cs typeface="Arial"/>
              </a:rPr>
              <a:t>Camera model</a:t>
            </a:r>
            <a:endParaRPr lang="it-IT" sz="8600" b="1">
              <a:solidFill>
                <a:srgbClr val="000000"/>
              </a:solidFill>
              <a:latin typeface="Montserrat 2 Medium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Step 2 · Intrinsics K: from rays to pixels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7498079" cy="3749039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88720" y="3611880"/>
            <a:ext cx="1645920" cy="37490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 i="0">
                <a:solidFill>
                  <a:srgbClr val="0B2D45"/>
                </a:solidFill>
                <a:latin typeface="Cambria Math"/>
              </a:rPr>
              <a:t>K =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402336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solidFill>
                  <a:srgbClr val="FF5A00"/>
                </a:solidFill>
                <a:latin typeface="Cambria Math"/>
              </a:rPr>
              <a:t>f</a:t>
            </a:r>
            <a:r>
              <a:rPr sz="4000" b="0" i="0" baseline="-25000">
                <a:solidFill>
                  <a:srgbClr val="FF5A00"/>
                </a:solidFill>
                <a:latin typeface="Cambria Math"/>
              </a:rP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0600" y="402336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solidFill>
                  <a:srgbClr val="0B2D45"/>
                </a:solidFill>
                <a:latin typeface="Cambria Math"/>
              </a:rPr>
              <a:t>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02336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solidFill>
                  <a:srgbClr val="15B9C5"/>
                </a:solidFill>
                <a:latin typeface="Cambria Math"/>
              </a:rPr>
              <a:t>c</a:t>
            </a:r>
            <a:r>
              <a:rPr sz="4000" b="0" i="0" baseline="-25000">
                <a:solidFill>
                  <a:srgbClr val="15B9C5"/>
                </a:solidFill>
                <a:latin typeface="Cambria Math"/>
              </a:rPr>
              <a:t>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4983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solidFill>
                  <a:srgbClr val="0B2D45"/>
                </a:solidFill>
                <a:latin typeface="Cambria Math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0600" y="4983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solidFill>
                  <a:srgbClr val="FF5A00"/>
                </a:solidFill>
                <a:latin typeface="Cambria Math"/>
              </a:rPr>
              <a:t>f</a:t>
            </a:r>
            <a:r>
              <a:rPr sz="4000" b="0" i="0" baseline="-25000">
                <a:solidFill>
                  <a:srgbClr val="FF5A00"/>
                </a:solidFill>
                <a:latin typeface="Cambria Math"/>
              </a:rPr>
              <a:t>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98348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solidFill>
                  <a:srgbClr val="15B9C5"/>
                </a:solidFill>
                <a:latin typeface="Cambria Math"/>
              </a:rPr>
              <a:t>c</a:t>
            </a:r>
            <a:r>
              <a:rPr sz="4000" b="0" i="0" baseline="-25000">
                <a:solidFill>
                  <a:srgbClr val="15B9C5"/>
                </a:solidFill>
                <a:latin typeface="Cambria Math"/>
              </a:rPr>
              <a:t>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594360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solidFill>
                  <a:srgbClr val="0B2D45"/>
                </a:solidFill>
                <a:latin typeface="Cambria Math"/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0600" y="594360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solidFill>
                  <a:srgbClr val="0B2D45"/>
                </a:solidFill>
                <a:latin typeface="Cambria Math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94360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0" i="0">
                <a:solidFill>
                  <a:srgbClr val="0B2D45"/>
                </a:solidFill>
                <a:latin typeface="Cambria Math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71800" y="3977639"/>
            <a:ext cx="73152" cy="2971800"/>
          </a:xfrm>
          <a:prstGeom prst="rect">
            <a:avLst/>
          </a:prstGeom>
          <a:solidFill>
            <a:srgbClr val="0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971800" y="3977639"/>
            <a:ext cx="274320" cy="73152"/>
          </a:xfrm>
          <a:prstGeom prst="rect">
            <a:avLst/>
          </a:prstGeom>
          <a:solidFill>
            <a:srgbClr val="0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971800" y="6876288"/>
            <a:ext cx="274320" cy="73152"/>
          </a:xfrm>
          <a:prstGeom prst="rect">
            <a:avLst/>
          </a:prstGeom>
          <a:solidFill>
            <a:srgbClr val="0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909560" y="3977639"/>
            <a:ext cx="73152" cy="2971800"/>
          </a:xfrm>
          <a:prstGeom prst="rect">
            <a:avLst/>
          </a:prstGeom>
          <a:solidFill>
            <a:srgbClr val="0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708392" y="3977639"/>
            <a:ext cx="274320" cy="73152"/>
          </a:xfrm>
          <a:prstGeom prst="rect">
            <a:avLst/>
          </a:prstGeom>
          <a:solidFill>
            <a:srgbClr val="0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708392" y="6876288"/>
            <a:ext cx="274320" cy="73152"/>
          </a:xfrm>
          <a:prstGeom prst="rect">
            <a:avLst/>
          </a:prstGeom>
          <a:solidFill>
            <a:srgbClr val="0B2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778240" y="3611880"/>
            <a:ext cx="4160520" cy="23774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778240" y="3611880"/>
            <a:ext cx="416052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034272" y="3904488"/>
            <a:ext cx="364845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Cambria Math"/>
              </a:rPr>
              <a:t>f</a:t>
            </a:r>
            <a:r>
              <a:rPr sz="2800" b="1" i="0" baseline="-25000">
                <a:solidFill>
                  <a:srgbClr val="0B2D45"/>
                </a:solidFill>
                <a:latin typeface="Cambria Math"/>
              </a:rPr>
              <a:t>x</a:t>
            </a:r>
            <a:r>
              <a:rPr sz="2800" b="1" i="0">
                <a:solidFill>
                  <a:srgbClr val="0B2D45"/>
                </a:solidFill>
                <a:latin typeface="Cambria Math"/>
              </a:rPr>
              <a:t>, f</a:t>
            </a:r>
            <a:r>
              <a:rPr sz="2800" b="1" i="0" baseline="-25000">
                <a:solidFill>
                  <a:srgbClr val="0B2D45"/>
                </a:solidFill>
                <a:latin typeface="Cambria Math"/>
              </a:rPr>
              <a:t>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34272" y="4495800"/>
            <a:ext cx="3648456" cy="1356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focal length in pixels = f / pixel size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3304520" y="3611880"/>
            <a:ext cx="4160520" cy="23774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3304520" y="3611880"/>
            <a:ext cx="416052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3560552" y="3904488"/>
            <a:ext cx="364845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Cambria Math"/>
              </a:rPr>
              <a:t>c</a:t>
            </a:r>
            <a:r>
              <a:rPr sz="2800" b="1" i="0" baseline="-25000">
                <a:solidFill>
                  <a:srgbClr val="0B2D45"/>
                </a:solidFill>
                <a:latin typeface="Cambria Math"/>
              </a:rPr>
              <a:t>x</a:t>
            </a:r>
            <a:r>
              <a:rPr sz="2800" b="1" i="0">
                <a:solidFill>
                  <a:srgbClr val="0B2D45"/>
                </a:solidFill>
                <a:latin typeface="Cambria Math"/>
              </a:rPr>
              <a:t>, c</a:t>
            </a:r>
            <a:r>
              <a:rPr sz="2800" b="1" i="0" baseline="-25000">
                <a:solidFill>
                  <a:srgbClr val="0B2D45"/>
                </a:solidFill>
                <a:latin typeface="Cambria Math"/>
              </a:rPr>
              <a:t>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560552" y="4495800"/>
            <a:ext cx="3648456" cy="1356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principal point: where the optical axis hits the sensor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778240" y="6263640"/>
            <a:ext cx="8686800" cy="109728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052560" y="6446520"/>
            <a:ext cx="8138160" cy="731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640 px wide, 90° HFOV → f</a:t>
            </a:r>
            <a:r>
              <a:rPr sz="2400" b="0" i="0" baseline="-25000">
                <a:solidFill>
                  <a:srgbClr val="FFFFFF"/>
                </a:solidFill>
                <a:latin typeface="Arial"/>
              </a:rPr>
              <a:t>x</a:t>
            </a:r>
            <a:r>
              <a:rPr sz="2400" b="0" i="0">
                <a:solidFill>
                  <a:srgbClr val="FFFFFF"/>
                </a:solidFill>
                <a:latin typeface="Arial"/>
              </a:rPr>
              <a:t> = 320 / tan 45° = </a:t>
            </a:r>
            <a:r>
              <a:rPr sz="2400" b="1" i="0">
                <a:solidFill>
                  <a:srgbClr val="FF5A00"/>
                </a:solidFill>
                <a:latin typeface="Arial"/>
              </a:rPr>
              <a:t>320 px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" y="7452360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B8C6CC"/>
                </a:solidFill>
                <a:latin typeface="Arial"/>
              </a:rPr>
              <a:t>s = skew ≈ 0 for modern sensors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841248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K belongs to the camera alone: it doesn't change when the drone moves (it does if you zoom or refocus).</a:t>
            </a:r>
          </a:p>
        </p:txBody>
      </p:sp>
    </p:spTree>
    <p:extLst>
      <p:ext uri="{BB962C8B-B14F-4D97-AF65-F5344CB8AC3E}">
        <p14:creationId xmlns:p14="http://schemas.microsoft.com/office/powerpoint/2010/main" val="901284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Camera 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/>
          </a:bodyPr>
          <a:lstStyle/>
          <a:p>
            <a:pPr algn="l"/>
            <a:r>
              <a:rPr lang="en-US" sz="6000" b="1" dirty="0">
                <a:solidFill>
                  <a:srgbClr val="FF5A00"/>
                </a:solidFill>
                <a:latin typeface="Arial"/>
                <a:cs typeface="Arial"/>
              </a:rPr>
              <a:t>Homogeneous coordinates: one matrix product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 b="0" i="0" dirty="0">
                <a:solidFill>
                  <a:srgbClr val="B8C6CC"/>
                </a:solidFill>
                <a:latin typeface="Arial"/>
                <a:cs typeface="Arial"/>
              </a:rPr>
              <a:t>Homogeneous coordinates are scale-invariant: (u, v, 1) and λ(u, v, 1) are the same pixel.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3429000"/>
            <a:ext cx="1664208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400" b="1" i="0" dirty="0">
                <a:solidFill>
                  <a:srgbClr val="FFFFFF"/>
                </a:solidFill>
                <a:latin typeface="Cambria Math"/>
              </a:rPr>
              <a:t>λ · (u, v, 1) = K · [ R | t ] · (X</a:t>
            </a:r>
            <a:r>
              <a:rPr lang="en-US" sz="4400" b="1" i="0" baseline="-25000" dirty="0">
                <a:solidFill>
                  <a:srgbClr val="FFFFFF"/>
                </a:solidFill>
                <a:latin typeface="Cambria Math"/>
              </a:rPr>
              <a:t>W</a:t>
            </a:r>
            <a:r>
              <a:rPr lang="en-US" sz="4400" b="1" i="0" dirty="0">
                <a:solidFill>
                  <a:srgbClr val="FFFFFF"/>
                </a:solidFill>
                <a:latin typeface="Cambria Math"/>
              </a:rPr>
              <a:t>, Y</a:t>
            </a:r>
            <a:r>
              <a:rPr lang="en-US" sz="4400" b="1" i="0" baseline="-25000" dirty="0">
                <a:solidFill>
                  <a:srgbClr val="FFFFFF"/>
                </a:solidFill>
                <a:latin typeface="Cambria Math"/>
              </a:rPr>
              <a:t>W</a:t>
            </a:r>
            <a:r>
              <a:rPr lang="en-US" sz="4400" b="1" i="0" dirty="0">
                <a:solidFill>
                  <a:srgbClr val="FFFFFF"/>
                </a:solidFill>
                <a:latin typeface="Cambria Math"/>
              </a:rPr>
              <a:t>, Z</a:t>
            </a:r>
            <a:r>
              <a:rPr lang="en-US" sz="4400" b="1" i="0" baseline="-25000" dirty="0">
                <a:solidFill>
                  <a:srgbClr val="FFFFFF"/>
                </a:solidFill>
                <a:latin typeface="Cambria Math"/>
              </a:rPr>
              <a:t>W</a:t>
            </a:r>
            <a:r>
              <a:rPr lang="en-US" sz="4400" b="1" i="0" dirty="0">
                <a:solidFill>
                  <a:srgbClr val="FFFFFF"/>
                </a:solidFill>
                <a:latin typeface="Cambria Math"/>
              </a:rPr>
              <a:t>, 1)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4617720"/>
            <a:ext cx="527304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22960" y="4617720"/>
            <a:ext cx="527304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78992" y="4910328"/>
            <a:ext cx="476097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0B2D45"/>
                </a:solidFill>
                <a:latin typeface="Arial"/>
                <a:cs typeface="Arial"/>
              </a:rPr>
              <a:t>K · INTRINSICS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" y="5499100"/>
            <a:ext cx="4760976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800" b="0" i="0" dirty="0">
                <a:solidFill>
                  <a:srgbClr val="0B2D45"/>
                </a:solidFill>
                <a:latin typeface="Arial"/>
                <a:cs typeface="Arial"/>
              </a:rPr>
              <a:t>3×3 · camera → image: focal length and principal point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07480" y="4617720"/>
            <a:ext cx="527304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507480" y="4617720"/>
            <a:ext cx="527304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63512" y="4910328"/>
            <a:ext cx="476097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0B2D45"/>
                </a:solidFill>
                <a:latin typeface="Arial"/>
                <a:cs typeface="Arial"/>
              </a:rPr>
              <a:t>[ R | t ] · EXTRINSICS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3512" y="5501640"/>
            <a:ext cx="4760976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800" b="0" i="0" dirty="0">
                <a:solidFill>
                  <a:srgbClr val="0B2D45"/>
                </a:solidFill>
                <a:latin typeface="Arial"/>
                <a:cs typeface="Arial"/>
              </a:rPr>
              <a:t>3×4 · world → camera: the rigid-body pose T without its last row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192000" y="4617720"/>
            <a:ext cx="527304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2192000" y="4617720"/>
            <a:ext cx="527304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448032" y="4910328"/>
            <a:ext cx="476097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 i="0" dirty="0">
                <a:solidFill>
                  <a:srgbClr val="0B2D45"/>
                </a:solidFill>
                <a:latin typeface="Arial"/>
                <a:cs typeface="Arial"/>
              </a:rPr>
              <a:t>λ = Zc · SCALE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448032" y="5501640"/>
            <a:ext cx="4760976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800" b="0" i="0" dirty="0">
                <a:solidFill>
                  <a:srgbClr val="0B2D45"/>
                </a:solidFill>
                <a:latin typeface="Arial"/>
                <a:cs typeface="Arial"/>
              </a:rPr>
              <a:t>divide by λ to get pixels: this is where depth is lost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94960" y="7955279"/>
            <a:ext cx="7498079" cy="1005840"/>
          </a:xfrm>
          <a:prstGeom prst="rect">
            <a:avLst/>
          </a:prstGeom>
          <a:solidFill>
            <a:srgbClr val="153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86400" y="8027312"/>
            <a:ext cx="7315200" cy="861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 i="0" dirty="0">
                <a:solidFill>
                  <a:srgbClr val="FFFFFF"/>
                </a:solidFill>
                <a:latin typeface="Arial"/>
                <a:cs typeface="Arial"/>
              </a:rPr>
              <a:t>Linear until the last division: a pixel gives back a ray, not a point.</a:t>
            </a:r>
          </a:p>
        </p:txBody>
      </p:sp>
    </p:spTree>
    <p:extLst>
      <p:ext uri="{BB962C8B-B14F-4D97-AF65-F5344CB8AC3E}">
        <p14:creationId xmlns:p14="http://schemas.microsoft.com/office/powerpoint/2010/main" val="605909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 err="1">
                <a:solidFill>
                  <a:srgbClr val="000000"/>
                </a:solidFill>
                <a:latin typeface="Montserrat 2 Medium"/>
                <a:cs typeface="Arial"/>
              </a:rPr>
              <a:t>Camera model</a:t>
            </a:r>
            <a:endParaRPr lang="it-IT" sz="8600" b="1">
              <a:solidFill>
                <a:srgbClr val="000000"/>
              </a:solidFill>
              <a:latin typeface="Montserrat 2 Medium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Lens distortion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9509760" cy="47548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f4_distor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478638"/>
            <a:ext cx="9052560" cy="3021363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10789920" y="3611880"/>
            <a:ext cx="6675120" cy="22402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789920" y="3611880"/>
            <a:ext cx="6675120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045952" y="3904488"/>
            <a:ext cx="616305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RADIAL–TANGENTIAL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5952" y="4495800"/>
            <a:ext cx="6163056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k₁, k₂, k₃ radial · p₁, p₂ tangential · normal lenses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89920" y="6126480"/>
            <a:ext cx="6675120" cy="22402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789920" y="6126480"/>
            <a:ext cx="667512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045952" y="6419088"/>
            <a:ext cx="616305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FISHEYE / EQUIDISTANT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45952" y="7010400"/>
            <a:ext cx="6163056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r = f · θ (1 + k₁θ² + k₂θ⁴ + …) · very wide FOV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8732520"/>
            <a:ext cx="166420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Wide-angle drone lenses make distortion non-negligible</a:t>
            </a:r>
            <a:r>
              <a:rPr lang="it-IT" sz="3200" b="1" i="0">
                <a:solidFill>
                  <a:srgbClr val="FFFFFF"/>
                </a:solidFill>
                <a:latin typeface="Arial"/>
              </a:rPr>
              <a:t>!</a:t>
            </a:r>
            <a:endParaRPr sz="3200" b="1" i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5678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Camera 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The camera is just another h(x)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Notation follows the minimum measurement model of Lesson 2: z = h(x) + b + n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2960" y="3429000"/>
            <a:ext cx="1664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mbria Math"/>
              </a:rPr>
              <a:t>z = π( K, T</a:t>
            </a:r>
            <a:r>
              <a:rPr sz="4400" b="1" i="0" baseline="-25000">
                <a:solidFill>
                  <a:srgbClr val="FFFFFF"/>
                </a:solidFill>
                <a:latin typeface="Cambria Math"/>
              </a:rPr>
              <a:t>CB</a:t>
            </a:r>
            <a:r>
              <a:rPr sz="4400" b="1" i="0">
                <a:solidFill>
                  <a:srgbClr val="FFFFFF"/>
                </a:solidFill>
                <a:latin typeface="Cambria Math"/>
              </a:rPr>
              <a:t>, T</a:t>
            </a:r>
            <a:r>
              <a:rPr sz="4400" b="1" i="0" baseline="-25000">
                <a:solidFill>
                  <a:srgbClr val="FFFFFF"/>
                </a:solidFill>
                <a:latin typeface="Cambria Math"/>
              </a:rPr>
              <a:t>BW</a:t>
            </a:r>
            <a:r>
              <a:rPr sz="4400" b="1" i="0">
                <a:solidFill>
                  <a:srgbClr val="FFFFFF"/>
                </a:solidFill>
                <a:latin typeface="Cambria Math"/>
              </a:rPr>
              <a:t> · P</a:t>
            </a:r>
            <a:r>
              <a:rPr sz="4400" b="1" i="0" baseline="-25000">
                <a:solidFill>
                  <a:srgbClr val="FFFFFF"/>
                </a:solidFill>
                <a:latin typeface="Cambria Math"/>
              </a:rPr>
              <a:t>W</a:t>
            </a:r>
            <a:r>
              <a:rPr sz="4400" b="1" i="0">
                <a:solidFill>
                  <a:srgbClr val="FFFFFF"/>
                </a:solidFill>
                <a:latin typeface="Cambria Math"/>
              </a:rPr>
              <a:t> ) + b + 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4617720"/>
            <a:ext cx="527304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22960" y="4617720"/>
            <a:ext cx="527304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78992" y="4910328"/>
            <a:ext cx="4760976" cy="85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h(x) · IDEAL RELATIONSHIP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" y="5928360"/>
            <a:ext cx="4760976" cy="1432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projection: pose + 3D point → pixel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07480" y="4617720"/>
            <a:ext cx="527304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507480" y="4617720"/>
            <a:ext cx="527304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63512" y="4910328"/>
            <a:ext cx="476097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b · BIAS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3512" y="5501640"/>
            <a:ext cx="4760976" cy="1859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calibration errors · camera–IMU time offset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2192000" y="4617720"/>
            <a:ext cx="5273040" cy="2880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2192000" y="4617720"/>
            <a:ext cx="527304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448032" y="4910328"/>
            <a:ext cx="476097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n · RANDOM NOISE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448032" y="5501640"/>
            <a:ext cx="4760976" cy="1859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feature localization ≈ 0.5–1 px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94960" y="7955279"/>
            <a:ext cx="7498079" cy="1005840"/>
          </a:xfrm>
          <a:prstGeom prst="rect">
            <a:avLst/>
          </a:prstGeom>
          <a:solidFill>
            <a:srgbClr val="153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86400" y="7955279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Same estimator, richer measurement.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Camera model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85000" lnSpcReduction="10000"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Calibration: measuring K, distortion and extrinsics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3598164" cy="2651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611880"/>
            <a:ext cx="3598164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3904488"/>
            <a:ext cx="3086100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CAPTURE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434840"/>
            <a:ext cx="3086100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checkerboard / AprilGrid · many poses · cover corners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604004" y="465429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170932" y="3611880"/>
            <a:ext cx="3598164" cy="2651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170932" y="3611880"/>
            <a:ext cx="3598164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26964" y="3904488"/>
            <a:ext cx="3086100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DETECT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26964" y="4434840"/>
            <a:ext cx="3086100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corners with sub-pixel accuracy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8951976" y="465429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518904" y="3611880"/>
            <a:ext cx="3598164" cy="2651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518904" y="3611880"/>
            <a:ext cx="3598164" cy="118872"/>
          </a:xfrm>
          <a:prstGeom prst="rect">
            <a:avLst/>
          </a:prstGeom>
          <a:solidFill>
            <a:srgbClr val="A7D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774936" y="3904488"/>
            <a:ext cx="3086100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OPTIMIZE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74936" y="4434840"/>
            <a:ext cx="3086100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K, distortion, board poses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13299948" y="465429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3866876" y="3611880"/>
            <a:ext cx="3598164" cy="2651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3866876" y="3611880"/>
            <a:ext cx="3598164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4122908" y="3904488"/>
            <a:ext cx="3086100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CHECK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122908" y="4434840"/>
            <a:ext cx="3086100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reprojection error &lt; ~0.5 px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2960" y="6492240"/>
            <a:ext cx="8115300" cy="17830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22960" y="6492240"/>
            <a:ext cx="8115300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78992" y="6784848"/>
            <a:ext cx="760323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CAMERA ONLY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8992" y="7376160"/>
            <a:ext cx="7603236" cy="76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OpenCV calibrateCamera · ROS camera_calibration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49740" y="6492240"/>
            <a:ext cx="8115300" cy="17830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349740" y="6492240"/>
            <a:ext cx="811530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605772" y="6784848"/>
            <a:ext cx="760323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CAMERA + IMU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5772" y="7376160"/>
            <a:ext cx="7603236" cy="76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Kalibr: T</a:t>
            </a:r>
            <a:r>
              <a:rPr sz="2200" b="0" i="0" baseline="-25000">
                <a:solidFill>
                  <a:srgbClr val="0B2D45"/>
                </a:solidFill>
                <a:latin typeface="Arial"/>
              </a:rPr>
              <a:t>CI</a:t>
            </a:r>
            <a:r>
              <a:rPr sz="2200" b="0" i="0">
                <a:solidFill>
                  <a:srgbClr val="0B2D45"/>
                </a:solidFill>
                <a:latin typeface="Arial"/>
              </a:rPr>
              <a:t> extrinsics + time offset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" y="864108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Bad calibration is a </a:t>
            </a:r>
            <a:r>
              <a:rPr sz="3200" b="1" i="0">
                <a:solidFill>
                  <a:srgbClr val="FF5A00"/>
                </a:solidFill>
                <a:latin typeface="Arial"/>
              </a:rPr>
              <a:t>bias</a:t>
            </a:r>
            <a:r>
              <a:rPr sz="3200" b="1" i="0">
                <a:solidFill>
                  <a:srgbClr val="FFFFFF"/>
                </a:solidFill>
                <a:latin typeface="Arial"/>
              </a:rPr>
              <a:t>: no filter can average it away.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8F7A0-56F0-3160-BECD-DA77D2A42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4FEEBE4-C97F-7F4B-6046-A85C476A241D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7DDE38B-42B1-8831-32A6-7B6F4A58F4AF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7AE4A4D-9BAB-CBE9-A9EA-08355A8986A3}"/>
              </a:ext>
            </a:extLst>
          </p:cNvPr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E5AF79E-6182-F813-2EF3-78FEC9CF58E7}"/>
                </a:ext>
              </a:extLst>
            </p:cNvPr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7EDB7EC-8D7C-BC0A-4B13-5C64ECF7A5E7}"/>
                </a:ext>
              </a:extLst>
            </p:cNvPr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DB5BE76F-033A-94AF-CE1D-23E4286E59CA}"/>
              </a:ext>
            </a:extLst>
          </p:cNvPr>
          <p:cNvSpPr txBox="1"/>
          <p:nvPr/>
        </p:nvSpPr>
        <p:spPr>
          <a:xfrm>
            <a:off x="423362" y="3451504"/>
            <a:ext cx="18552543" cy="171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CAMERA TYPES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1EBF313D-0AC6-F00E-F884-A29A0B8DEBEB}"/>
              </a:ext>
            </a:extLst>
          </p:cNvPr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DC6362D-5242-490E-1DFB-55D2791C2867}"/>
                </a:ext>
              </a:extLst>
            </p:cNvPr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34E6596-F33A-83BF-C500-90155AC75D1F}"/>
                </a:ext>
              </a:extLst>
            </p:cNvPr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C9FD8D8A-25DD-15BD-E812-61DD03DB3138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0006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Camera types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Monocular: scale is not observable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9509760" cy="47548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f6_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252380"/>
            <a:ext cx="9052560" cy="3473879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10789920" y="3611880"/>
            <a:ext cx="6675120" cy="22402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789920" y="3611880"/>
            <a:ext cx="6675120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045952" y="3904488"/>
            <a:ext cx="616305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LESSON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45952" y="4495800"/>
            <a:ext cx="6163056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rotating around gravity doesn't change gravity → yaw unobservable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789920" y="6126480"/>
            <a:ext cx="6675120" cy="22402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789920" y="6126480"/>
            <a:ext cx="667512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045952" y="6419088"/>
            <a:ext cx="616305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LESSON 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45952" y="7010400"/>
            <a:ext cx="6163056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scaling the world doesn't change the image → scale unobservable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873252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Fix the scale with: IMU · rangefinder height · stereo baseline · known object size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Camera types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Stereo: depth from disparity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6766560" cy="4937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f7_ster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491" y="3840480"/>
            <a:ext cx="4597497" cy="448056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046720" y="3611880"/>
            <a:ext cx="9418320" cy="182880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21040" y="3794760"/>
            <a:ext cx="88696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0" i="0">
                <a:solidFill>
                  <a:srgbClr val="FFFFFF"/>
                </a:solidFill>
                <a:latin typeface="Cambria Math"/>
              </a:rPr>
              <a:t>Z = f · B / d</a:t>
            </a:r>
          </a:p>
          <a:p>
            <a:pPr algn="ctr">
              <a:spcAft>
                <a:spcPts val="8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d = u</a:t>
            </a:r>
            <a:r>
              <a:rPr sz="2200" b="0" i="0" baseline="-25000">
                <a:solidFill>
                  <a:srgbClr val="FFFFFF"/>
                </a:solidFill>
                <a:latin typeface="Arial"/>
              </a:rPr>
              <a:t>L</a:t>
            </a:r>
            <a:r>
              <a:rPr sz="2200" b="0" i="0">
                <a:solidFill>
                  <a:srgbClr val="FFFFFF"/>
                </a:solidFill>
                <a:latin typeface="Arial"/>
              </a:rPr>
              <a:t> − u</a:t>
            </a:r>
            <a:r>
              <a:rPr sz="2200" b="0" i="0" baseline="-25000">
                <a:solidFill>
                  <a:srgbClr val="FFFFFF"/>
                </a:solidFill>
                <a:latin typeface="Arial"/>
              </a:rPr>
              <a:t>R</a:t>
            </a:r>
            <a:r>
              <a:rPr sz="2200" b="0" i="0">
                <a:solidFill>
                  <a:srgbClr val="FFFFFF"/>
                </a:solidFill>
                <a:latin typeface="Arial"/>
              </a:rPr>
              <a:t>  (disparity, pixels)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5715000"/>
            <a:ext cx="4526280" cy="28346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046720" y="5715000"/>
            <a:ext cx="452628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02752" y="6007608"/>
            <a:ext cx="401421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DEPTH ERROR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02752" y="6598920"/>
            <a:ext cx="4014216" cy="1813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0B2D45"/>
                </a:solidFill>
                <a:latin typeface="Cambria Math"/>
              </a:rPr>
              <a:t>δZ ≈ Z² · δd / (f · B)</a:t>
            </a:r>
          </a:p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0B2D45"/>
                </a:solidFill>
                <a:latin typeface="Cambria Math"/>
              </a:rPr>
              <a:t>grows with Z²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38760" y="5715000"/>
            <a:ext cx="4526280" cy="28346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2938760" y="5715000"/>
            <a:ext cx="452628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3194792" y="6007608"/>
            <a:ext cx="401421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MATCHING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194792" y="6598920"/>
            <a:ext cx="4014216" cy="1813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the hard part: find the same point in both images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886968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Two calibrated cameras + known baseline = metric depth in a single frame.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Camera types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Stereo error grows with Z²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10607040" cy="4937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7" name="Chart 46"/>
          <p:cNvGraphicFramePr>
            <a:graphicFrameLocks noGrp="1"/>
          </p:cNvGraphicFramePr>
          <p:nvPr/>
        </p:nvGraphicFramePr>
        <p:xfrm>
          <a:off x="1005840" y="3749039"/>
          <a:ext cx="1024128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" name="Rectangle 47"/>
          <p:cNvSpPr/>
          <p:nvPr/>
        </p:nvSpPr>
        <p:spPr>
          <a:xfrm>
            <a:off x="11887200" y="3611880"/>
            <a:ext cx="5577840" cy="210312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1887200" y="3611880"/>
            <a:ext cx="5577840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2143232" y="3904488"/>
            <a:ext cx="5065775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ASSUMPTIONS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43232" y="4495800"/>
            <a:ext cx="5065775" cy="1082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f = 400 px · δd = 0.25 px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887200" y="5989320"/>
            <a:ext cx="5577840" cy="256032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1887200" y="5989320"/>
            <a:ext cx="557784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143232" y="6281928"/>
            <a:ext cx="5065775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DESIGN LESSON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43232" y="6873240"/>
            <a:ext cx="5065775" cy="1539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the frame limits the baseline: on a small drone, stereo is short-range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886968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At 10 m, a 6 cm baseline gives about ±1 m of depth error.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Camera types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Choosing a camera model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822960" y="3566160"/>
          <a:ext cx="166420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137160" marR="137160" anchor="ctr">
                    <a:solidFill>
                      <a:srgbClr val="17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MONOCULAR</a:t>
                      </a:r>
                    </a:p>
                  </a:txBody>
                  <a:tcPr marL="137160" marR="137160" anchor="ctr">
                    <a:solidFill>
                      <a:srgbClr val="17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STEREO</a:t>
                      </a:r>
                    </a:p>
                  </a:txBody>
                  <a:tcPr marL="137160" marR="137160" anchor="ctr">
                    <a:solidFill>
                      <a:srgbClr val="17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RGB-D (ToF · STRUCTURED LIGHT)</a:t>
                      </a:r>
                    </a:p>
                  </a:txBody>
                  <a:tcPr marL="137160" marR="137160" anchor="ctr">
                    <a:solidFill>
                      <a:srgbClr val="17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FISHEYE</a:t>
                      </a:r>
                    </a:p>
                  </a:txBody>
                  <a:tcPr marL="137160" marR="137160" anchor="ctr">
                    <a:solidFill>
                      <a:srgbClr val="173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Depth per frame</a:t>
                      </a:r>
                    </a:p>
                  </a:txBody>
                  <a:tcPr marL="137160" marR="137160" anchor="ctr">
                    <a:solidFill>
                      <a:srgbClr val="17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yes · passive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yes · active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only if stereo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Metric scale</a:t>
                      </a:r>
                    </a:p>
                  </a:txBody>
                  <a:tcPr marL="137160" marR="137160" anchor="ctr">
                    <a:solidFill>
                      <a:srgbClr val="17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needs IMU / prior</a:t>
                      </a:r>
                    </a:p>
                  </a:txBody>
                  <a:tcPr marL="137160" marR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137160" marR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needs IMU / prior</a:t>
                      </a:r>
                    </a:p>
                  </a:txBody>
                  <a:tcPr marL="137160" marR="13716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 marL="137160" marR="137160" anchor="ctr">
                    <a:solidFill>
                      <a:srgbClr val="17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any (bearing only)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short–medium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short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any (bearing only)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Outdoor sunlight</a:t>
                      </a:r>
                    </a:p>
                  </a:txBody>
                  <a:tcPr marL="137160" marR="137160" anchor="ctr">
                    <a:solidFill>
                      <a:srgbClr val="17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 marL="137160" marR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 marL="137160" marR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often poor</a:t>
                      </a:r>
                    </a:p>
                  </a:txBody>
                  <a:tcPr marL="137160" marR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 marL="137160" marR="13716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Mass · power</a:t>
                      </a:r>
                    </a:p>
                  </a:txBody>
                  <a:tcPr marL="137160" marR="137160" anchor="ctr">
                    <a:solidFill>
                      <a:srgbClr val="17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lowest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medium–high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137160" marR="1371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Best for</a:t>
                      </a:r>
                    </a:p>
                  </a:txBody>
                  <a:tcPr marL="137160" marR="137160" anchor="ctr">
                    <a:solidFill>
                      <a:srgbClr val="173F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light VIO</a:t>
                      </a:r>
                    </a:p>
                  </a:txBody>
                  <a:tcPr marL="137160" marR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0B2D45"/>
                          </a:solidFill>
                          <a:latin typeface="Arial"/>
                        </a:rPr>
                        <a:t>depth + VIO</a:t>
                      </a:r>
                    </a:p>
                  </a:txBody>
                  <a:tcPr marL="137160" marR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B2D45"/>
                          </a:solidFill>
                          <a:latin typeface="Arial"/>
                        </a:rPr>
                        <a:t>indoor mapping</a:t>
                      </a:r>
                    </a:p>
                  </a:txBody>
                  <a:tcPr marL="137160" marR="13716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0B2D45"/>
                          </a:solidFill>
                          <a:latin typeface="Arial"/>
                        </a:rPr>
                        <a:t>robust tracking</a:t>
                      </a:r>
                    </a:p>
                  </a:txBody>
                  <a:tcPr marL="137160" marR="137160" anchor="ctr">
                    <a:solidFill>
                      <a:srgbClr val="F5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822960" y="873252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Design lesson: no universal winner. </a:t>
            </a:r>
            <a:r>
              <a:rPr sz="3200" b="1" i="0">
                <a:solidFill>
                  <a:srgbClr val="FF5A00"/>
                </a:solidFill>
                <a:latin typeface="Arial"/>
              </a:rPr>
              <a:t>The mission sets the camera.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2C0D2-BFE3-16CD-D3AF-2997AF5D1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2E1B28-7685-92E0-0ADF-986D513710FF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0030F5A-8DF3-0813-4938-4CC2AF129C49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8443DF0-4577-1914-1082-A50F2F2BDECD}"/>
              </a:ext>
            </a:extLst>
          </p:cNvPr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68AB996-A860-FEB3-D0A8-7F4CBCF0617B}"/>
                </a:ext>
              </a:extLst>
            </p:cNvPr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664420E-1FB0-5E26-9475-A8F5A66B17A0}"/>
                </a:ext>
              </a:extLst>
            </p:cNvPr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3ACDB809-A0B8-17B8-B62F-784064245E9A}"/>
              </a:ext>
            </a:extLst>
          </p:cNvPr>
          <p:cNvSpPr txBox="1"/>
          <p:nvPr/>
        </p:nvSpPr>
        <p:spPr>
          <a:xfrm>
            <a:off x="423362" y="3451504"/>
            <a:ext cx="18552543" cy="171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ESTIMATION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89D8CC79-E5FD-7A71-44D9-4BFE5334A258}"/>
              </a:ext>
            </a:extLst>
          </p:cNvPr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13803CD-D647-BA6B-8BE0-FEC82FA36AF6}"/>
                </a:ext>
              </a:extLst>
            </p:cNvPr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79869DE-5263-04A8-471E-76FF379A58B4}"/>
                </a:ext>
              </a:extLst>
            </p:cNvPr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D3BD1AAA-98C7-CCFE-996F-A80E0FA99D9F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6939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Estimation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Optical flow: the simplest visual velocity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Lesson 2: optical flow listed among horizontal-motion sources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8229600" cy="4937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f10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304" y="3840480"/>
            <a:ext cx="6736910" cy="448056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9509760" y="3611880"/>
            <a:ext cx="7955279" cy="173736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784080" y="3794760"/>
            <a:ext cx="740664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800" b="0" i="0">
                <a:solidFill>
                  <a:srgbClr val="FFFFFF"/>
                </a:solidFill>
                <a:latin typeface="Cambria Math"/>
              </a:rPr>
              <a:t>v ≈ (ω</a:t>
            </a:r>
            <a:r>
              <a:rPr sz="3800" b="0" i="0" baseline="-25000">
                <a:solidFill>
                  <a:srgbClr val="FFFFFF"/>
                </a:solidFill>
                <a:latin typeface="Cambria Math"/>
              </a:rPr>
              <a:t>flow</a:t>
            </a:r>
            <a:r>
              <a:rPr sz="3800" b="0" i="0">
                <a:solidFill>
                  <a:srgbClr val="FFFFFF"/>
                </a:solidFill>
                <a:latin typeface="Cambria Math"/>
              </a:rPr>
              <a:t> − ω</a:t>
            </a:r>
            <a:r>
              <a:rPr sz="3800" b="0" i="0" baseline="-25000">
                <a:solidFill>
                  <a:srgbClr val="FFFFFF"/>
                </a:solidFill>
                <a:latin typeface="Cambria Math"/>
              </a:rPr>
              <a:t>gyro</a:t>
            </a:r>
            <a:r>
              <a:rPr sz="3800" b="0" i="0">
                <a:solidFill>
                  <a:srgbClr val="FFFFFF"/>
                </a:solidFill>
                <a:latin typeface="Cambria Math"/>
              </a:rPr>
              <a:t>) · 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09760" y="5623560"/>
            <a:ext cx="7955279" cy="8686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509760" y="5623560"/>
            <a:ext cx="118872" cy="868680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29800" y="5623560"/>
            <a:ext cx="74980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0B2D45"/>
                </a:solidFill>
                <a:latin typeface="Arial"/>
              </a:rPr>
              <a:t>GYRO  </a:t>
            </a:r>
            <a:r>
              <a:rPr sz="2100" b="0" i="0">
                <a:solidFill>
                  <a:srgbClr val="0B2D45"/>
                </a:solidFill>
                <a:latin typeface="Arial"/>
              </a:rPr>
              <a:t>removes the rotational part of the flow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6629400"/>
            <a:ext cx="7955279" cy="8686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509760" y="6629400"/>
            <a:ext cx="118872" cy="868680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29800" y="6629400"/>
            <a:ext cx="74980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0B2D45"/>
                </a:solidFill>
                <a:latin typeface="Arial"/>
              </a:rPr>
              <a:t>RANGEFINDER  </a:t>
            </a:r>
            <a:r>
              <a:rPr sz="2100" b="0" i="0">
                <a:solidFill>
                  <a:srgbClr val="0B2D45"/>
                </a:solidFill>
                <a:latin typeface="Arial"/>
              </a:rPr>
              <a:t>gives h: no height, no metric velocity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760" y="7635240"/>
            <a:ext cx="7955279" cy="8686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509760" y="7635240"/>
            <a:ext cx="118872" cy="868680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29800" y="7635240"/>
            <a:ext cx="74980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>
                <a:solidFill>
                  <a:srgbClr val="0B2D45"/>
                </a:solidFill>
                <a:latin typeface="Arial"/>
              </a:rPr>
              <a:t>TEXTURE + LIGHT  </a:t>
            </a:r>
            <a:r>
              <a:rPr sz="2100" b="0" i="0">
                <a:solidFill>
                  <a:srgbClr val="0B2D45"/>
                </a:solidFill>
                <a:latin typeface="Arial"/>
              </a:rPr>
              <a:t>no features, no flow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Estimation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The visual odometry pipeline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2728569" cy="22402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611880"/>
            <a:ext cx="2728569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3904488"/>
            <a:ext cx="2216505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FEATURES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434840"/>
            <a:ext cx="221650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FAST · ORB · Shi-Tomasi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734409" y="444855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301337" y="3611880"/>
            <a:ext cx="2728569" cy="22402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301337" y="3611880"/>
            <a:ext cx="2728569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57369" y="3904488"/>
            <a:ext cx="2216505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TRACKING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57369" y="4434840"/>
            <a:ext cx="221650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KLT · descriptor matching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7212787" y="444855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79715" y="3611880"/>
            <a:ext cx="2728569" cy="22402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779715" y="3611880"/>
            <a:ext cx="2728569" cy="118872"/>
          </a:xfrm>
          <a:prstGeom prst="rect">
            <a:avLst/>
          </a:prstGeom>
          <a:solidFill>
            <a:srgbClr val="D7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035747" y="3904488"/>
            <a:ext cx="2216505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OUTLIERS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35747" y="4434840"/>
            <a:ext cx="221650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RANSAC rejects wrong matches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10691164" y="444855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258092" y="3611880"/>
            <a:ext cx="2728569" cy="22402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1258092" y="3611880"/>
            <a:ext cx="2728569" cy="118872"/>
          </a:xfrm>
          <a:prstGeom prst="rect">
            <a:avLst/>
          </a:prstGeom>
          <a:solidFill>
            <a:srgbClr val="A7D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514124" y="3904488"/>
            <a:ext cx="2216505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MOTION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14124" y="4434840"/>
            <a:ext cx="221650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essential matrix · PnP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4169542" y="444855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4736470" y="3611880"/>
            <a:ext cx="2728569" cy="22402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4736470" y="3611880"/>
            <a:ext cx="2728569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4992502" y="3904488"/>
            <a:ext cx="2216505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REFINE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992502" y="4434840"/>
            <a:ext cx="221650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local bundle adjustment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" y="6126480"/>
            <a:ext cx="6766560" cy="3429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f8_tra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374" y="6263640"/>
            <a:ext cx="5437730" cy="315468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8046720" y="6126480"/>
            <a:ext cx="9418320" cy="34290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66760" y="6355080"/>
            <a:ext cx="88696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1" i="0">
                <a:solidFill>
                  <a:srgbClr val="FF5A00"/>
                </a:solidFill>
                <a:latin typeface="Arial"/>
              </a:rPr>
              <a:t>orange</a:t>
            </a:r>
            <a:r>
              <a:rPr sz="2300" b="0" i="0">
                <a:solidFill>
                  <a:srgbClr val="0B2D45"/>
                </a:solidFill>
                <a:latin typeface="Arial"/>
              </a:rPr>
              <a:t>: tracked features consistent with one camera motion</a:t>
            </a:r>
          </a:p>
          <a:p>
            <a:pPr algn="l">
              <a:spcAft>
                <a:spcPts val="1400"/>
              </a:spcAft>
            </a:pPr>
            <a:r>
              <a:rPr sz="2300" b="1" i="0">
                <a:solidFill>
                  <a:srgbClr val="D7262B"/>
                </a:solidFill>
                <a:latin typeface="Arial"/>
              </a:rPr>
              <a:t>red</a:t>
            </a:r>
            <a:r>
              <a:rPr sz="2300" b="0" i="0">
                <a:solidFill>
                  <a:srgbClr val="0B2D45"/>
                </a:solidFill>
                <a:latin typeface="Arial"/>
              </a:rPr>
              <a:t>: outliers from wrong matches or moving objects</a:t>
            </a:r>
          </a:p>
          <a:p>
            <a:pPr algn="l">
              <a:spcAft>
                <a:spcPts val="1400"/>
              </a:spcAft>
            </a:pPr>
            <a:r>
              <a:rPr sz="2300" b="1" i="0">
                <a:solidFill>
                  <a:srgbClr val="0B2D45"/>
                </a:solidFill>
                <a:latin typeface="Arial"/>
              </a:rPr>
              <a:t>Motion is estimated from the inliers only.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Estimation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Three ways to recover motion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5273040" cy="42062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611880"/>
            <a:ext cx="527304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3904488"/>
            <a:ext cx="4760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D45"/>
                </a:solidFill>
                <a:latin typeface="Arial"/>
              </a:rPr>
              <a:t>2D – 2D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526280"/>
            <a:ext cx="4760976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essential matrix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5-point + RANSAC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R and t up to scale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07480" y="3611880"/>
            <a:ext cx="5273040" cy="42062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07480" y="3611880"/>
            <a:ext cx="527304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63512" y="3904488"/>
            <a:ext cx="4760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D45"/>
                </a:solidFill>
                <a:latin typeface="Arial"/>
              </a:rPr>
              <a:t>3D – 2D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3512" y="4526280"/>
            <a:ext cx="4760976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PnP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known 3D points → full metric pose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markers, maps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192000" y="3611880"/>
            <a:ext cx="5273040" cy="42062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2192000" y="3611880"/>
            <a:ext cx="5273040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448032" y="3904488"/>
            <a:ext cx="4760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B2D45"/>
                </a:solidFill>
                <a:latin typeface="Arial"/>
              </a:rPr>
              <a:t>3D – 3D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448032" y="4526280"/>
            <a:ext cx="4760976" cy="3154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point-cloud alignment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ICP · Umeyama</a:t>
            </a:r>
          </a:p>
          <a:p>
            <a:pPr algn="l">
              <a:spcAft>
                <a:spcPts val="600"/>
              </a:spcAft>
            </a:pPr>
            <a:r>
              <a:rPr sz="2800" b="0" i="0">
                <a:solidFill>
                  <a:srgbClr val="0B2D45"/>
                </a:solidFill>
                <a:latin typeface="Arial"/>
              </a:rPr>
              <a:t>stereo, RGB-D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822960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5A00"/>
                </a:solidFill>
                <a:latin typeface="Arial"/>
              </a:rPr>
              <a:t>PnP</a:t>
            </a:r>
            <a:r>
              <a:rPr sz="2600" b="1" i="0">
                <a:solidFill>
                  <a:srgbClr val="FFFFFF"/>
                </a:solidFill>
                <a:latin typeface="Arial"/>
              </a:rPr>
              <a:t> is today's exercise: a marker of known size gives a metric pose from one image.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Estimation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VO is a gyroscope for position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8595360" cy="4937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f9_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944" y="3840480"/>
            <a:ext cx="7537390" cy="448056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9875520" y="3611880"/>
            <a:ext cx="7589520" cy="15544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875520" y="3611880"/>
            <a:ext cx="7589520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31552" y="3904488"/>
            <a:ext cx="7077456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2D45"/>
                </a:solidFill>
                <a:latin typeface="Arial"/>
              </a:rPr>
              <a:t>GYROSCOPE · LESSON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4404360"/>
            <a:ext cx="7077456" cy="624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integrates rate → attitude drifts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5303520"/>
            <a:ext cx="7589520" cy="15544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875520" y="5303520"/>
            <a:ext cx="758952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31552" y="5596128"/>
            <a:ext cx="7077456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2D45"/>
                </a:solidFill>
                <a:latin typeface="Arial"/>
              </a:rPr>
              <a:t>VISUAL ODOMETRY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1552" y="6096000"/>
            <a:ext cx="7077456" cy="624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integrates relative motion → pose drifts with distance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20" y="6995160"/>
            <a:ext cx="7589520" cy="155448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75520" y="6995160"/>
            <a:ext cx="758952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131552" y="7287768"/>
            <a:ext cx="7077456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0B2D45"/>
                </a:solidFill>
                <a:latin typeface="Arial"/>
              </a:rPr>
              <a:t>SLAM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31552" y="7787640"/>
            <a:ext cx="7077456" cy="624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recognizes places: loop closure is an absolute correction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877824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Odometry is relative. Something absolute must eventually correct it.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Estimation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VIO: no sensor is enough, again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5273040" cy="44805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611880"/>
            <a:ext cx="527304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3904488"/>
            <a:ext cx="476097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>
                <a:solidFill>
                  <a:srgbClr val="0B2D45"/>
                </a:solidFill>
                <a:latin typeface="Arial"/>
              </a:rPr>
              <a:t>IMU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495800"/>
            <a:ext cx="4760976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 i="0" dirty="0">
                <a:solidFill>
                  <a:srgbClr val="0B2D45"/>
                </a:solidFill>
                <a:latin typeface="Arial"/>
              </a:rPr>
              <a:t>high rate · gravity direction</a:t>
            </a:r>
          </a:p>
          <a:p>
            <a:pPr algn="ctr">
              <a:spcAft>
                <a:spcPts val="600"/>
              </a:spcAft>
            </a:pPr>
            <a:r>
              <a:rPr sz="2800" b="0" i="0" dirty="0">
                <a:solidFill>
                  <a:srgbClr val="0B2D45"/>
                </a:solidFill>
                <a:latin typeface="Arial"/>
              </a:rPr>
              <a:t>metric scale (with motion)</a:t>
            </a:r>
          </a:p>
          <a:p>
            <a:pPr algn="ctr">
              <a:spcAft>
                <a:spcPts val="600"/>
              </a:spcAft>
            </a:pPr>
            <a:r>
              <a:rPr sz="2800" b="1" i="0" dirty="0">
                <a:solidFill>
                  <a:srgbClr val="FF5A00"/>
                </a:solidFill>
                <a:latin typeface="Arial"/>
              </a:rPr>
              <a:t>but bias drifts in seconds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07480" y="3611880"/>
            <a:ext cx="5273040" cy="44805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07480" y="3611880"/>
            <a:ext cx="5273040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63512" y="3904488"/>
            <a:ext cx="476097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>
                <a:solidFill>
                  <a:srgbClr val="0B2D45"/>
                </a:solidFill>
                <a:latin typeface="Arial"/>
              </a:rPr>
              <a:t>CAMERA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3512" y="4495800"/>
            <a:ext cx="4760976" cy="1877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 i="0" dirty="0">
                <a:solidFill>
                  <a:srgbClr val="0B2D45"/>
                </a:solidFill>
                <a:latin typeface="Arial"/>
              </a:rPr>
              <a:t>rich geometry</a:t>
            </a:r>
          </a:p>
          <a:p>
            <a:pPr algn="ctr">
              <a:spcAft>
                <a:spcPts val="600"/>
              </a:spcAft>
            </a:pPr>
            <a:r>
              <a:rPr sz="2800" b="0" i="0" dirty="0">
                <a:solidFill>
                  <a:srgbClr val="0B2D45"/>
                </a:solidFill>
                <a:latin typeface="Arial"/>
              </a:rPr>
              <a:t>low drift with texture</a:t>
            </a:r>
          </a:p>
          <a:p>
            <a:pPr algn="ctr">
              <a:spcAft>
                <a:spcPts val="600"/>
              </a:spcAft>
            </a:pPr>
            <a:r>
              <a:rPr sz="2800" b="1" i="0" dirty="0">
                <a:solidFill>
                  <a:srgbClr val="FF5A00"/>
                </a:solidFill>
                <a:latin typeface="Arial"/>
              </a:rPr>
              <a:t>but low rate, blur and no texture break 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192000" y="3611880"/>
            <a:ext cx="5273040" cy="44805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2192000" y="3611880"/>
            <a:ext cx="5273040" cy="118872"/>
          </a:xfrm>
          <a:prstGeom prst="rect">
            <a:avLst/>
          </a:prstGeom>
          <a:solidFill>
            <a:srgbClr val="A7D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448032" y="3904488"/>
            <a:ext cx="476097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>
                <a:solidFill>
                  <a:srgbClr val="0B2D45"/>
                </a:solidFill>
                <a:latin typeface="Arial"/>
              </a:rPr>
              <a:t>VIO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448032" y="4495800"/>
            <a:ext cx="4760976" cy="1446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0" i="0" dirty="0">
                <a:solidFill>
                  <a:srgbClr val="0B2D45"/>
                </a:solidFill>
                <a:latin typeface="Arial"/>
              </a:rPr>
              <a:t>IMU bridges the gaps</a:t>
            </a:r>
          </a:p>
          <a:p>
            <a:pPr algn="ctr">
              <a:spcAft>
                <a:spcPts val="600"/>
              </a:spcAft>
            </a:pPr>
            <a:r>
              <a:rPr sz="2800" b="0" i="0" dirty="0">
                <a:solidFill>
                  <a:srgbClr val="0B2D45"/>
                </a:solidFill>
                <a:latin typeface="Arial"/>
              </a:rPr>
              <a:t>camera bounds the drift</a:t>
            </a:r>
          </a:p>
          <a:p>
            <a:pPr algn="ctr">
              <a:spcAft>
                <a:spcPts val="600"/>
              </a:spcAft>
            </a:pPr>
            <a:r>
              <a:rPr sz="2800" b="1" i="0" dirty="0">
                <a:solidFill>
                  <a:srgbClr val="FF5A00"/>
                </a:solidFill>
                <a:latin typeface="Arial"/>
              </a:rPr>
              <a:t>complementary by design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854964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No sensor is wrong </a:t>
            </a:r>
            <a:r>
              <a:rPr sz="3000" b="1" i="0">
                <a:solidFill>
                  <a:srgbClr val="FF5A00"/>
                </a:solidFill>
                <a:latin typeface="Arial"/>
              </a:rPr>
              <a:t>BUT</a:t>
            </a:r>
            <a:r>
              <a:rPr sz="3000" b="1" i="0">
                <a:solidFill>
                  <a:srgbClr val="FFFFFF"/>
                </a:solidFill>
                <a:latin typeface="Arial"/>
              </a:rPr>
              <a:t> no sensor is enough.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Estimation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Loosely vs tightly coupled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8092440" cy="3749039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611880"/>
            <a:ext cx="809244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97280" y="393192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B2D45"/>
                </a:solidFill>
                <a:latin typeface="Arial"/>
              </a:rPr>
              <a:t>LOOSELY COUPLED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4572000"/>
            <a:ext cx="75895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VO outputs a pose → the filter fuses it as a measurement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2E8B57"/>
                </a:solidFill>
                <a:latin typeface="Arial"/>
              </a:rPr>
              <a:t>PRO  </a:t>
            </a:r>
            <a:r>
              <a:rPr sz="2200" b="0" i="0">
                <a:solidFill>
                  <a:srgbClr val="0B2D45"/>
                </a:solidFill>
                <a:latin typeface="Arial"/>
              </a:rPr>
              <a:t>simple, modular: PX4 EKF2 + external vision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D7262B"/>
                </a:solidFill>
                <a:latin typeface="Arial"/>
              </a:rPr>
              <a:t>CON  </a:t>
            </a:r>
            <a:r>
              <a:rPr sz="2200" b="0" i="0">
                <a:solidFill>
                  <a:srgbClr val="0B2D45"/>
                </a:solidFill>
                <a:latin typeface="Arial"/>
              </a:rPr>
              <a:t>VO errors and correlations hidden from the filter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72600" y="3611880"/>
            <a:ext cx="8092440" cy="3749039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372600" y="3611880"/>
            <a:ext cx="809244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46920" y="393192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0B2D45"/>
                </a:solidFill>
                <a:latin typeface="Arial"/>
              </a:rPr>
              <a:t>TIGHTLY COUPLED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20" y="4572000"/>
            <a:ext cx="75895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feature observations enter the estimator directly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2E8B57"/>
                </a:solidFill>
                <a:latin typeface="Arial"/>
              </a:rPr>
              <a:t>PRO  </a:t>
            </a:r>
            <a:r>
              <a:rPr sz="2200" b="0" i="0">
                <a:solidFill>
                  <a:srgbClr val="0B2D45"/>
                </a:solidFill>
                <a:latin typeface="Arial"/>
              </a:rPr>
              <a:t>more accurate and robust; IMU helps tracking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D7262B"/>
                </a:solidFill>
                <a:latin typeface="Arial"/>
              </a:rPr>
              <a:t>CON  </a:t>
            </a:r>
            <a:r>
              <a:rPr sz="2200" b="0" i="0">
                <a:solidFill>
                  <a:srgbClr val="0B2D45"/>
                </a:solidFill>
                <a:latin typeface="Arial"/>
              </a:rPr>
              <a:t>complex, compute-heavy, needs precise calibration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7680960"/>
            <a:ext cx="3977639" cy="86868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14400" y="7680960"/>
            <a:ext cx="3794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OpenVINS · MSCKF filter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47488" y="7680960"/>
            <a:ext cx="3977639" cy="86868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138928" y="7680960"/>
            <a:ext cx="3794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VINS-Fusion · optimization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72016" y="7680960"/>
            <a:ext cx="3977639" cy="86868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63456" y="7680960"/>
            <a:ext cx="3794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ORB-SLAM3 · visual-inertial SLAM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496544" y="7680960"/>
            <a:ext cx="3977639" cy="86868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3587984" y="7680960"/>
            <a:ext cx="37947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VOXL · qVIO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882396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Today's PX4 integration is loosely coupled: the VIO runs outside, EKF2 fuses its output.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Estimation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When vision fails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5303520" cy="20574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611880"/>
            <a:ext cx="530352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3904488"/>
            <a:ext cx="479145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B2D45"/>
                </a:solidFill>
                <a:latin typeface="Arial"/>
              </a:rPr>
              <a:t>LOW TEXTURE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434840"/>
            <a:ext cx="47914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white walls · water · snow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611880"/>
            <a:ext cx="5303520" cy="20574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92240" y="3611880"/>
            <a:ext cx="5303520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48272" y="3904488"/>
            <a:ext cx="479145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B2D45"/>
                </a:solidFill>
                <a:latin typeface="Arial"/>
              </a:rPr>
              <a:t>LIGHTING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4434840"/>
            <a:ext cx="4791456" cy="1097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darkness · backlight · exposure jumps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161520" y="3611880"/>
            <a:ext cx="5303520" cy="20574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2161520" y="3611880"/>
            <a:ext cx="530352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417552" y="3904488"/>
            <a:ext cx="479145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B2D45"/>
                </a:solidFill>
                <a:latin typeface="Arial"/>
              </a:rPr>
              <a:t>MOTION BLUR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417552" y="4434840"/>
            <a:ext cx="47914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fast motion · long exposure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" y="5943600"/>
            <a:ext cx="5303520" cy="20574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22960" y="5943600"/>
            <a:ext cx="5303520" cy="118872"/>
          </a:xfrm>
          <a:prstGeom prst="rect">
            <a:avLst/>
          </a:prstGeom>
          <a:solidFill>
            <a:srgbClr val="A7D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78992" y="6236208"/>
            <a:ext cx="479145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B2D45"/>
                </a:solidFill>
                <a:latin typeface="Arial"/>
              </a:rPr>
              <a:t>DYNAMIC SCENES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" y="6766560"/>
            <a:ext cx="47914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people, vehicles, moving shadows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92240" y="5943600"/>
            <a:ext cx="5303520" cy="20574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492240" y="5943600"/>
            <a:ext cx="5303520" cy="118872"/>
          </a:xfrm>
          <a:prstGeom prst="rect">
            <a:avLst/>
          </a:prstGeom>
          <a:solidFill>
            <a:srgbClr val="D7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748272" y="6236208"/>
            <a:ext cx="479145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B2D45"/>
                </a:solidFill>
                <a:latin typeface="Arial"/>
              </a:rPr>
              <a:t>VIBRATION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48272" y="6766560"/>
            <a:ext cx="47914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propellers + rolling shutter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161520" y="5943600"/>
            <a:ext cx="5303520" cy="20574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2161520" y="5943600"/>
            <a:ext cx="530352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2417552" y="6236208"/>
            <a:ext cx="479145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B2D45"/>
                </a:solidFill>
                <a:latin typeface="Arial"/>
              </a:rPr>
              <a:t>FAST ROTATION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417552" y="6766560"/>
            <a:ext cx="4791456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features leave the image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850392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The estimator must notice: quality metrics + innovation gating (Lesson 2).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F2C558-7368-4D5E-52BC-5000DC42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B6D071-2C41-9544-B66E-F7D54E02DBDD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EC60BB8-9C08-8364-6C68-A2B70CFE0FD6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66F2442-AE26-72BC-41CE-FEC9A24E3651}"/>
              </a:ext>
            </a:extLst>
          </p:cNvPr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B04E8E1-311A-0808-B594-24331F75F283}"/>
                </a:ext>
              </a:extLst>
            </p:cNvPr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B07555A-DC26-9A92-01E8-F39CD5C657BB}"/>
                </a:ext>
              </a:extLst>
            </p:cNvPr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FF9E260A-8DE0-9B34-7352-B7C162B306B0}"/>
              </a:ext>
            </a:extLst>
          </p:cNvPr>
          <p:cNvSpPr txBox="1"/>
          <p:nvPr/>
        </p:nvSpPr>
        <p:spPr>
          <a:xfrm>
            <a:off x="423362" y="3451504"/>
            <a:ext cx="18552543" cy="171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PX4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967C25DB-CCD9-476F-0E06-7B7C84A640A9}"/>
              </a:ext>
            </a:extLst>
          </p:cNvPr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0492D8F-4F45-2BCD-B941-5EF861AA347C}"/>
                </a:ext>
              </a:extLst>
            </p:cNvPr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9136691-16B0-B23F-C976-49FCE01DBED1}"/>
                </a:ext>
              </a:extLst>
            </p:cNvPr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8D33E49D-0491-0910-DD68-E8DD44112FC5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93994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PX4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Where does VIO run?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PX4 v1.17 docs · Using Vision or Motion Capture Systems for Position Estimation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2728569" cy="2651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611880"/>
            <a:ext cx="2728569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3904488"/>
            <a:ext cx="2216505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CAMERA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434840"/>
            <a:ext cx="2216505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images + timestamps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734409" y="465429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301337" y="3611880"/>
            <a:ext cx="2728569" cy="2651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301337" y="3611880"/>
            <a:ext cx="2728569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57369" y="3904488"/>
            <a:ext cx="2216505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COMPANION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57369" y="4434840"/>
            <a:ext cx="2216505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VIO / SLAM soft real time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7212787" y="465429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79715" y="3611880"/>
            <a:ext cx="2728569" cy="2651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779715" y="3611880"/>
            <a:ext cx="2728569" cy="118872"/>
          </a:xfrm>
          <a:prstGeom prst="rect">
            <a:avLst/>
          </a:prstGeom>
          <a:solidFill>
            <a:srgbClr val="A7D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035747" y="3904488"/>
            <a:ext cx="2216505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LINK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35747" y="4434840"/>
            <a:ext cx="2216505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MAVLink ODOMETRY · uXRCE-DDS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10691164" y="465429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258092" y="3611880"/>
            <a:ext cx="2728569" cy="2651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1258092" y="3611880"/>
            <a:ext cx="2728569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514124" y="3904488"/>
            <a:ext cx="2216505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uORB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14124" y="4434840"/>
            <a:ext cx="2216505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vehicle_visual_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odometry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14169542" y="465429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4736470" y="3611880"/>
            <a:ext cx="2728569" cy="265176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4736470" y="3611880"/>
            <a:ext cx="2728569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4992502" y="3904488"/>
            <a:ext cx="2216505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EKF2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992502" y="4434840"/>
            <a:ext cx="2216505" cy="1691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fuse · gate hard real time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" y="6629400"/>
            <a:ext cx="9966960" cy="685800"/>
          </a:xfrm>
          <a:prstGeom prst="rect">
            <a:avLst/>
          </a:prstGeom>
          <a:solidFill>
            <a:srgbClr val="173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22960" y="6629400"/>
            <a:ext cx="9966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HIGH-LEVEL AUTONOMY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155680" y="6629400"/>
            <a:ext cx="6309360" cy="685800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1155680" y="6629400"/>
            <a:ext cx="6309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HARD REAL TIME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804672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Safety rule (Lesson 1): if VIO dies, PX4 must still stabilize, fall back and land.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PX4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Vision into EKF2: the parameters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PX4 v1.17 docs · Using Vision or Motion Capture Systems for Position Estimation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8092440" cy="21488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611880"/>
            <a:ext cx="809244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3904488"/>
            <a:ext cx="7580375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Courier New"/>
              </a:rPr>
              <a:t>EKF2_EV_CTRL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495800"/>
            <a:ext cx="7580375" cy="112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what to fuse: horizontal position · vertical position · velocity · yaw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72600" y="3611880"/>
            <a:ext cx="8092440" cy="21488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372600" y="3611880"/>
            <a:ext cx="8092440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28632" y="3904488"/>
            <a:ext cx="7580375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Courier New"/>
              </a:rPr>
              <a:t>EKF2_HGT_REF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28632" y="4495800"/>
            <a:ext cx="7580375" cy="112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set to Vision to use it as the height reference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" y="6035040"/>
            <a:ext cx="8092440" cy="21488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22960" y="6035040"/>
            <a:ext cx="809244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78992" y="6327648"/>
            <a:ext cx="7580375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Courier New"/>
              </a:rPr>
              <a:t>EKF2_EV_DELAY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" y="6918960"/>
            <a:ext cx="7580375" cy="1127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vision delay relative to the IMU [ms] · tune from logs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72600" y="6035040"/>
            <a:ext cx="8092440" cy="21488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372600" y="6035040"/>
            <a:ext cx="8092440" cy="118872"/>
          </a:xfrm>
          <a:prstGeom prst="rect">
            <a:avLst/>
          </a:prstGeom>
          <a:solidFill>
            <a:srgbClr val="A7D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628632" y="6327648"/>
            <a:ext cx="7580375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Courier New"/>
              </a:rPr>
              <a:t>EKF2_EV_POS_X/Y/Z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28632" y="6918960"/>
            <a:ext cx="7580375" cy="1127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sensor position in the body frame: the extrinsics again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859536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GNSS, baro and rangefinder can be disabled with EKF2_GPS_CTRL, EKF2_BARO_CTRL, EKF2_RNG_CTRL.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PX4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The interface: frames, delay, uncertainty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PX4 v1.17 docs · Using Vision or Motion Capture Systems for Position Estimation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5273040" cy="393192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611880"/>
            <a:ext cx="527304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3904488"/>
            <a:ext cx="476097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FRAMES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495800"/>
            <a:ext cx="4760976" cy="2910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0B2D45"/>
                </a:solidFill>
                <a:latin typeface="Arial"/>
              </a:rPr>
              <a:t>ODOMETRY in MAV_FRAME_LOCAL_FRD · ROS ENU/FLU must be rotated to NED/FRD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07480" y="3611880"/>
            <a:ext cx="5273040" cy="393192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507480" y="3611880"/>
            <a:ext cx="5273040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63512" y="3904488"/>
            <a:ext cx="476097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DELAY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3512" y="4495800"/>
            <a:ext cx="4760976" cy="2910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0B2D45"/>
                </a:solidFill>
                <a:latin typeface="Arial"/>
              </a:rPr>
              <a:t>timestamp at capture, not at arrival · residual → EKF2_EV_DELAY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192000" y="3611880"/>
            <a:ext cx="5273040" cy="393192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2192000" y="3611880"/>
            <a:ext cx="527304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2448032" y="3904488"/>
            <a:ext cx="476097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UNCERTAINTY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448032" y="4495800"/>
            <a:ext cx="4760976" cy="2910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 i="0">
                <a:solidFill>
                  <a:srgbClr val="0B2D45"/>
                </a:solidFill>
                <a:latin typeface="Arial"/>
              </a:rPr>
              <a:t>the covariance you send becomes R in the Kalman update (Lesson 2)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804672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5A00"/>
                </a:solidFill>
                <a:latin typeface="Arial"/>
              </a:rPr>
              <a:t>Overconfident VIO is worse than no VIO:</a:t>
            </a:r>
            <a:r>
              <a:rPr sz="3200" b="1" i="0">
                <a:solidFill>
                  <a:srgbClr val="FFFFFF"/>
                </a:solidFill>
                <a:latin typeface="Arial"/>
              </a:rPr>
              <a:t> the filter will trust it.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PX4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Perception beyond self-localization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PX4 v1.17 docs · Collision Prevention · Precision Landing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5047488" cy="21488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611880"/>
            <a:ext cx="5047488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3904488"/>
            <a:ext cx="4535424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DEPTH CAMERA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434840"/>
            <a:ext cx="453542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stereo / ToF on the companion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6053328" y="440283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620256" y="3611880"/>
            <a:ext cx="5047488" cy="21488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620256" y="3611880"/>
            <a:ext cx="5047488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76288" y="3904488"/>
            <a:ext cx="4535424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OBSTACLE_DISTANCE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76288" y="4434840"/>
            <a:ext cx="453542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MAVLink · distances by sector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11850624" y="440283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2417552" y="3611880"/>
            <a:ext cx="5047488" cy="21488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2417552" y="3611880"/>
            <a:ext cx="5047488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2673584" y="3904488"/>
            <a:ext cx="4535424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COLLISION PREVENTION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673584" y="4434840"/>
            <a:ext cx="453542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CP_DIST · Position mode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" y="6035040"/>
            <a:ext cx="5047488" cy="21488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22960" y="6035040"/>
            <a:ext cx="5047488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78992" y="6327648"/>
            <a:ext cx="4535424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MARKER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8992" y="6858000"/>
            <a:ext cx="4535424" cy="118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ArUco / AprilTag + PnP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6053328" y="682599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620256" y="6035040"/>
            <a:ext cx="5047488" cy="21488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620256" y="6035040"/>
            <a:ext cx="5047488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76288" y="6327648"/>
            <a:ext cx="4535424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LANDING_TARGET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76288" y="6858000"/>
            <a:ext cx="4535424" cy="118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MAVLink · MAV_FRAME_LOCAL_NED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11850624" y="6825996"/>
            <a:ext cx="384048" cy="566928"/>
          </a:xfrm>
          <a:prstGeom prst="rightArrow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2417552" y="6035040"/>
            <a:ext cx="5047488" cy="21488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2417552" y="6035040"/>
            <a:ext cx="5047488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2673584" y="6327648"/>
            <a:ext cx="4535424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2D45"/>
                </a:solidFill>
                <a:latin typeface="Arial"/>
              </a:rPr>
              <a:t>PRECISION LANDING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673584" y="6858000"/>
            <a:ext cx="4535424" cy="118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PLD_* parameters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" y="864108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Navigation estimates the vehicle. Perception interprets the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1689A-7A9C-B0D9-2945-41CCA0958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237AFC6-E75E-FBF3-8D49-CFFFE7EB5BB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A3AB2B1-9663-8081-08FD-FAC812DF55B5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C419753-2990-17F8-11C3-08C19B7BF312}"/>
              </a:ext>
            </a:extLst>
          </p:cNvPr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74BAA1F-E30A-0210-AD03-56AE24C5F019}"/>
                </a:ext>
              </a:extLst>
            </p:cNvPr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E84A02C-D659-1858-9DAC-1F77703ECB05}"/>
              </a:ext>
            </a:extLst>
          </p:cNvPr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F446A1F-F54C-BA6A-1EF0-9F12EA56A84F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55DD2B1-8115-DCB5-AD87-25AD4E8ED76C}"/>
                </a:ext>
              </a:extLst>
            </p:cNvPr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FA7FE014-AC67-82DC-1E05-1977060DA7D3}"/>
              </a:ext>
            </a:extLst>
          </p:cNvPr>
          <p:cNvSpPr txBox="1"/>
          <p:nvPr/>
        </p:nvSpPr>
        <p:spPr>
          <a:xfrm>
            <a:off x="228600" y="428758"/>
            <a:ext cx="7848600" cy="1426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Material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63A37B-5F0B-A882-6DD0-45D103083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325" y="3660722"/>
            <a:ext cx="3027338" cy="2965555"/>
          </a:xfrm>
          <a:prstGeom prst="rect">
            <a:avLst/>
          </a:prstGeom>
        </p:spPr>
      </p:pic>
      <p:sp>
        <p:nvSpPr>
          <p:cNvPr id="17" name="TextBox 9">
            <a:extLst>
              <a:ext uri="{FF2B5EF4-FFF2-40B4-BE49-F238E27FC236}">
                <a16:creationId xmlns:a16="http://schemas.microsoft.com/office/drawing/2014/main" id="{3EE327D9-C1E3-7DE9-57FB-FA1E789AB13E}"/>
              </a:ext>
            </a:extLst>
          </p:cNvPr>
          <p:cNvSpPr txBox="1"/>
          <p:nvPr/>
        </p:nvSpPr>
        <p:spPr>
          <a:xfrm>
            <a:off x="1038981" y="7129029"/>
            <a:ext cx="16210027" cy="1426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 b="1" err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FedericoDD</a:t>
            </a:r>
            <a:r>
              <a:rPr lang="en-US" sz="8600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/workshop-PX4/</a:t>
            </a:r>
          </a:p>
        </p:txBody>
      </p:sp>
    </p:spTree>
    <p:extLst>
      <p:ext uri="{BB962C8B-B14F-4D97-AF65-F5344CB8AC3E}">
        <p14:creationId xmlns:p14="http://schemas.microsoft.com/office/powerpoint/2010/main" val="3078740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662188" y="9629632"/>
            <a:ext cx="419100" cy="457200"/>
            <a:chOff x="0" y="0"/>
            <a:chExt cx="558800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8800" cy="609600"/>
            </a:xfrm>
            <a:custGeom>
              <a:avLst/>
              <a:gdLst/>
              <a:ahLst/>
              <a:cxnLst/>
              <a:rect l="l" t="t" r="r" b="b"/>
              <a:pathLst>
                <a:path w="558800" h="609600">
                  <a:moveTo>
                    <a:pt x="0" y="0"/>
                  </a:moveTo>
                  <a:lnTo>
                    <a:pt x="558800" y="0"/>
                  </a:lnTo>
                  <a:lnTo>
                    <a:pt x="558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3503" y="-63503"/>
            <a:ext cx="18414997" cy="2220306"/>
            <a:chOff x="0" y="0"/>
            <a:chExt cx="18415000" cy="2220316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8"/>
            <p:cNvSpPr/>
            <p:nvPr/>
          </p:nvSpPr>
          <p:spPr>
            <a:xfrm>
              <a:off x="63500" y="63500"/>
              <a:ext cx="18288000" cy="2093346"/>
            </a:xfrm>
            <a:custGeom>
              <a:avLst/>
              <a:gdLst/>
              <a:ahLst/>
              <a:cxnLst/>
              <a:rect l="l" t="t" r="r" b="b"/>
              <a:pathLst>
                <a:path w="18288000" h="2093346">
                  <a:moveTo>
                    <a:pt x="0" y="0"/>
                  </a:moveTo>
                  <a:lnTo>
                    <a:pt x="0" y="2093346"/>
                  </a:lnTo>
                  <a:lnTo>
                    <a:pt x="18288000" y="2093346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28600" y="428758"/>
            <a:ext cx="3484126" cy="1467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Recap</a:t>
            </a:r>
          </a:p>
        </p:txBody>
      </p:sp>
      <p:pic>
        <p:nvPicPr>
          <p:cNvPr id="12" name="Graphic 11" descr="Tick with solid fill">
            <a:extLst>
              <a:ext uri="{FF2B5EF4-FFF2-40B4-BE49-F238E27FC236}">
                <a16:creationId xmlns:a16="http://schemas.microsoft.com/office/drawing/2014/main" id="{BBDE4BBB-A393-578B-1957-0829829F8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01" y="2724394"/>
            <a:ext cx="1720072" cy="1720072"/>
          </a:xfrm>
          <a:prstGeom prst="rect">
            <a:avLst/>
          </a:prstGeom>
        </p:spPr>
      </p:pic>
      <p:pic>
        <p:nvPicPr>
          <p:cNvPr id="14" name="Graphic 13" descr="Tick with solid fill">
            <a:extLst>
              <a:ext uri="{FF2B5EF4-FFF2-40B4-BE49-F238E27FC236}">
                <a16:creationId xmlns:a16="http://schemas.microsoft.com/office/drawing/2014/main" id="{23D2014F-1D59-C9C1-BA0B-E0D31BA127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201" y="4557775"/>
            <a:ext cx="1720072" cy="1720072"/>
          </a:xfrm>
          <a:prstGeom prst="rect">
            <a:avLst/>
          </a:prstGeom>
        </p:spPr>
      </p:pic>
      <p:pic>
        <p:nvPicPr>
          <p:cNvPr id="16" name="Graphic 15" descr="Tick with solid fill">
            <a:extLst>
              <a:ext uri="{FF2B5EF4-FFF2-40B4-BE49-F238E27FC236}">
                <a16:creationId xmlns:a16="http://schemas.microsoft.com/office/drawing/2014/main" id="{4DAABB01-AA6E-732D-3515-82BF5E6064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732" y="6391156"/>
            <a:ext cx="1720072" cy="17200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F66613-0B4D-4500-903F-63EBC7D8E428}"/>
              </a:ext>
            </a:extLst>
          </p:cNvPr>
          <p:cNvSpPr txBox="1"/>
          <p:nvPr/>
        </p:nvSpPr>
        <p:spPr>
          <a:xfrm>
            <a:off x="2438400" y="3238500"/>
            <a:ext cx="14224000" cy="914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4000" b="1">
                <a:solidFill>
                  <a:srgbClr val="F5F6F7"/>
                </a:solidFill>
                <a:latin typeface="Aptos"/>
              </a:rPr>
              <a:t>MODEL A CAMERA: K, DISTORTION, EXTRINSICS</a:t>
            </a:r>
            <a:endParaRPr lang="it-IT" sz="4000" b="1">
              <a:solidFill>
                <a:srgbClr val="F5F6F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F6C16-D6A6-4354-9B4F-D7CEB3C33469}"/>
              </a:ext>
            </a:extLst>
          </p:cNvPr>
          <p:cNvSpPr txBox="1"/>
          <p:nvPr/>
        </p:nvSpPr>
        <p:spPr>
          <a:xfrm>
            <a:off x="2438400" y="5067300"/>
            <a:ext cx="14224000" cy="914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4000" b="1">
                <a:solidFill>
                  <a:srgbClr val="F5F6F7"/>
                </a:solidFill>
                <a:latin typeface="Aptos"/>
              </a:rPr>
              <a:t>CHOOSE THE RIGHT CAMERA FOR THE MISSION</a:t>
            </a:r>
            <a:endParaRPr lang="it-IT" sz="4000" b="1">
              <a:solidFill>
                <a:srgbClr val="F5F6F7"/>
              </a:solidFill>
              <a:latin typeface="Apto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D43745-CAB9-4C07-9487-0747A124CD3B}"/>
              </a:ext>
            </a:extLst>
          </p:cNvPr>
          <p:cNvSpPr txBox="1"/>
          <p:nvPr/>
        </p:nvSpPr>
        <p:spPr>
          <a:xfrm>
            <a:off x="2438400" y="6896100"/>
            <a:ext cx="14224000" cy="914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4000" b="1">
                <a:solidFill>
                  <a:srgbClr val="F5F6F7"/>
                </a:solidFill>
                <a:latin typeface="Aptos"/>
              </a:rPr>
              <a:t>TURN PIXELS INTO MOTION AND FEED PX4</a:t>
            </a:r>
            <a:endParaRPr lang="it-IT" sz="4000" b="1">
              <a:solidFill>
                <a:srgbClr val="F5F6F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798704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5B7FE-AD56-1D7F-F10A-056DE00A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5AB2F2-E637-F754-830A-3DD9E45DA3FD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F0EEF97-9267-C5E6-D39E-283181491684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5D35C8E-3CF0-644C-1F24-1C695FAC7D72}"/>
              </a:ext>
            </a:extLst>
          </p:cNvPr>
          <p:cNvGrpSpPr/>
          <p:nvPr/>
        </p:nvGrpSpPr>
        <p:grpSpPr>
          <a:xfrm>
            <a:off x="0" y="-25121"/>
            <a:ext cx="18288000" cy="2118431"/>
            <a:chOff x="0" y="0"/>
            <a:chExt cx="4816593" cy="55794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36017B-DEBE-D093-428A-2D49D033104E}"/>
                </a:ext>
              </a:extLst>
            </p:cNvPr>
            <p:cNvSpPr/>
            <p:nvPr/>
          </p:nvSpPr>
          <p:spPr>
            <a:xfrm>
              <a:off x="0" y="0"/>
              <a:ext cx="4816592" cy="557941"/>
            </a:xfrm>
            <a:custGeom>
              <a:avLst/>
              <a:gdLst/>
              <a:ahLst/>
              <a:cxnLst/>
              <a:rect l="l" t="t" r="r" b="b"/>
              <a:pathLst>
                <a:path w="4816592" h="557941">
                  <a:moveTo>
                    <a:pt x="0" y="0"/>
                  </a:moveTo>
                  <a:lnTo>
                    <a:pt x="4816592" y="0"/>
                  </a:lnTo>
                  <a:lnTo>
                    <a:pt x="4816592" y="557941"/>
                  </a:lnTo>
                  <a:lnTo>
                    <a:pt x="0" y="557941"/>
                  </a:lnTo>
                  <a:close/>
                </a:path>
              </a:pathLst>
            </a:custGeom>
            <a:solidFill>
              <a:srgbClr val="FF6301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720395D-43AD-46C4-3A49-C52A3CF31A48}"/>
                </a:ext>
              </a:extLst>
            </p:cNvPr>
            <p:cNvSpPr txBox="1"/>
            <p:nvPr/>
          </p:nvSpPr>
          <p:spPr>
            <a:xfrm>
              <a:off x="0" y="-38100"/>
              <a:ext cx="4816593" cy="596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2E51B43-7874-A5EE-3FCD-5FFF45BD864D}"/>
              </a:ext>
            </a:extLst>
          </p:cNvPr>
          <p:cNvGrpSpPr/>
          <p:nvPr/>
        </p:nvGrpSpPr>
        <p:grpSpPr>
          <a:xfrm>
            <a:off x="965177" y="3459531"/>
            <a:ext cx="4659691" cy="4918041"/>
            <a:chOff x="0" y="0"/>
            <a:chExt cx="1227244" cy="129528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CE398E9-5697-3029-9110-C297C3DA689F}"/>
                </a:ext>
              </a:extLst>
            </p:cNvPr>
            <p:cNvSpPr/>
            <p:nvPr/>
          </p:nvSpPr>
          <p:spPr>
            <a:xfrm>
              <a:off x="0" y="0"/>
              <a:ext cx="1227244" cy="1295287"/>
            </a:xfrm>
            <a:custGeom>
              <a:avLst/>
              <a:gdLst/>
              <a:ahLst/>
              <a:cxnLst/>
              <a:rect l="l" t="t" r="r" b="b"/>
              <a:pathLst>
                <a:path w="1227244" h="1295287">
                  <a:moveTo>
                    <a:pt x="84735" y="0"/>
                  </a:moveTo>
                  <a:lnTo>
                    <a:pt x="1142509" y="0"/>
                  </a:lnTo>
                  <a:cubicBezTo>
                    <a:pt x="1164982" y="0"/>
                    <a:pt x="1186534" y="8927"/>
                    <a:pt x="1202425" y="24818"/>
                  </a:cubicBezTo>
                  <a:cubicBezTo>
                    <a:pt x="1218316" y="40709"/>
                    <a:pt x="1227244" y="62262"/>
                    <a:pt x="1227244" y="84735"/>
                  </a:cubicBezTo>
                  <a:lnTo>
                    <a:pt x="1227244" y="1210552"/>
                  </a:lnTo>
                  <a:cubicBezTo>
                    <a:pt x="1227244" y="1257350"/>
                    <a:pt x="1189307" y="1295287"/>
                    <a:pt x="1142509" y="1295287"/>
                  </a:cubicBezTo>
                  <a:lnTo>
                    <a:pt x="84735" y="1295287"/>
                  </a:lnTo>
                  <a:cubicBezTo>
                    <a:pt x="37937" y="1295287"/>
                    <a:pt x="0" y="1257350"/>
                    <a:pt x="0" y="1210552"/>
                  </a:cubicBezTo>
                  <a:lnTo>
                    <a:pt x="0" y="84735"/>
                  </a:lnTo>
                  <a:cubicBezTo>
                    <a:pt x="0" y="37937"/>
                    <a:pt x="37937" y="0"/>
                    <a:pt x="847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9C35A1C-7580-EB3E-F2B8-9DAD79859988}"/>
                </a:ext>
              </a:extLst>
            </p:cNvPr>
            <p:cNvSpPr txBox="1"/>
            <p:nvPr/>
          </p:nvSpPr>
          <p:spPr>
            <a:xfrm>
              <a:off x="0" y="-38100"/>
              <a:ext cx="1227244" cy="1333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F60BB1F-CDAA-BA09-2D6D-B8168085A5C7}"/>
              </a:ext>
            </a:extLst>
          </p:cNvPr>
          <p:cNvGrpSpPr/>
          <p:nvPr/>
        </p:nvGrpSpPr>
        <p:grpSpPr>
          <a:xfrm>
            <a:off x="12599609" y="3459531"/>
            <a:ext cx="4659691" cy="4918041"/>
            <a:chOff x="0" y="0"/>
            <a:chExt cx="1227244" cy="1295287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BBB157A-053B-5559-307B-32FEEB8971F1}"/>
                </a:ext>
              </a:extLst>
            </p:cNvPr>
            <p:cNvSpPr/>
            <p:nvPr/>
          </p:nvSpPr>
          <p:spPr>
            <a:xfrm>
              <a:off x="0" y="0"/>
              <a:ext cx="1227244" cy="1295287"/>
            </a:xfrm>
            <a:custGeom>
              <a:avLst/>
              <a:gdLst/>
              <a:ahLst/>
              <a:cxnLst/>
              <a:rect l="l" t="t" r="r" b="b"/>
              <a:pathLst>
                <a:path w="1227244" h="1295287">
                  <a:moveTo>
                    <a:pt x="84735" y="0"/>
                  </a:moveTo>
                  <a:lnTo>
                    <a:pt x="1142509" y="0"/>
                  </a:lnTo>
                  <a:cubicBezTo>
                    <a:pt x="1164982" y="0"/>
                    <a:pt x="1186534" y="8927"/>
                    <a:pt x="1202425" y="24818"/>
                  </a:cubicBezTo>
                  <a:cubicBezTo>
                    <a:pt x="1218316" y="40709"/>
                    <a:pt x="1227244" y="62262"/>
                    <a:pt x="1227244" y="84735"/>
                  </a:cubicBezTo>
                  <a:lnTo>
                    <a:pt x="1227244" y="1210552"/>
                  </a:lnTo>
                  <a:cubicBezTo>
                    <a:pt x="1227244" y="1257350"/>
                    <a:pt x="1189307" y="1295287"/>
                    <a:pt x="1142509" y="1295287"/>
                  </a:cubicBezTo>
                  <a:lnTo>
                    <a:pt x="84735" y="1295287"/>
                  </a:lnTo>
                  <a:cubicBezTo>
                    <a:pt x="37937" y="1295287"/>
                    <a:pt x="0" y="1257350"/>
                    <a:pt x="0" y="1210552"/>
                  </a:cubicBezTo>
                  <a:lnTo>
                    <a:pt x="0" y="84735"/>
                  </a:lnTo>
                  <a:cubicBezTo>
                    <a:pt x="0" y="37937"/>
                    <a:pt x="37937" y="0"/>
                    <a:pt x="847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B49B667-E0C0-916E-4154-A9B89147D892}"/>
                </a:ext>
              </a:extLst>
            </p:cNvPr>
            <p:cNvSpPr txBox="1"/>
            <p:nvPr/>
          </p:nvSpPr>
          <p:spPr>
            <a:xfrm>
              <a:off x="0" y="-38100"/>
              <a:ext cx="1227244" cy="1333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9C9E486-F361-60EC-57CD-9BEB748DDC49}"/>
              </a:ext>
            </a:extLst>
          </p:cNvPr>
          <p:cNvGrpSpPr/>
          <p:nvPr/>
        </p:nvGrpSpPr>
        <p:grpSpPr>
          <a:xfrm>
            <a:off x="6782393" y="3459531"/>
            <a:ext cx="4659691" cy="4918041"/>
            <a:chOff x="0" y="0"/>
            <a:chExt cx="1227244" cy="1295287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07CD29D-AB5D-00BD-0A8B-16CB1E017C10}"/>
                </a:ext>
              </a:extLst>
            </p:cNvPr>
            <p:cNvSpPr/>
            <p:nvPr/>
          </p:nvSpPr>
          <p:spPr>
            <a:xfrm>
              <a:off x="0" y="0"/>
              <a:ext cx="1227244" cy="1295287"/>
            </a:xfrm>
            <a:custGeom>
              <a:avLst/>
              <a:gdLst/>
              <a:ahLst/>
              <a:cxnLst/>
              <a:rect l="l" t="t" r="r" b="b"/>
              <a:pathLst>
                <a:path w="1227244" h="1295287">
                  <a:moveTo>
                    <a:pt x="84735" y="0"/>
                  </a:moveTo>
                  <a:lnTo>
                    <a:pt x="1142509" y="0"/>
                  </a:lnTo>
                  <a:cubicBezTo>
                    <a:pt x="1164982" y="0"/>
                    <a:pt x="1186534" y="8927"/>
                    <a:pt x="1202425" y="24818"/>
                  </a:cubicBezTo>
                  <a:cubicBezTo>
                    <a:pt x="1218316" y="40709"/>
                    <a:pt x="1227244" y="62262"/>
                    <a:pt x="1227244" y="84735"/>
                  </a:cubicBezTo>
                  <a:lnTo>
                    <a:pt x="1227244" y="1210552"/>
                  </a:lnTo>
                  <a:cubicBezTo>
                    <a:pt x="1227244" y="1257350"/>
                    <a:pt x="1189307" y="1295287"/>
                    <a:pt x="1142509" y="1295287"/>
                  </a:cubicBezTo>
                  <a:lnTo>
                    <a:pt x="84735" y="1295287"/>
                  </a:lnTo>
                  <a:cubicBezTo>
                    <a:pt x="37937" y="1295287"/>
                    <a:pt x="0" y="1257350"/>
                    <a:pt x="0" y="1210552"/>
                  </a:cubicBezTo>
                  <a:lnTo>
                    <a:pt x="0" y="84735"/>
                  </a:lnTo>
                  <a:cubicBezTo>
                    <a:pt x="0" y="37937"/>
                    <a:pt x="37937" y="0"/>
                    <a:pt x="8473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DA9C48E-E872-92AD-7BF7-D61C468B8BFB}"/>
                </a:ext>
              </a:extLst>
            </p:cNvPr>
            <p:cNvSpPr txBox="1"/>
            <p:nvPr/>
          </p:nvSpPr>
          <p:spPr>
            <a:xfrm>
              <a:off x="0" y="-38100"/>
              <a:ext cx="1227244" cy="1333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AutoShape 16">
            <a:extLst>
              <a:ext uri="{FF2B5EF4-FFF2-40B4-BE49-F238E27FC236}">
                <a16:creationId xmlns:a16="http://schemas.microsoft.com/office/drawing/2014/main" id="{DA9BE683-8C2E-B2BE-9E03-3EFEF77F7178}"/>
              </a:ext>
            </a:extLst>
          </p:cNvPr>
          <p:cNvSpPr/>
          <p:nvPr/>
        </p:nvSpPr>
        <p:spPr>
          <a:xfrm>
            <a:off x="5916800" y="5918552"/>
            <a:ext cx="573661" cy="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B80011B0-C735-61B2-E497-DF09AB93ABE2}"/>
              </a:ext>
            </a:extLst>
          </p:cNvPr>
          <p:cNvSpPr/>
          <p:nvPr/>
        </p:nvSpPr>
        <p:spPr>
          <a:xfrm>
            <a:off x="11737359" y="5899502"/>
            <a:ext cx="573661" cy="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it-IT"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E405539A-4D4E-85E6-3529-52E08D175F3B}"/>
              </a:ext>
            </a:extLst>
          </p:cNvPr>
          <p:cNvSpPr/>
          <p:nvPr/>
        </p:nvSpPr>
        <p:spPr>
          <a:xfrm>
            <a:off x="965177" y="4821209"/>
            <a:ext cx="4659691" cy="1905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A537611B-3251-4559-B680-805114565B64}"/>
              </a:ext>
            </a:extLst>
          </p:cNvPr>
          <p:cNvSpPr/>
          <p:nvPr/>
        </p:nvSpPr>
        <p:spPr>
          <a:xfrm flipV="1">
            <a:off x="6814155" y="4840259"/>
            <a:ext cx="4595925" cy="1905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CA23CD50-FA23-D973-2CB7-481967C798A8}"/>
              </a:ext>
            </a:extLst>
          </p:cNvPr>
          <p:cNvSpPr/>
          <p:nvPr/>
        </p:nvSpPr>
        <p:spPr>
          <a:xfrm>
            <a:off x="12599532" y="4811684"/>
            <a:ext cx="4659691" cy="19050"/>
          </a:xfrm>
          <a:prstGeom prst="line">
            <a:avLst/>
          </a:prstGeom>
          <a:ln w="38100" cap="flat">
            <a:solidFill>
              <a:srgbClr val="FF63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58A6809-D4FC-27F6-F6B1-016CDE9F641A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3DA1D12-CAED-4AC7-F601-784F0D0BCE47}"/>
              </a:ext>
            </a:extLst>
          </p:cNvPr>
          <p:cNvSpPr txBox="1"/>
          <p:nvPr/>
        </p:nvSpPr>
        <p:spPr>
          <a:xfrm>
            <a:off x="281837" y="284523"/>
            <a:ext cx="18288000" cy="146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40"/>
              </a:lnSpc>
            </a:pPr>
            <a:r>
              <a:rPr lang="en-US" sz="8800" b="1">
                <a:solidFill>
                  <a:srgbClr val="000000"/>
                </a:solidFill>
                <a:latin typeface="Montserrat 2 Medium"/>
                <a:ea typeface="Montserrat 2 Medium"/>
                <a:cs typeface="Montserrat 2 Medium"/>
                <a:sym typeface="Montserrat 2 Medium"/>
              </a:rPr>
              <a:t>Workshop complete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B306BB1-F039-67A2-E735-A915B50796EF}"/>
              </a:ext>
            </a:extLst>
          </p:cNvPr>
          <p:cNvSpPr txBox="1"/>
          <p:nvPr/>
        </p:nvSpPr>
        <p:spPr>
          <a:xfrm>
            <a:off x="1370139" y="3826519"/>
            <a:ext cx="1940662" cy="62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000000"/>
                </a:solidFill>
                <a:latin typeface="Montserrat 1"/>
                <a:ea typeface="Montserrat 1"/>
                <a:cs typeface="Montserrat 1"/>
                <a:sym typeface="Montserrat 1"/>
              </a:rPr>
              <a:t>Lesson 1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B2FE38E-7A14-45D7-8053-74FB93B892AA}"/>
              </a:ext>
            </a:extLst>
          </p:cNvPr>
          <p:cNvSpPr txBox="1"/>
          <p:nvPr/>
        </p:nvSpPr>
        <p:spPr>
          <a:xfrm>
            <a:off x="12956826" y="3826519"/>
            <a:ext cx="2206973" cy="62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000000"/>
                </a:solidFill>
                <a:latin typeface="Montserrat 1"/>
                <a:ea typeface="Montserrat 1"/>
                <a:cs typeface="Montserrat 1"/>
                <a:sym typeface="Montserrat 1"/>
              </a:rPr>
              <a:t>Lesson 3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0E3A2027-D05D-100B-97AA-2CF5B112A6AB}"/>
              </a:ext>
            </a:extLst>
          </p:cNvPr>
          <p:cNvSpPr txBox="1"/>
          <p:nvPr/>
        </p:nvSpPr>
        <p:spPr>
          <a:xfrm>
            <a:off x="7138658" y="3826519"/>
            <a:ext cx="2157742" cy="629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88"/>
              </a:lnSpc>
              <a:spcBef>
                <a:spcPct val="0"/>
              </a:spcBef>
            </a:pPr>
            <a:r>
              <a:rPr lang="en-US" sz="3705">
                <a:solidFill>
                  <a:srgbClr val="000000"/>
                </a:solidFill>
                <a:latin typeface="Montserrat 1"/>
                <a:ea typeface="Montserrat 1"/>
                <a:cs typeface="Montserrat 1"/>
                <a:sym typeface="Montserrat 1"/>
              </a:rPr>
              <a:t>Lesson 2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73D6B2C-7905-576E-A899-8061762764A4}"/>
              </a:ext>
            </a:extLst>
          </p:cNvPr>
          <p:cNvSpPr txBox="1"/>
          <p:nvPr/>
        </p:nvSpPr>
        <p:spPr>
          <a:xfrm>
            <a:off x="7293660" y="4978629"/>
            <a:ext cx="3734549" cy="99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ESTIMATE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8F589CFD-2B16-28C2-393B-889C9EAB0F9A}"/>
              </a:ext>
            </a:extLst>
          </p:cNvPr>
          <p:cNvSpPr txBox="1"/>
          <p:nvPr/>
        </p:nvSpPr>
        <p:spPr>
          <a:xfrm>
            <a:off x="13079887" y="4927327"/>
            <a:ext cx="3797014" cy="99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PERCEIVE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F5FE1D4-CE3A-D32A-580A-201565490BDE}"/>
              </a:ext>
            </a:extLst>
          </p:cNvPr>
          <p:cNvSpPr txBox="1"/>
          <p:nvPr/>
        </p:nvSpPr>
        <p:spPr>
          <a:xfrm>
            <a:off x="2034140" y="5029200"/>
            <a:ext cx="2406546" cy="99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93"/>
              </a:lnSpc>
              <a:spcBef>
                <a:spcPct val="0"/>
              </a:spcBef>
            </a:pPr>
            <a:r>
              <a:rPr lang="en-US" sz="5780" b="1">
                <a:solidFill>
                  <a:srgbClr val="000000"/>
                </a:solidFill>
                <a:latin typeface="Montserrat 1 Bold"/>
                <a:ea typeface="Montserrat 1 Bold"/>
                <a:cs typeface="Montserrat 1 Bold"/>
                <a:sym typeface="Montserrat 1 Bold"/>
              </a:rPr>
              <a:t>BUILD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D6C47E5-2817-0D63-66D8-FD46D4214EB5}"/>
              </a:ext>
            </a:extLst>
          </p:cNvPr>
          <p:cNvSpPr txBox="1"/>
          <p:nvPr/>
        </p:nvSpPr>
        <p:spPr>
          <a:xfrm>
            <a:off x="1370219" y="6630025"/>
            <a:ext cx="3882628" cy="703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61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Hardware, PX4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60335B6-F11D-6199-C4BE-36CFDF5C0349}"/>
              </a:ext>
            </a:extLst>
          </p:cNvPr>
          <p:cNvSpPr txBox="1"/>
          <p:nvPr/>
        </p:nvSpPr>
        <p:spPr>
          <a:xfrm>
            <a:off x="7780139" y="6630025"/>
            <a:ext cx="2727722" cy="703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61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IMU + EKF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2675256-231D-AE30-F990-DEA440FC7C7D}"/>
              </a:ext>
            </a:extLst>
          </p:cNvPr>
          <p:cNvSpPr txBox="1"/>
          <p:nvPr/>
        </p:nvSpPr>
        <p:spPr>
          <a:xfrm>
            <a:off x="11737359" y="6482939"/>
            <a:ext cx="6350718" cy="14373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26"/>
              </a:lnSpc>
              <a:spcBef>
                <a:spcPct val="0"/>
              </a:spcBef>
            </a:pPr>
            <a:r>
              <a:rPr lang="en-US" sz="4161">
                <a:solidFill>
                  <a:srgbClr val="575F6C"/>
                </a:solidFill>
                <a:latin typeface="Montserrat 1"/>
                <a:ea typeface="Montserrat 1"/>
                <a:cs typeface="Montserrat 1"/>
                <a:sym typeface="Montserrat 1"/>
              </a:rPr>
              <a:t>Camera + Visual Odometry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1DC9D448-6CD6-8449-EA70-CD8143135C94}"/>
              </a:ext>
            </a:extLst>
          </p:cNvPr>
          <p:cNvSpPr txBox="1"/>
          <p:nvPr/>
        </p:nvSpPr>
        <p:spPr>
          <a:xfrm>
            <a:off x="2386944" y="8466710"/>
            <a:ext cx="1880255" cy="920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  <a:spcBef>
                <a:spcPct val="0"/>
              </a:spcBef>
            </a:pPr>
            <a:r>
              <a:rPr lang="en-US" sz="5378">
                <a:solidFill>
                  <a:srgbClr val="FF6300"/>
                </a:solidFill>
                <a:latin typeface="Montserrat 1"/>
                <a:ea typeface="Montserrat 1"/>
                <a:cs typeface="Montserrat 1"/>
                <a:sym typeface="Montserrat 1"/>
              </a:rPr>
              <a:t>07/10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162B1A80-6264-E556-AC17-30B7FED73733}"/>
              </a:ext>
            </a:extLst>
          </p:cNvPr>
          <p:cNvSpPr txBox="1"/>
          <p:nvPr/>
        </p:nvSpPr>
        <p:spPr>
          <a:xfrm>
            <a:off x="8252071" y="8405750"/>
            <a:ext cx="1893927" cy="891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  <a:spcBef>
                <a:spcPct val="0"/>
              </a:spcBef>
            </a:pPr>
            <a:r>
              <a:rPr lang="en-US" sz="5378">
                <a:solidFill>
                  <a:srgbClr val="FF6300"/>
                </a:solidFill>
                <a:latin typeface="Montserrat 1"/>
                <a:ea typeface="Montserrat 1"/>
                <a:cs typeface="Montserrat 1"/>
                <a:sym typeface="Montserrat 1"/>
              </a:rPr>
              <a:t>14/10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695DFE0-EF10-07C3-D723-B960623885DB}"/>
              </a:ext>
            </a:extLst>
          </p:cNvPr>
          <p:cNvSpPr txBox="1"/>
          <p:nvPr/>
        </p:nvSpPr>
        <p:spPr>
          <a:xfrm>
            <a:off x="14077146" y="8420990"/>
            <a:ext cx="1811298" cy="905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0"/>
              </a:lnSpc>
              <a:spcBef>
                <a:spcPct val="0"/>
              </a:spcBef>
            </a:pPr>
            <a:r>
              <a:rPr lang="en-US" sz="5378">
                <a:solidFill>
                  <a:srgbClr val="FF6300"/>
                </a:solidFill>
                <a:latin typeface="Montserrat 1"/>
                <a:ea typeface="Montserrat 1"/>
                <a:cs typeface="Montserrat 1"/>
                <a:sym typeface="Montserrat 1"/>
              </a:rPr>
              <a:t>21/10</a:t>
            </a:r>
          </a:p>
        </p:txBody>
      </p:sp>
      <p:pic>
        <p:nvPicPr>
          <p:cNvPr id="37" name="Graphic 36" descr="Tick with solid fill">
            <a:extLst>
              <a:ext uri="{FF2B5EF4-FFF2-40B4-BE49-F238E27FC236}">
                <a16:creationId xmlns:a16="http://schemas.microsoft.com/office/drawing/2014/main" id="{3B1224FF-EF20-59B3-DF6E-F567125FC0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1824" y="2945925"/>
            <a:ext cx="1720072" cy="1720072"/>
          </a:xfrm>
          <a:prstGeom prst="rect">
            <a:avLst/>
          </a:prstGeom>
        </p:spPr>
      </p:pic>
      <p:pic>
        <p:nvPicPr>
          <p:cNvPr id="36" name="Graphic 35" descr="Tick with solid fill">
            <a:extLst>
              <a:ext uri="{FF2B5EF4-FFF2-40B4-BE49-F238E27FC236}">
                <a16:creationId xmlns:a16="http://schemas.microsoft.com/office/drawing/2014/main" id="{DF8B6838-852D-B9C2-FCD5-6947060830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75207" y="2945925"/>
            <a:ext cx="1720072" cy="1720072"/>
          </a:xfrm>
          <a:prstGeom prst="rect">
            <a:avLst/>
          </a:prstGeom>
        </p:spPr>
      </p:pic>
      <p:pic>
        <p:nvPicPr>
          <p:cNvPr id="21" name="Graphic 37" descr="Tick with solid fill">
            <a:extLst>
              <a:ext uri="{FF2B5EF4-FFF2-40B4-BE49-F238E27FC236}">
                <a16:creationId xmlns:a16="http://schemas.microsoft.com/office/drawing/2014/main" id="{DF8B6838-852D-B9C2-FCD5-6947060830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00832" y="2945925"/>
            <a:ext cx="1720072" cy="172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390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5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5999"/>
              </a:blip>
              <a:stretch>
                <a:fillRect l="-9027" t="-31650" r="-9045" b="-2575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B5B12EFA-EE06-469A-ABCA-80D20AE41A8B}"/>
              </a:ext>
            </a:extLst>
          </p:cNvPr>
          <p:cNvSpPr/>
          <p:nvPr/>
        </p:nvSpPr>
        <p:spPr>
          <a:xfrm>
            <a:off x="0" y="0"/>
            <a:ext cx="18288000" cy="2095500"/>
          </a:xfrm>
          <a:prstGeom prst="rect">
            <a:avLst/>
          </a:prstGeom>
          <a:solidFill>
            <a:srgbClr val="FF5A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95EC39-AA11-4651-ADAB-0C8934BCC6A4}"/>
              </a:ext>
            </a:extLst>
          </p:cNvPr>
          <p:cNvSpPr txBox="1"/>
          <p:nvPr/>
        </p:nvSpPr>
        <p:spPr>
          <a:xfrm>
            <a:off x="228600" y="228600"/>
            <a:ext cx="16573500" cy="1562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ctr" anchorCtr="0">
            <a:normAutofit/>
          </a:bodyPr>
          <a:lstStyle/>
          <a:p>
            <a:pPr algn="l"/>
            <a:r>
              <a:rPr lang="it-IT" sz="8600" b="1">
                <a:solidFill>
                  <a:srgbClr val="000000"/>
                </a:solidFill>
                <a:latin typeface="Montserrat 2 Medium"/>
                <a:cs typeface="Arial"/>
              </a:rPr>
              <a:t>What's next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E1ECA0-7428-4542-A796-1ECB410AD58C}"/>
              </a:ext>
            </a:extLst>
          </p:cNvPr>
          <p:cNvSpPr txBox="1"/>
          <p:nvPr/>
        </p:nvSpPr>
        <p:spPr>
          <a:xfrm>
            <a:off x="666750" y="2247900"/>
            <a:ext cx="16954500" cy="1066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it-IT" sz="6000" b="1" err="1">
                <a:solidFill>
                  <a:srgbClr val="FF5A00"/>
                </a:solidFill>
                <a:latin typeface="Arial"/>
                <a:cs typeface="Arial"/>
              </a:rPr>
              <a:t>Where</a:t>
            </a:r>
            <a:r>
              <a:rPr lang="it-IT" sz="6000" b="1">
                <a:solidFill>
                  <a:srgbClr val="FF5A00"/>
                </a:solidFill>
                <a:latin typeface="Arial"/>
                <a:cs typeface="Arial"/>
              </a:rPr>
              <a:t> to go from </a:t>
            </a:r>
            <a:r>
              <a:rPr lang="it-IT" sz="6000" b="1" err="1">
                <a:solidFill>
                  <a:srgbClr val="FF5A00"/>
                </a:solidFill>
                <a:latin typeface="Arial"/>
                <a:cs typeface="Arial"/>
              </a:rPr>
              <a:t>here</a:t>
            </a:r>
            <a:endParaRPr lang="it-IT" sz="6000" b="1">
              <a:solidFill>
                <a:srgbClr val="FF5A00"/>
              </a:solidFill>
              <a:latin typeface="Arial"/>
              <a:cs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BEA8E6-514D-42AE-B75A-67B42DDD5CB1}"/>
              </a:ext>
            </a:extLst>
          </p:cNvPr>
          <p:cNvSpPr txBox="1"/>
          <p:nvPr/>
        </p:nvSpPr>
        <p:spPr>
          <a:xfrm>
            <a:off x="533400" y="9772650"/>
            <a:ext cx="144780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100">
                <a:solidFill>
                  <a:srgbClr val="B8C6CC"/>
                </a:solidFill>
                <a:latin typeface="Arial"/>
                <a:cs typeface="Arial"/>
              </a:rPr>
              <a:t> </a:t>
            </a:r>
            <a:endParaRPr lang="it-IT" sz="800">
              <a:solidFill>
                <a:srgbClr val="B8C6CC"/>
              </a:solidFill>
              <a:latin typeface="Arial"/>
              <a:cs typeface="Arial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3611880"/>
            <a:ext cx="3851910" cy="42062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3611880"/>
            <a:ext cx="3851910" cy="118872"/>
          </a:xfrm>
          <a:prstGeom prst="rect">
            <a:avLst/>
          </a:prstGeom>
          <a:solidFill>
            <a:srgbClr val="15B9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3904488"/>
            <a:ext cx="333984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SLAM &amp; MAPPING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495800"/>
            <a:ext cx="3339846" cy="318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ORB-SLAM3 · occupancy and voxel maps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86350" y="3611880"/>
            <a:ext cx="3851910" cy="42062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086350" y="3611880"/>
            <a:ext cx="3851910" cy="118872"/>
          </a:xfrm>
          <a:prstGeom prst="rect">
            <a:avLst/>
          </a:prstGeom>
          <a:solidFill>
            <a:srgbClr val="78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42382" y="3904488"/>
            <a:ext cx="3339846" cy="85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DEEP PERCEPTION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2382" y="4922520"/>
            <a:ext cx="3339846" cy="2758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detection and segmentation on Jetson-class compute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49740" y="3611880"/>
            <a:ext cx="3851910" cy="42062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349740" y="3611880"/>
            <a:ext cx="3851910" cy="118872"/>
          </a:xfrm>
          <a:prstGeom prst="rect">
            <a:avLst/>
          </a:prstGeom>
          <a:solidFill>
            <a:srgbClr val="A7D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05772" y="3904488"/>
            <a:ext cx="333984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PLANNING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5772" y="4495800"/>
            <a:ext cx="3339846" cy="318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from maps to safe trajectories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613130" y="3611880"/>
            <a:ext cx="3851910" cy="420624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3613130" y="3611880"/>
            <a:ext cx="3851910" cy="118872"/>
          </a:xfrm>
          <a:prstGeom prst="rect">
            <a:avLst/>
          </a:prstGeom>
          <a:solidFill>
            <a:srgbClr val="FF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3869162" y="3904488"/>
            <a:ext cx="3339846" cy="426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B2D45"/>
                </a:solidFill>
                <a:latin typeface="Arial"/>
              </a:rPr>
              <a:t>REAL HARDWARE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869162" y="4495800"/>
            <a:ext cx="3339846" cy="318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0B2D45"/>
                </a:solidFill>
                <a:latin typeface="Arial"/>
              </a:rPr>
              <a:t>calibrate, log, fly: HIL, then field tests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8229600"/>
            <a:ext cx="16642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Build → Estimate → Perceive. Now close the loop on a real drone.</a:t>
            </a:r>
          </a:p>
        </p:txBody>
      </p:sp>
    </p:spTree>
    <p:extLst>
      <p:ext uri="{BB962C8B-B14F-4D97-AF65-F5344CB8AC3E}">
        <p14:creationId xmlns:p14="http://schemas.microsoft.com/office/powerpoint/2010/main" val="16059778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DE56B-6319-65E1-8E3F-6D632CA9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99EFBB-4083-B8DE-0295-4B4FA8AD349F}"/>
              </a:ext>
            </a:extLst>
          </p:cNvPr>
          <p:cNvSpPr/>
          <p:nvPr/>
        </p:nvSpPr>
        <p:spPr>
          <a:xfrm>
            <a:off x="-1650869" y="-780328"/>
            <a:ext cx="21589737" cy="11241175"/>
          </a:xfrm>
          <a:custGeom>
            <a:avLst/>
            <a:gdLst/>
            <a:ahLst/>
            <a:cxnLst/>
            <a:rect l="l" t="t" r="r" b="b"/>
            <a:pathLst>
              <a:path w="21589737" h="11241175">
                <a:moveTo>
                  <a:pt x="0" y="0"/>
                </a:moveTo>
                <a:lnTo>
                  <a:pt x="21589738" y="0"/>
                </a:lnTo>
                <a:lnTo>
                  <a:pt x="21589738" y="11241174"/>
                </a:lnTo>
                <a:lnTo>
                  <a:pt x="0" y="11241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t="-22022" b="-2202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68A7C7B-AAC4-B8DB-6A49-8A0EB1E7B93F}"/>
              </a:ext>
            </a:extLst>
          </p:cNvPr>
          <p:cNvSpPr txBox="1"/>
          <p:nvPr/>
        </p:nvSpPr>
        <p:spPr>
          <a:xfrm>
            <a:off x="1810688" y="-1561474"/>
            <a:ext cx="3551390" cy="164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047"/>
              </a:lnSpc>
              <a:spcBef>
                <a:spcPct val="0"/>
              </a:spcBef>
            </a:pPr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895408F-F124-DBFD-786F-1439416441DF}"/>
              </a:ext>
            </a:extLst>
          </p:cNvPr>
          <p:cNvGrpSpPr/>
          <p:nvPr/>
        </p:nvGrpSpPr>
        <p:grpSpPr>
          <a:xfrm>
            <a:off x="-602727" y="-1285875"/>
            <a:ext cx="8594226" cy="2314575"/>
            <a:chOff x="0" y="0"/>
            <a:chExt cx="2263500" cy="6096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1F97944-AB3E-AE3E-9280-4480718CAB54}"/>
                </a:ext>
              </a:extLst>
            </p:cNvPr>
            <p:cNvSpPr/>
            <p:nvPr/>
          </p:nvSpPr>
          <p:spPr>
            <a:xfrm>
              <a:off x="0" y="0"/>
              <a:ext cx="2263500" cy="609600"/>
            </a:xfrm>
            <a:custGeom>
              <a:avLst/>
              <a:gdLst/>
              <a:ahLst/>
              <a:cxnLst/>
              <a:rect l="l" t="t" r="r" b="b"/>
              <a:pathLst>
                <a:path w="2263500" h="609600">
                  <a:moveTo>
                    <a:pt x="203200" y="0"/>
                  </a:moveTo>
                  <a:lnTo>
                    <a:pt x="2263500" y="0"/>
                  </a:lnTo>
                  <a:lnTo>
                    <a:pt x="20603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630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912DE72-3145-6C68-63DC-FC331034AFB0}"/>
                </a:ext>
              </a:extLst>
            </p:cNvPr>
            <p:cNvSpPr txBox="1"/>
            <p:nvPr/>
          </p:nvSpPr>
          <p:spPr>
            <a:xfrm>
              <a:off x="101600" y="-38100"/>
              <a:ext cx="20603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DCA5306C-4E62-107B-7383-C6C02A4B70C5}"/>
              </a:ext>
            </a:extLst>
          </p:cNvPr>
          <p:cNvSpPr txBox="1"/>
          <p:nvPr/>
        </p:nvSpPr>
        <p:spPr>
          <a:xfrm>
            <a:off x="423362" y="3451504"/>
            <a:ext cx="18552543" cy="171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2"/>
              </a:lnSpc>
            </a:pPr>
            <a:r>
              <a:rPr lang="en-US" sz="10265" b="1">
                <a:solidFill>
                  <a:srgbClr val="FF6300"/>
                </a:solidFill>
                <a:latin typeface="Montserrat 2 Bold"/>
                <a:ea typeface="Montserrat 2 Bold"/>
                <a:cs typeface="Montserrat 2 Bold"/>
                <a:sym typeface="Montserrat 2 Bold"/>
              </a:rPr>
              <a:t>Thank you!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BD14A502-3E66-8029-2813-E8683B585711}"/>
              </a:ext>
            </a:extLst>
          </p:cNvPr>
          <p:cNvGrpSpPr/>
          <p:nvPr/>
        </p:nvGrpSpPr>
        <p:grpSpPr>
          <a:xfrm>
            <a:off x="0" y="-1228099"/>
            <a:ext cx="7172767" cy="2069165"/>
            <a:chOff x="0" y="0"/>
            <a:chExt cx="9563689" cy="2758886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DCEA302-A21A-6F96-4883-771DD81843E9}"/>
                </a:ext>
              </a:extLst>
            </p:cNvPr>
            <p:cNvSpPr txBox="1"/>
            <p:nvPr/>
          </p:nvSpPr>
          <p:spPr>
            <a:xfrm>
              <a:off x="0" y="1834104"/>
              <a:ext cx="9563689" cy="92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45"/>
                </a:lnSpc>
              </a:pPr>
              <a:r>
                <a:rPr lang="en-US" sz="3818">
                  <a:solidFill>
                    <a:srgbClr val="0B2A44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R</a:t>
              </a:r>
              <a:r>
                <a:rPr lang="en-US" sz="3818">
                  <a:solidFill>
                    <a:srgbClr val="FFFFFF"/>
                  </a:solidFill>
                  <a:latin typeface="Phoenix Square"/>
                  <a:ea typeface="Phoenix Square"/>
                  <a:cs typeface="Phoenix Square"/>
                  <a:sym typeface="Phoenix Square"/>
                </a:rPr>
                <a:t>overTech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E2A99F7-D2DE-9651-73BE-BD8DB0DBB5F7}"/>
                </a:ext>
              </a:extLst>
            </p:cNvPr>
            <p:cNvSpPr txBox="1"/>
            <p:nvPr/>
          </p:nvSpPr>
          <p:spPr>
            <a:xfrm>
              <a:off x="2414251" y="-333375"/>
              <a:ext cx="4735187" cy="2082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0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46C2D0DF-B06F-4A34-1C0B-5B0FA4F12BB2}"/>
              </a:ext>
            </a:extLst>
          </p:cNvPr>
          <p:cNvSpPr/>
          <p:nvPr/>
        </p:nvSpPr>
        <p:spPr>
          <a:xfrm>
            <a:off x="17662185" y="9629632"/>
            <a:ext cx="416696" cy="453157"/>
          </a:xfrm>
          <a:custGeom>
            <a:avLst/>
            <a:gdLst/>
            <a:ahLst/>
            <a:cxnLst/>
            <a:rect l="l" t="t" r="r" b="b"/>
            <a:pathLst>
              <a:path w="416696" h="453157">
                <a:moveTo>
                  <a:pt x="0" y="0"/>
                </a:moveTo>
                <a:lnTo>
                  <a:pt x="416696" y="0"/>
                </a:lnTo>
                <a:lnTo>
                  <a:pt x="416696" y="453157"/>
                </a:lnTo>
                <a:lnTo>
                  <a:pt x="0" y="453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53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245CFBE-3847-4FC5-892C-60F0C3B13F7F}">
  <we:reference id="WA200010215" version="2.0.0.1" store="Omex" storeType="OMEX"/>
  <we:alternateReferences>
    <we:reference id="WA200010215" version="2.0.0.1" store="WA200010215" storeType="OMEX"/>
  </we:alternateReferences>
  <we:properties>
    <we:property name="bps.codex_control.document_id" value="&quot;d810b34a-a91b-4bc9-8529-fe0b2556399b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E3AE30D-D2F2-4CF2-8B00-3913969F3E92}">
  <we:reference id="wa200010001" version="1.0.0.1" store="it-IT" storeType="OMEX"/>
  <we:alternateReferences>
    <we:reference id="WA200010001" version="1.0.0.1" store="WA200010001" storeType="OMEX"/>
  </we:alternateReferences>
  <we:properties>
    <we:property name="claude.fileId" value="&quot;73ef8f30-fe5a-4b92-a1d4-630127d93d4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B8AD46EC8B314783F046EB811D32AC" ma:contentTypeVersion="2" ma:contentTypeDescription="Create a new document." ma:contentTypeScope="" ma:versionID="15d2d000d9ce1698ee4c543c31c3e8c8">
  <xsd:schema xmlns:xsd="http://www.w3.org/2001/XMLSchema" xmlns:xs="http://www.w3.org/2001/XMLSchema" xmlns:p="http://schemas.microsoft.com/office/2006/metadata/properties" xmlns:ns3="a74fde18-2172-4e76-9961-fcdb5c62c701" targetNamespace="http://schemas.microsoft.com/office/2006/metadata/properties" ma:root="true" ma:fieldsID="575016b43850a4c73d5353709c8b8144" ns3:_="">
    <xsd:import namespace="a74fde18-2172-4e76-9961-fcdb5c62c70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4fde18-2172-4e76-9961-fcdb5c62c70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74fde18-2172-4e76-9961-fcdb5c62c701" xsi:nil="true"/>
  </documentManagement>
</p:properties>
</file>

<file path=customXml/itemProps1.xml><?xml version="1.0" encoding="utf-8"?>
<ds:datastoreItem xmlns:ds="http://schemas.openxmlformats.org/officeDocument/2006/customXml" ds:itemID="{E41427DA-265E-4D78-A302-54E3DF34F782}">
  <ds:schemaRefs>
    <ds:schemaRef ds:uri="a74fde18-2172-4e76-9961-fcdb5c62c70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479030B-9B38-442E-9E75-102935566F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1D6B8B-4FDC-45B3-B9E5-5923547523AD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http://purl.org/dc/terms/"/>
    <ds:schemaRef ds:uri="a74fde18-2172-4e76-9961-fcdb5c62c701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1aaad37c-5746-46ad-9c0e-ee743b2448b5}" enabled="0" method="" siteId="{1aaad37c-5746-46ad-9c0e-ee743b2448b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2930</Words>
  <Application>Microsoft Office PowerPoint</Application>
  <PresentationFormat>Personalizzato</PresentationFormat>
  <Paragraphs>479</Paragraphs>
  <Slides>40</Slides>
  <Notes>28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40</vt:i4>
      </vt:variant>
    </vt:vector>
  </HeadingPairs>
  <TitlesOfParts>
    <vt:vector size="52" baseType="lpstr">
      <vt:lpstr>Calibri</vt:lpstr>
      <vt:lpstr>Phoenix Square</vt:lpstr>
      <vt:lpstr>Courier New</vt:lpstr>
      <vt:lpstr>Montserrat 2 Bold</vt:lpstr>
      <vt:lpstr>Montserrat 1 Bold</vt:lpstr>
      <vt:lpstr>Montserrat 2</vt:lpstr>
      <vt:lpstr>Aptos</vt:lpstr>
      <vt:lpstr>Montserrat 1</vt:lpstr>
      <vt:lpstr>Montserrat 2 Medium</vt:lpstr>
      <vt:lpstr>Cambria Math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Drones and Perception</dc:title>
  <dc:creator>Luca Attorrese</dc:creator>
  <cp:lastModifiedBy>Luca Attorrese</cp:lastModifiedBy>
  <cp:revision>1</cp:revision>
  <dcterms:created xsi:type="dcterms:W3CDTF">2006-08-16T00:00:00Z</dcterms:created>
  <dcterms:modified xsi:type="dcterms:W3CDTF">2026-10-21T17:41:52Z</dcterms:modified>
  <dc:identifier>DAHXK88N3co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0x010100C2B8AD46EC8B314783F046EB811D32AC</vt:lpwstr>
  </property>
</Properties>
</file>