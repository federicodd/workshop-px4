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21A_2330BDDD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0"/>
  </p:notesMasterIdLst>
  <p:sldIdLst>
    <p:sldId id="437" r:id="rId2"/>
    <p:sldId id="438" r:id="rId3"/>
    <p:sldId id="439" r:id="rId4"/>
    <p:sldId id="441" r:id="rId5"/>
    <p:sldId id="440" r:id="rId6"/>
    <p:sldId id="442" r:id="rId7"/>
    <p:sldId id="539" r:id="rId8"/>
    <p:sldId id="444" r:id="rId9"/>
    <p:sldId id="542" r:id="rId10"/>
    <p:sldId id="445" r:id="rId11"/>
    <p:sldId id="535" r:id="rId12"/>
    <p:sldId id="536" r:id="rId13"/>
    <p:sldId id="537" r:id="rId14"/>
    <p:sldId id="547" r:id="rId15"/>
    <p:sldId id="578" r:id="rId16"/>
    <p:sldId id="491" r:id="rId17"/>
    <p:sldId id="494" r:id="rId18"/>
    <p:sldId id="574" r:id="rId19"/>
    <p:sldId id="498" r:id="rId20"/>
    <p:sldId id="575" r:id="rId21"/>
    <p:sldId id="576" r:id="rId22"/>
    <p:sldId id="580" r:id="rId23"/>
    <p:sldId id="495" r:id="rId24"/>
    <p:sldId id="499" r:id="rId25"/>
    <p:sldId id="500" r:id="rId26"/>
    <p:sldId id="501" r:id="rId27"/>
    <p:sldId id="543" r:id="rId28"/>
    <p:sldId id="534" r:id="rId29"/>
    <p:sldId id="540" r:id="rId30"/>
    <p:sldId id="502" r:id="rId31"/>
    <p:sldId id="544" r:id="rId32"/>
    <p:sldId id="503" r:id="rId33"/>
    <p:sldId id="546" r:id="rId34"/>
    <p:sldId id="545" r:id="rId35"/>
    <p:sldId id="579" r:id="rId36"/>
    <p:sldId id="504" r:id="rId37"/>
    <p:sldId id="505" r:id="rId38"/>
    <p:sldId id="541" r:id="rId39"/>
    <p:sldId id="506" r:id="rId40"/>
    <p:sldId id="569" r:id="rId41"/>
    <p:sldId id="507" r:id="rId42"/>
    <p:sldId id="508" r:id="rId43"/>
    <p:sldId id="509" r:id="rId44"/>
    <p:sldId id="510" r:id="rId45"/>
    <p:sldId id="511" r:id="rId46"/>
    <p:sldId id="512" r:id="rId47"/>
    <p:sldId id="513" r:id="rId48"/>
    <p:sldId id="538" r:id="rId49"/>
    <p:sldId id="573" r:id="rId50"/>
    <p:sldId id="570" r:id="rId51"/>
    <p:sldId id="516" r:id="rId52"/>
    <p:sldId id="531" r:id="rId53"/>
    <p:sldId id="519" r:id="rId54"/>
    <p:sldId id="523" r:id="rId55"/>
    <p:sldId id="524" r:id="rId56"/>
    <p:sldId id="582" r:id="rId57"/>
    <p:sldId id="583" r:id="rId58"/>
    <p:sldId id="581" r:id="rId59"/>
    <p:sldId id="584" r:id="rId60"/>
    <p:sldId id="526" r:id="rId61"/>
    <p:sldId id="594" r:id="rId62"/>
    <p:sldId id="588" r:id="rId63"/>
    <p:sldId id="593" r:id="rId64"/>
    <p:sldId id="590" r:id="rId65"/>
    <p:sldId id="595" r:id="rId66"/>
    <p:sldId id="486" r:id="rId67"/>
    <p:sldId id="487" r:id="rId68"/>
    <p:sldId id="488" r:id="rId69"/>
  </p:sldIdLst>
  <p:sldSz cx="18288000" cy="10287000"/>
  <p:notesSz cx="6858000" cy="9144000"/>
  <p:embeddedFontLst>
    <p:embeddedFont>
      <p:font typeface="Cambria Math" panose="02040503050406030204" pitchFamily="18" charset="0"/>
      <p:regular r:id="rId71"/>
    </p:embeddedFont>
    <p:embeddedFont>
      <p:font typeface="Consolas" panose="020B0609020204030204" pitchFamily="49" charset="0"/>
      <p:regular r:id="rId72"/>
      <p:bold r:id="rId73"/>
      <p:italic r:id="rId74"/>
      <p:boldItalic r:id="rId75"/>
    </p:embeddedFont>
    <p:embeddedFont>
      <p:font typeface="Montserrat 1" panose="020B0604020202020204" charset="0"/>
      <p:regular r:id="rId76"/>
    </p:embeddedFont>
    <p:embeddedFont>
      <p:font typeface="Montserrat 1 Bold" panose="020B0604020202020204" charset="0"/>
      <p:regular r:id="rId77"/>
    </p:embeddedFont>
    <p:embeddedFont>
      <p:font typeface="Montserrat 2" panose="020B0604020202020204" charset="0"/>
      <p:regular r:id="rId78"/>
    </p:embeddedFont>
    <p:embeddedFont>
      <p:font typeface="Montserrat 2 Bold" panose="020B0604020202020204" charset="0"/>
      <p:regular r:id="rId79"/>
    </p:embeddedFont>
    <p:embeddedFont>
      <p:font typeface="Montserrat 2 Bold Italics" panose="020B0604020202020204" charset="0"/>
      <p:regular r:id="rId80"/>
    </p:embeddedFont>
    <p:embeddedFont>
      <p:font typeface="Montserrat 2 Medium" panose="020B0604020202020204" charset="0"/>
      <p:regular r:id="rId81"/>
    </p:embeddedFont>
    <p:embeddedFont>
      <p:font typeface="Phoenix Square" panose="020B0604020202020204" charset="0"/>
      <p:regular r:id="rId82"/>
    </p:embeddedFont>
    <p:embeddedFont>
      <p:font typeface="Roboto Bold" panose="020B0604020202020204" charset="0"/>
      <p:regular r:id="rId83"/>
      <p:bold r:id="rId84"/>
    </p:embeddedFont>
    <p:embeddedFont>
      <p:font typeface="Roboto Mono Bold" panose="020B0604020202020204" charset="0"/>
      <p:regular r:id="rId85"/>
      <p:bold r:id="rId8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951B0A-B001-02A1-36BC-9C7639ABFEF5}" name="Federico De Donatis" initials="FD" userId="S::federico.dedonatis@suncubes.space::83371a07-8c34-4fdc-a9d5-8b5dbf947458" providerId="AD"/>
  <p188:author id="{8B7364AA-8F0A-C579-A9B1-BF6AF1F986D3}" name="Luca Attorrese" initials="LA" userId="S::luca.attorrese@suncubes.space::f58af1db-81da-45aa-bf02-5dd3889653d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10-14T08:44:38.958"/>
    <p1510:client id="{44D0A44A-68CC-597A-E0C7-05E56BA2D04C}" v="8" dt="2026-10-14T14:23:54.301"/>
    <p1510:client id="{AE589AFF-7598-4152-BE1F-421E298768FB}" v="989" dt="2026-10-14T14:53:11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4.fntdata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4.fntdata"/><Relationship Id="rId79" Type="http://schemas.openxmlformats.org/officeDocument/2006/relationships/font" Target="fonts/font9.fntdata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0" Type="http://schemas.openxmlformats.org/officeDocument/2006/relationships/font" Target="fonts/font10.fntdata"/><Relationship Id="rId85" Type="http://schemas.openxmlformats.org/officeDocument/2006/relationships/font" Target="fonts/font15.fntdata"/><Relationship Id="rId93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83" Type="http://schemas.openxmlformats.org/officeDocument/2006/relationships/font" Target="fonts/font13.fntdata"/><Relationship Id="rId88" Type="http://schemas.openxmlformats.org/officeDocument/2006/relationships/viewProps" Target="viewProps.xml"/><Relationship Id="rId9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font" Target="fonts/font11.fntdata"/><Relationship Id="rId86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92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Attorrese" userId="S::luca.attorrese@suncubes.space::f58af1db-81da-45aa-bf02-5dd3889653d1" providerId="AD" clId="Web-{44D0A44A-68CC-597A-E0C7-05E56BA2D04C}"/>
    <pc:docChg chg="modSld">
      <pc:chgData name="Luca Attorrese" userId="S::luca.attorrese@suncubes.space::f58af1db-81da-45aa-bf02-5dd3889653d1" providerId="AD" clId="Web-{44D0A44A-68CC-597A-E0C7-05E56BA2D04C}" dt="2026-10-14T14:23:54.301" v="7" actId="1076"/>
      <pc:docMkLst>
        <pc:docMk/>
      </pc:docMkLst>
      <pc:sldChg chg="modSp">
        <pc:chgData name="Luca Attorrese" userId="S::luca.attorrese@suncubes.space::f58af1db-81da-45aa-bf02-5dd3889653d1" providerId="AD" clId="Web-{44D0A44A-68CC-597A-E0C7-05E56BA2D04C}" dt="2026-10-14T14:23:54.301" v="7" actId="1076"/>
        <pc:sldMkLst>
          <pc:docMk/>
          <pc:sldMk cId="129376675" sldId="516"/>
        </pc:sldMkLst>
        <pc:spChg chg="mod">
          <ac:chgData name="Luca Attorrese" userId="S::luca.attorrese@suncubes.space::f58af1db-81da-45aa-bf02-5dd3889653d1" providerId="AD" clId="Web-{44D0A44A-68CC-597A-E0C7-05E56BA2D04C}" dt="2026-10-14T14:23:46.505" v="6" actId="1076"/>
          <ac:spMkLst>
            <pc:docMk/>
            <pc:sldMk cId="129376675" sldId="516"/>
            <ac:spMk id="14" creationId="{6ABE59F6-0A6D-4EEA-9829-CFE1529C63D9}"/>
          </ac:spMkLst>
        </pc:spChg>
        <pc:spChg chg="mod">
          <ac:chgData name="Luca Attorrese" userId="S::luca.attorrese@suncubes.space::f58af1db-81da-45aa-bf02-5dd3889653d1" providerId="AD" clId="Web-{44D0A44A-68CC-597A-E0C7-05E56BA2D04C}" dt="2026-10-14T14:23:54.301" v="7" actId="1076"/>
          <ac:spMkLst>
            <pc:docMk/>
            <pc:sldMk cId="129376675" sldId="516"/>
            <ac:spMk id="51" creationId="{15B1A1CE-2575-411E-A216-B138975824C4}"/>
          </ac:spMkLst>
        </pc:spChg>
      </pc:sldChg>
      <pc:sldChg chg="modSp">
        <pc:chgData name="Luca Attorrese" userId="S::luca.attorrese@suncubes.space::f58af1db-81da-45aa-bf02-5dd3889653d1" providerId="AD" clId="Web-{44D0A44A-68CC-597A-E0C7-05E56BA2D04C}" dt="2026-10-14T13:23:41.471" v="3" actId="20577"/>
        <pc:sldMkLst>
          <pc:docMk/>
          <pc:sldMk cId="186457470" sldId="526"/>
        </pc:sldMkLst>
        <pc:spChg chg="mod">
          <ac:chgData name="Luca Attorrese" userId="S::luca.attorrese@suncubes.space::f58af1db-81da-45aa-bf02-5dd3889653d1" providerId="AD" clId="Web-{44D0A44A-68CC-597A-E0C7-05E56BA2D04C}" dt="2026-10-14T13:23:41.471" v="3" actId="20577"/>
          <ac:spMkLst>
            <pc:docMk/>
            <pc:sldMk cId="186457470" sldId="526"/>
            <ac:spMk id="38" creationId="{79EB6853-E9D5-44A0-9C5C-9F37DDDC8085}"/>
          </ac:spMkLst>
        </pc:spChg>
      </pc:sldChg>
    </pc:docChg>
  </pc:docChgLst>
  <pc:docChgLst>
    <pc:chgData name="Federico De Donatis" userId="83371a07-8c34-4fdc-a9d5-8b5dbf947458" providerId="ADAL" clId="{6CBD7BE2-C963-41D6-9BBE-68196094DBCD}"/>
    <pc:docChg chg="undo redo custSel addSld delSld modSld sldOrd">
      <pc:chgData name="Federico De Donatis" userId="83371a07-8c34-4fdc-a9d5-8b5dbf947458" providerId="ADAL" clId="{6CBD7BE2-C963-41D6-9BBE-68196094DBCD}" dt="2026-10-14T14:53:11.062" v="746" actId="478"/>
      <pc:docMkLst>
        <pc:docMk/>
      </pc:docMkLst>
      <pc:sldChg chg="modSp mod">
        <pc:chgData name="Federico De Donatis" userId="83371a07-8c34-4fdc-a9d5-8b5dbf947458" providerId="ADAL" clId="{6CBD7BE2-C963-41D6-9BBE-68196094DBCD}" dt="2026-10-14T14:04:22.605" v="710" actId="20577"/>
        <pc:sldMkLst>
          <pc:docMk/>
          <pc:sldMk cId="32471142" sldId="500"/>
        </pc:sldMkLst>
        <pc:spChg chg="mod">
          <ac:chgData name="Federico De Donatis" userId="83371a07-8c34-4fdc-a9d5-8b5dbf947458" providerId="ADAL" clId="{6CBD7BE2-C963-41D6-9BBE-68196094DBCD}" dt="2026-10-14T14:04:22.605" v="710" actId="20577"/>
          <ac:spMkLst>
            <pc:docMk/>
            <pc:sldMk cId="32471142" sldId="500"/>
            <ac:spMk id="24" creationId="{21261D70-EC38-4D16-8A5C-BFC0C0BAC999}"/>
          </ac:spMkLst>
        </pc:spChg>
        <pc:spChg chg="mod">
          <ac:chgData name="Federico De Donatis" userId="83371a07-8c34-4fdc-a9d5-8b5dbf947458" providerId="ADAL" clId="{6CBD7BE2-C963-41D6-9BBE-68196094DBCD}" dt="2026-10-14T10:15:58.786" v="64" actId="20577"/>
          <ac:spMkLst>
            <pc:docMk/>
            <pc:sldMk cId="32471142" sldId="500"/>
            <ac:spMk id="25" creationId="{C0F50A44-C5F4-4920-A2C8-017B7B9392B2}"/>
          </ac:spMkLst>
        </pc:spChg>
      </pc:sldChg>
      <pc:sldChg chg="modSp">
        <pc:chgData name="Federico De Donatis" userId="83371a07-8c34-4fdc-a9d5-8b5dbf947458" providerId="ADAL" clId="{6CBD7BE2-C963-41D6-9BBE-68196094DBCD}" dt="2026-10-14T14:04:52.404" v="719" actId="20577"/>
        <pc:sldMkLst>
          <pc:docMk/>
          <pc:sldMk cId="281441087" sldId="501"/>
        </pc:sldMkLst>
        <pc:spChg chg="mod">
          <ac:chgData name="Federico De Donatis" userId="83371a07-8c34-4fdc-a9d5-8b5dbf947458" providerId="ADAL" clId="{6CBD7BE2-C963-41D6-9BBE-68196094DBCD}" dt="2026-10-14T14:04:52.404" v="719" actId="20577"/>
          <ac:spMkLst>
            <pc:docMk/>
            <pc:sldMk cId="281441087" sldId="501"/>
            <ac:spMk id="25" creationId="{80A419C9-05EA-48AC-BB4C-94198AAD4AAB}"/>
          </ac:spMkLst>
        </pc:spChg>
      </pc:sldChg>
      <pc:sldChg chg="modSp mod">
        <pc:chgData name="Federico De Donatis" userId="83371a07-8c34-4fdc-a9d5-8b5dbf947458" providerId="ADAL" clId="{6CBD7BE2-C963-41D6-9BBE-68196094DBCD}" dt="2026-10-14T14:51:19.704" v="734" actId="1035"/>
        <pc:sldMkLst>
          <pc:docMk/>
          <pc:sldMk cId="2550538943" sldId="512"/>
        </pc:sldMkLst>
        <pc:spChg chg="mod">
          <ac:chgData name="Federico De Donatis" userId="83371a07-8c34-4fdc-a9d5-8b5dbf947458" providerId="ADAL" clId="{6CBD7BE2-C963-41D6-9BBE-68196094DBCD}" dt="2026-10-14T14:50:25.393" v="732" actId="1076"/>
          <ac:spMkLst>
            <pc:docMk/>
            <pc:sldMk cId="2550538943" sldId="512"/>
            <ac:spMk id="28" creationId="{781B13AE-27AB-4A90-9329-D20FA0F6B1A0}"/>
          </ac:spMkLst>
        </pc:spChg>
        <pc:spChg chg="mod">
          <ac:chgData name="Federico De Donatis" userId="83371a07-8c34-4fdc-a9d5-8b5dbf947458" providerId="ADAL" clId="{6CBD7BE2-C963-41D6-9BBE-68196094DBCD}" dt="2026-10-14T14:50:32.179" v="733"/>
          <ac:spMkLst>
            <pc:docMk/>
            <pc:sldMk cId="2550538943" sldId="512"/>
            <ac:spMk id="33" creationId="{37C356A4-848C-495A-86D7-BF2D6224B306}"/>
          </ac:spMkLst>
        </pc:spChg>
        <pc:grpChg chg="mod">
          <ac:chgData name="Federico De Donatis" userId="83371a07-8c34-4fdc-a9d5-8b5dbf947458" providerId="ADAL" clId="{6CBD7BE2-C963-41D6-9BBE-68196094DBCD}" dt="2026-10-14T14:51:19.704" v="734" actId="1035"/>
          <ac:grpSpMkLst>
            <pc:docMk/>
            <pc:sldMk cId="2550538943" sldId="512"/>
            <ac:grpSpMk id="36" creationId="{00000000-0000-0000-0000-000000000000}"/>
          </ac:grpSpMkLst>
        </pc:grpChg>
      </pc:sldChg>
      <pc:sldChg chg="delSp mod">
        <pc:chgData name="Federico De Donatis" userId="83371a07-8c34-4fdc-a9d5-8b5dbf947458" providerId="ADAL" clId="{6CBD7BE2-C963-41D6-9BBE-68196094DBCD}" dt="2026-10-14T14:53:11.062" v="746" actId="478"/>
        <pc:sldMkLst>
          <pc:docMk/>
          <pc:sldMk cId="2275252652" sldId="523"/>
        </pc:sldMkLst>
        <pc:spChg chg="del">
          <ac:chgData name="Federico De Donatis" userId="83371a07-8c34-4fdc-a9d5-8b5dbf947458" providerId="ADAL" clId="{6CBD7BE2-C963-41D6-9BBE-68196094DBCD}" dt="2026-10-14T14:53:11.062" v="746" actId="478"/>
          <ac:spMkLst>
            <pc:docMk/>
            <pc:sldMk cId="2275252652" sldId="523"/>
            <ac:spMk id="52" creationId="{52AC3256-76C5-4D91-96AA-B72719B56B68}"/>
          </ac:spMkLst>
        </pc:spChg>
      </pc:sldChg>
      <pc:sldChg chg="delSp mod">
        <pc:chgData name="Federico De Donatis" userId="83371a07-8c34-4fdc-a9d5-8b5dbf947458" providerId="ADAL" clId="{6CBD7BE2-C963-41D6-9BBE-68196094DBCD}" dt="2026-10-14T14:52:36.390" v="743" actId="478"/>
        <pc:sldMkLst>
          <pc:docMk/>
          <pc:sldMk cId="186457470" sldId="526"/>
        </pc:sldMkLst>
        <pc:spChg chg="del">
          <ac:chgData name="Federico De Donatis" userId="83371a07-8c34-4fdc-a9d5-8b5dbf947458" providerId="ADAL" clId="{6CBD7BE2-C963-41D6-9BBE-68196094DBCD}" dt="2026-10-14T14:52:36.390" v="743" actId="478"/>
          <ac:spMkLst>
            <pc:docMk/>
            <pc:sldMk cId="186457470" sldId="526"/>
            <ac:spMk id="38" creationId="{79EB6853-E9D5-44A0-9C5C-9F37DDDC8085}"/>
          </ac:spMkLst>
        </pc:spChg>
      </pc:sldChg>
      <pc:sldChg chg="delSp mod">
        <pc:chgData name="Federico De Donatis" userId="83371a07-8c34-4fdc-a9d5-8b5dbf947458" providerId="ADAL" clId="{6CBD7BE2-C963-41D6-9BBE-68196094DBCD}" dt="2026-10-14T14:31:26.116" v="725" actId="478"/>
        <pc:sldMkLst>
          <pc:docMk/>
          <pc:sldMk cId="590396893" sldId="538"/>
        </pc:sldMkLst>
        <pc:spChg chg="del">
          <ac:chgData name="Federico De Donatis" userId="83371a07-8c34-4fdc-a9d5-8b5dbf947458" providerId="ADAL" clId="{6CBD7BE2-C963-41D6-9BBE-68196094DBCD}" dt="2026-10-14T14:31:26.116" v="725" actId="478"/>
          <ac:spMkLst>
            <pc:docMk/>
            <pc:sldMk cId="590396893" sldId="538"/>
            <ac:spMk id="16" creationId="{6A1F7CAA-8FF4-4460-A442-7213100AC5DD}"/>
          </ac:spMkLst>
        </pc:spChg>
      </pc:sldChg>
      <pc:sldChg chg="modSp">
        <pc:chgData name="Federico De Donatis" userId="83371a07-8c34-4fdc-a9d5-8b5dbf947458" providerId="ADAL" clId="{6CBD7BE2-C963-41D6-9BBE-68196094DBCD}" dt="2026-10-14T14:05:58.353" v="724" actId="20577"/>
        <pc:sldMkLst>
          <pc:docMk/>
          <pc:sldMk cId="3538959576" sldId="543"/>
        </pc:sldMkLst>
        <pc:spChg chg="mod">
          <ac:chgData name="Federico De Donatis" userId="83371a07-8c34-4fdc-a9d5-8b5dbf947458" providerId="ADAL" clId="{6CBD7BE2-C963-41D6-9BBE-68196094DBCD}" dt="2026-10-14T14:05:58.353" v="724" actId="20577"/>
          <ac:spMkLst>
            <pc:docMk/>
            <pc:sldMk cId="3538959576" sldId="543"/>
            <ac:spMk id="25" creationId="{EE8B78A7-7D71-2D99-10C4-DDB47BD168E3}"/>
          </ac:spMkLst>
        </pc:spChg>
      </pc:sldChg>
      <pc:sldChg chg="modSp">
        <pc:chgData name="Federico De Donatis" userId="83371a07-8c34-4fdc-a9d5-8b5dbf947458" providerId="ADAL" clId="{6CBD7BE2-C963-41D6-9BBE-68196094DBCD}" dt="2026-10-14T12:00:46.135" v="690" actId="20577"/>
        <pc:sldMkLst>
          <pc:docMk/>
          <pc:sldMk cId="95017009" sldId="570"/>
        </pc:sldMkLst>
        <pc:spChg chg="mod">
          <ac:chgData name="Federico De Donatis" userId="83371a07-8c34-4fdc-a9d5-8b5dbf947458" providerId="ADAL" clId="{6CBD7BE2-C963-41D6-9BBE-68196094DBCD}" dt="2026-10-14T12:00:21.201" v="680" actId="20577"/>
          <ac:spMkLst>
            <pc:docMk/>
            <pc:sldMk cId="95017009" sldId="570"/>
            <ac:spMk id="23" creationId="{DEC46DFF-1829-9535-BD2B-54FA197089C1}"/>
          </ac:spMkLst>
        </pc:spChg>
        <pc:spChg chg="mod">
          <ac:chgData name="Federico De Donatis" userId="83371a07-8c34-4fdc-a9d5-8b5dbf947458" providerId="ADAL" clId="{6CBD7BE2-C963-41D6-9BBE-68196094DBCD}" dt="2026-10-14T12:00:46.135" v="690" actId="20577"/>
          <ac:spMkLst>
            <pc:docMk/>
            <pc:sldMk cId="95017009" sldId="570"/>
            <ac:spMk id="37" creationId="{95EF1C6D-A89D-BBBE-CCEA-3964A13EB049}"/>
          </ac:spMkLst>
        </pc:spChg>
      </pc:sldChg>
      <pc:sldChg chg="mod modShow">
        <pc:chgData name="Federico De Donatis" userId="83371a07-8c34-4fdc-a9d5-8b5dbf947458" providerId="ADAL" clId="{6CBD7BE2-C963-41D6-9BBE-68196094DBCD}" dt="2026-10-14T14:37:14.545" v="726" actId="729"/>
        <pc:sldMkLst>
          <pc:docMk/>
          <pc:sldMk cId="3920206650" sldId="582"/>
        </pc:sldMkLst>
      </pc:sldChg>
      <pc:sldChg chg="delSp modSp mod modShow">
        <pc:chgData name="Federico De Donatis" userId="83371a07-8c34-4fdc-a9d5-8b5dbf947458" providerId="ADAL" clId="{6CBD7BE2-C963-41D6-9BBE-68196094DBCD}" dt="2026-10-14T14:52:47.690" v="745" actId="478"/>
        <pc:sldMkLst>
          <pc:docMk/>
          <pc:sldMk cId="3456966439" sldId="583"/>
        </pc:sldMkLst>
        <pc:spChg chg="del mod">
          <ac:chgData name="Federico De Donatis" userId="83371a07-8c34-4fdc-a9d5-8b5dbf947458" providerId="ADAL" clId="{6CBD7BE2-C963-41D6-9BBE-68196094DBCD}" dt="2026-10-14T14:52:47.690" v="745" actId="478"/>
          <ac:spMkLst>
            <pc:docMk/>
            <pc:sldMk cId="3456966439" sldId="583"/>
            <ac:spMk id="59" creationId="{0A90A080-6C86-4553-B497-6C817B9D5D9B}"/>
          </ac:spMkLst>
        </pc:spChg>
      </pc:sldChg>
      <pc:sldChg chg="del">
        <pc:chgData name="Federico De Donatis" userId="83371a07-8c34-4fdc-a9d5-8b5dbf947458" providerId="ADAL" clId="{6CBD7BE2-C963-41D6-9BBE-68196094DBCD}" dt="2026-10-14T10:37:13.586" v="142" actId="47"/>
        <pc:sldMkLst>
          <pc:docMk/>
          <pc:sldMk cId="27986981" sldId="586"/>
        </pc:sldMkLst>
      </pc:sldChg>
      <pc:sldChg chg="del">
        <pc:chgData name="Federico De Donatis" userId="83371a07-8c34-4fdc-a9d5-8b5dbf947458" providerId="ADAL" clId="{6CBD7BE2-C963-41D6-9BBE-68196094DBCD}" dt="2026-10-14T10:12:44.630" v="43"/>
        <pc:sldMkLst>
          <pc:docMk/>
          <pc:sldMk cId="3643001992" sldId="587"/>
        </pc:sldMkLst>
      </pc:sldChg>
      <pc:sldChg chg="delSp modSp mod">
        <pc:chgData name="Federico De Donatis" userId="83371a07-8c34-4fdc-a9d5-8b5dbf947458" providerId="ADAL" clId="{6CBD7BE2-C963-41D6-9BBE-68196094DBCD}" dt="2026-10-14T14:51:56.097" v="738" actId="14100"/>
        <pc:sldMkLst>
          <pc:docMk/>
          <pc:sldMk cId="2125957273" sldId="588"/>
        </pc:sldMkLst>
        <pc:spChg chg="del">
          <ac:chgData name="Federico De Donatis" userId="83371a07-8c34-4fdc-a9d5-8b5dbf947458" providerId="ADAL" clId="{6CBD7BE2-C963-41D6-9BBE-68196094DBCD}" dt="2026-10-14T10:17:29.604" v="65" actId="478"/>
          <ac:spMkLst>
            <pc:docMk/>
            <pc:sldMk cId="2125957273" sldId="588"/>
            <ac:spMk id="2" creationId="{37B5940B-94A0-4F03-B318-F16ED0487508}"/>
          </ac:spMkLst>
        </pc:spChg>
        <pc:spChg chg="mod">
          <ac:chgData name="Federico De Donatis" userId="83371a07-8c34-4fdc-a9d5-8b5dbf947458" providerId="ADAL" clId="{6CBD7BE2-C963-41D6-9BBE-68196094DBCD}" dt="2026-10-14T11:47:33.239" v="655" actId="113"/>
          <ac:spMkLst>
            <pc:docMk/>
            <pc:sldMk cId="2125957273" sldId="588"/>
            <ac:spMk id="152" creationId="{7239974F-2E06-42E0-B698-165785252019}"/>
          </ac:spMkLst>
        </pc:spChg>
        <pc:spChg chg="mod">
          <ac:chgData name="Federico De Donatis" userId="83371a07-8c34-4fdc-a9d5-8b5dbf947458" providerId="ADAL" clId="{6CBD7BE2-C963-41D6-9BBE-68196094DBCD}" dt="2026-10-14T14:51:56.097" v="738" actId="14100"/>
          <ac:spMkLst>
            <pc:docMk/>
            <pc:sldMk cId="2125957273" sldId="588"/>
            <ac:spMk id="153" creationId="{8CAA01E6-8B5A-44ED-96F2-A70DC78053EB}"/>
          </ac:spMkLst>
        </pc:spChg>
        <pc:spChg chg="mod">
          <ac:chgData name="Federico De Donatis" userId="83371a07-8c34-4fdc-a9d5-8b5dbf947458" providerId="ADAL" clId="{6CBD7BE2-C963-41D6-9BBE-68196094DBCD}" dt="2026-10-14T10:17:45.747" v="68" actId="14100"/>
          <ac:spMkLst>
            <pc:docMk/>
            <pc:sldMk cId="2125957273" sldId="588"/>
            <ac:spMk id="154" creationId="{4CAA28B5-32B9-4AED-AEF8-E459E5BB726F}"/>
          </ac:spMkLst>
        </pc:spChg>
        <pc:spChg chg="mod">
          <ac:chgData name="Federico De Donatis" userId="83371a07-8c34-4fdc-a9d5-8b5dbf947458" providerId="ADAL" clId="{6CBD7BE2-C963-41D6-9BBE-68196094DBCD}" dt="2026-10-14T10:18:09.647" v="70" actId="20577"/>
          <ac:spMkLst>
            <pc:docMk/>
            <pc:sldMk cId="2125957273" sldId="588"/>
            <ac:spMk id="155" creationId="{7239974F-2E06-42E0-B698-165785252019}"/>
          </ac:spMkLst>
        </pc:spChg>
        <pc:spChg chg="mod">
          <ac:chgData name="Federico De Donatis" userId="83371a07-8c34-4fdc-a9d5-8b5dbf947458" providerId="ADAL" clId="{6CBD7BE2-C963-41D6-9BBE-68196094DBCD}" dt="2026-10-14T10:18:15.131" v="71" actId="255"/>
          <ac:spMkLst>
            <pc:docMk/>
            <pc:sldMk cId="2125957273" sldId="588"/>
            <ac:spMk id="156" creationId="{7239974F-2E06-42E0-B698-165785252019}"/>
          </ac:spMkLst>
        </pc:spChg>
        <pc:spChg chg="mod">
          <ac:chgData name="Federico De Donatis" userId="83371a07-8c34-4fdc-a9d5-8b5dbf947458" providerId="ADAL" clId="{6CBD7BE2-C963-41D6-9BBE-68196094DBCD}" dt="2026-10-14T10:18:21.808" v="72" actId="255"/>
          <ac:spMkLst>
            <pc:docMk/>
            <pc:sldMk cId="2125957273" sldId="588"/>
            <ac:spMk id="157" creationId="{7239974F-2E06-42E0-B698-165785252019}"/>
          </ac:spMkLst>
        </pc:spChg>
        <pc:spChg chg="mod">
          <ac:chgData name="Federico De Donatis" userId="83371a07-8c34-4fdc-a9d5-8b5dbf947458" providerId="ADAL" clId="{6CBD7BE2-C963-41D6-9BBE-68196094DBCD}" dt="2026-10-14T10:26:46.991" v="139" actId="20577"/>
          <ac:spMkLst>
            <pc:docMk/>
            <pc:sldMk cId="2125957273" sldId="588"/>
            <ac:spMk id="158" creationId="{7239974F-2E06-42E0-B698-165785252019}"/>
          </ac:spMkLst>
        </pc:spChg>
        <pc:spChg chg="del">
          <ac:chgData name="Federico De Donatis" userId="83371a07-8c34-4fdc-a9d5-8b5dbf947458" providerId="ADAL" clId="{6CBD7BE2-C963-41D6-9BBE-68196094DBCD}" dt="2026-10-14T10:17:31.194" v="66" actId="478"/>
          <ac:spMkLst>
            <pc:docMk/>
            <pc:sldMk cId="2125957273" sldId="588"/>
            <ac:spMk id="159" creationId="{E3BE3A60-ED9A-4A13-B1D6-2AC1EB1FD40D}"/>
          </ac:spMkLst>
        </pc:spChg>
        <pc:spChg chg="del">
          <ac:chgData name="Federico De Donatis" userId="83371a07-8c34-4fdc-a9d5-8b5dbf947458" providerId="ADAL" clId="{6CBD7BE2-C963-41D6-9BBE-68196094DBCD}" dt="2026-10-14T10:17:33.963" v="67" actId="478"/>
          <ac:spMkLst>
            <pc:docMk/>
            <pc:sldMk cId="2125957273" sldId="588"/>
            <ac:spMk id="160" creationId="{4CAA28B5-32B9-4AED-AEF8-E459E5BB726F}"/>
          </ac:spMkLst>
        </pc:spChg>
        <pc:spChg chg="del">
          <ac:chgData name="Federico De Donatis" userId="83371a07-8c34-4fdc-a9d5-8b5dbf947458" providerId="ADAL" clId="{6CBD7BE2-C963-41D6-9BBE-68196094DBCD}" dt="2026-10-14T10:17:29.604" v="65" actId="478"/>
          <ac:spMkLst>
            <pc:docMk/>
            <pc:sldMk cId="2125957273" sldId="588"/>
            <ac:spMk id="161" creationId="{7239974F-2E06-42E0-B698-165785252019}"/>
          </ac:spMkLst>
        </pc:spChg>
        <pc:spChg chg="del">
          <ac:chgData name="Federico De Donatis" userId="83371a07-8c34-4fdc-a9d5-8b5dbf947458" providerId="ADAL" clId="{6CBD7BE2-C963-41D6-9BBE-68196094DBCD}" dt="2026-10-14T10:17:29.604" v="65" actId="478"/>
          <ac:spMkLst>
            <pc:docMk/>
            <pc:sldMk cId="2125957273" sldId="588"/>
            <ac:spMk id="162" creationId="{7239974F-2E06-42E0-B698-165785252019}"/>
          </ac:spMkLst>
        </pc:spChg>
        <pc:spChg chg="del">
          <ac:chgData name="Federico De Donatis" userId="83371a07-8c34-4fdc-a9d5-8b5dbf947458" providerId="ADAL" clId="{6CBD7BE2-C963-41D6-9BBE-68196094DBCD}" dt="2026-10-14T10:17:29.604" v="65" actId="478"/>
          <ac:spMkLst>
            <pc:docMk/>
            <pc:sldMk cId="2125957273" sldId="588"/>
            <ac:spMk id="163" creationId="{7239974F-2E06-42E0-B698-165785252019}"/>
          </ac:spMkLst>
        </pc:spChg>
        <pc:spChg chg="del">
          <ac:chgData name="Federico De Donatis" userId="83371a07-8c34-4fdc-a9d5-8b5dbf947458" providerId="ADAL" clId="{6CBD7BE2-C963-41D6-9BBE-68196094DBCD}" dt="2026-10-14T10:17:29.604" v="65" actId="478"/>
          <ac:spMkLst>
            <pc:docMk/>
            <pc:sldMk cId="2125957273" sldId="588"/>
            <ac:spMk id="164" creationId="{7239974F-2E06-42E0-B698-165785252019}"/>
          </ac:spMkLst>
        </pc:spChg>
        <pc:spChg chg="del">
          <ac:chgData name="Federico De Donatis" userId="83371a07-8c34-4fdc-a9d5-8b5dbf947458" providerId="ADAL" clId="{6CBD7BE2-C963-41D6-9BBE-68196094DBCD}" dt="2026-10-14T14:51:48.970" v="736" actId="478"/>
          <ac:spMkLst>
            <pc:docMk/>
            <pc:sldMk cId="2125957273" sldId="588"/>
            <ac:spMk id="165" creationId="{E3BE3A60-ED9A-4A13-B1D6-2AC1EB1FD40D}"/>
          </ac:spMkLst>
        </pc:spChg>
        <pc:spChg chg="del">
          <ac:chgData name="Federico De Donatis" userId="83371a07-8c34-4fdc-a9d5-8b5dbf947458" providerId="ADAL" clId="{6CBD7BE2-C963-41D6-9BBE-68196094DBCD}" dt="2026-10-14T14:51:51.619" v="737" actId="478"/>
          <ac:spMkLst>
            <pc:docMk/>
            <pc:sldMk cId="2125957273" sldId="588"/>
            <ac:spMk id="166" creationId="{4CAA28B5-32B9-4AED-AEF8-E459E5BB726F}"/>
          </ac:spMkLst>
        </pc:spChg>
        <pc:spChg chg="del">
          <ac:chgData name="Federico De Donatis" userId="83371a07-8c34-4fdc-a9d5-8b5dbf947458" providerId="ADAL" clId="{6CBD7BE2-C963-41D6-9BBE-68196094DBCD}" dt="2026-10-14T14:51:47.602" v="735" actId="478"/>
          <ac:spMkLst>
            <pc:docMk/>
            <pc:sldMk cId="2125957273" sldId="588"/>
            <ac:spMk id="167" creationId="{7239974F-2E06-42E0-B698-165785252019}"/>
          </ac:spMkLst>
        </pc:spChg>
        <pc:spChg chg="del">
          <ac:chgData name="Federico De Donatis" userId="83371a07-8c34-4fdc-a9d5-8b5dbf947458" providerId="ADAL" clId="{6CBD7BE2-C963-41D6-9BBE-68196094DBCD}" dt="2026-10-14T10:27:11.146" v="141" actId="478"/>
          <ac:spMkLst>
            <pc:docMk/>
            <pc:sldMk cId="2125957273" sldId="588"/>
            <ac:spMk id="168" creationId="{7239974F-2E06-42E0-B698-165785252019}"/>
          </ac:spMkLst>
        </pc:spChg>
      </pc:sldChg>
      <pc:sldChg chg="delSp modSp mod">
        <pc:chgData name="Federico De Donatis" userId="83371a07-8c34-4fdc-a9d5-8b5dbf947458" providerId="ADAL" clId="{6CBD7BE2-C963-41D6-9BBE-68196094DBCD}" dt="2026-10-14T14:42:00.294" v="729"/>
        <pc:sldMkLst>
          <pc:docMk/>
          <pc:sldMk cId="479996273" sldId="590"/>
        </pc:sldMkLst>
        <pc:spChg chg="del">
          <ac:chgData name="Federico De Donatis" userId="83371a07-8c34-4fdc-a9d5-8b5dbf947458" providerId="ADAL" clId="{6CBD7BE2-C963-41D6-9BBE-68196094DBCD}" dt="2026-10-14T11:09:10.007" v="543" actId="478"/>
          <ac:spMkLst>
            <pc:docMk/>
            <pc:sldMk cId="479996273" sldId="590"/>
            <ac:spMk id="161" creationId="{E3BE3A60-ED9A-4A13-B1D6-2AC1EB1FD40D}"/>
          </ac:spMkLst>
        </pc:spChg>
        <pc:spChg chg="del">
          <ac:chgData name="Federico De Donatis" userId="83371a07-8c34-4fdc-a9d5-8b5dbf947458" providerId="ADAL" clId="{6CBD7BE2-C963-41D6-9BBE-68196094DBCD}" dt="2026-10-14T11:09:14.749" v="544" actId="478"/>
          <ac:spMkLst>
            <pc:docMk/>
            <pc:sldMk cId="479996273" sldId="590"/>
            <ac:spMk id="162" creationId="{4CAA28B5-32B9-4AED-AEF8-E459E5BB726F}"/>
          </ac:spMkLst>
        </pc:spChg>
        <pc:spChg chg="del mod">
          <ac:chgData name="Federico De Donatis" userId="83371a07-8c34-4fdc-a9d5-8b5dbf947458" providerId="ADAL" clId="{6CBD7BE2-C963-41D6-9BBE-68196094DBCD}" dt="2026-10-14T11:09:08.551" v="542" actId="478"/>
          <ac:spMkLst>
            <pc:docMk/>
            <pc:sldMk cId="479996273" sldId="590"/>
            <ac:spMk id="163" creationId="{7239974F-2E06-42E0-B698-165785252019}"/>
          </ac:spMkLst>
        </pc:spChg>
        <pc:spChg chg="mod">
          <ac:chgData name="Federico De Donatis" userId="83371a07-8c34-4fdc-a9d5-8b5dbf947458" providerId="ADAL" clId="{6CBD7BE2-C963-41D6-9BBE-68196094DBCD}" dt="2026-10-14T11:09:19.790" v="545" actId="1076"/>
          <ac:spMkLst>
            <pc:docMk/>
            <pc:sldMk cId="479996273" sldId="590"/>
            <ac:spMk id="164" creationId="{7239974F-2E06-42E0-B698-165785252019}"/>
          </ac:spMkLst>
        </pc:spChg>
        <pc:graphicFrameChg chg="mod">
          <ac:chgData name="Federico De Donatis" userId="83371a07-8c34-4fdc-a9d5-8b5dbf947458" providerId="ADAL" clId="{6CBD7BE2-C963-41D6-9BBE-68196094DBCD}" dt="2026-10-14T14:42:00.294" v="729"/>
          <ac:graphicFrameMkLst>
            <pc:docMk/>
            <pc:sldMk cId="479996273" sldId="590"/>
            <ac:graphicFrameMk id="200" creationId="{00000000-0000-0000-0000-000000000000}"/>
          </ac:graphicFrameMkLst>
        </pc:graphicFrameChg>
      </pc:sldChg>
      <pc:sldChg chg="delSp modSp del mod">
        <pc:chgData name="Federico De Donatis" userId="83371a07-8c34-4fdc-a9d5-8b5dbf947458" providerId="ADAL" clId="{6CBD7BE2-C963-41D6-9BBE-68196094DBCD}" dt="2026-10-14T10:24:58.720" v="115" actId="47"/>
        <pc:sldMkLst>
          <pc:docMk/>
          <pc:sldMk cId="2279898828" sldId="591"/>
        </pc:sldMkLst>
        <pc:spChg chg="mod">
          <ac:chgData name="Federico De Donatis" userId="83371a07-8c34-4fdc-a9d5-8b5dbf947458" providerId="ADAL" clId="{6CBD7BE2-C963-41D6-9BBE-68196094DBCD}" dt="2026-10-14T10:20:15.265" v="82" actId="21"/>
          <ac:spMkLst>
            <pc:docMk/>
            <pc:sldMk cId="2279898828" sldId="591"/>
            <ac:spMk id="153" creationId="{7239974F-2E06-42E0-B698-165785252019}"/>
          </ac:spMkLst>
        </pc:spChg>
        <pc:spChg chg="del">
          <ac:chgData name="Federico De Donatis" userId="83371a07-8c34-4fdc-a9d5-8b5dbf947458" providerId="ADAL" clId="{6CBD7BE2-C963-41D6-9BBE-68196094DBCD}" dt="2026-10-14T10:19:33.101" v="75" actId="478"/>
          <ac:spMkLst>
            <pc:docMk/>
            <pc:sldMk cId="2279898828" sldId="591"/>
            <ac:spMk id="158" creationId="{E3BE3A60-ED9A-4A13-B1D6-2AC1EB1FD40D}"/>
          </ac:spMkLst>
        </pc:spChg>
        <pc:spChg chg="del">
          <ac:chgData name="Federico De Donatis" userId="83371a07-8c34-4fdc-a9d5-8b5dbf947458" providerId="ADAL" clId="{6CBD7BE2-C963-41D6-9BBE-68196094DBCD}" dt="2026-10-14T10:19:35.765" v="76" actId="478"/>
          <ac:spMkLst>
            <pc:docMk/>
            <pc:sldMk cId="2279898828" sldId="591"/>
            <ac:spMk id="159" creationId="{4CAA28B5-32B9-4AED-AEF8-E459E5BB726F}"/>
          </ac:spMkLst>
        </pc:spChg>
        <pc:spChg chg="del mod">
          <ac:chgData name="Federico De Donatis" userId="83371a07-8c34-4fdc-a9d5-8b5dbf947458" providerId="ADAL" clId="{6CBD7BE2-C963-41D6-9BBE-68196094DBCD}" dt="2026-10-14T10:19:29.992" v="74" actId="478"/>
          <ac:spMkLst>
            <pc:docMk/>
            <pc:sldMk cId="2279898828" sldId="591"/>
            <ac:spMk id="160" creationId="{7239974F-2E06-42E0-B698-165785252019}"/>
          </ac:spMkLst>
        </pc:spChg>
        <pc:spChg chg="del mod">
          <ac:chgData name="Federico De Donatis" userId="83371a07-8c34-4fdc-a9d5-8b5dbf947458" providerId="ADAL" clId="{6CBD7BE2-C963-41D6-9BBE-68196094DBCD}" dt="2026-10-14T10:19:29.992" v="74" actId="478"/>
          <ac:spMkLst>
            <pc:docMk/>
            <pc:sldMk cId="2279898828" sldId="591"/>
            <ac:spMk id="161" creationId="{7239974F-2E06-42E0-B698-165785252019}"/>
          </ac:spMkLst>
        </pc:spChg>
        <pc:spChg chg="del mod">
          <ac:chgData name="Federico De Donatis" userId="83371a07-8c34-4fdc-a9d5-8b5dbf947458" providerId="ADAL" clId="{6CBD7BE2-C963-41D6-9BBE-68196094DBCD}" dt="2026-10-14T10:19:29.992" v="74" actId="478"/>
          <ac:spMkLst>
            <pc:docMk/>
            <pc:sldMk cId="2279898828" sldId="591"/>
            <ac:spMk id="162" creationId="{7239974F-2E06-42E0-B698-165785252019}"/>
          </ac:spMkLst>
        </pc:spChg>
        <pc:spChg chg="del mod">
          <ac:chgData name="Federico De Donatis" userId="83371a07-8c34-4fdc-a9d5-8b5dbf947458" providerId="ADAL" clId="{6CBD7BE2-C963-41D6-9BBE-68196094DBCD}" dt="2026-10-14T10:19:29.992" v="74" actId="478"/>
          <ac:spMkLst>
            <pc:docMk/>
            <pc:sldMk cId="2279898828" sldId="591"/>
            <ac:spMk id="163" creationId="{7239974F-2E06-42E0-B698-165785252019}"/>
          </ac:spMkLst>
        </pc:spChg>
        <pc:spChg chg="del mod">
          <ac:chgData name="Federico De Donatis" userId="83371a07-8c34-4fdc-a9d5-8b5dbf947458" providerId="ADAL" clId="{6CBD7BE2-C963-41D6-9BBE-68196094DBCD}" dt="2026-10-14T10:19:29.992" v="74" actId="478"/>
          <ac:spMkLst>
            <pc:docMk/>
            <pc:sldMk cId="2279898828" sldId="591"/>
            <ac:spMk id="164" creationId="{7239974F-2E06-42E0-B698-165785252019}"/>
          </ac:spMkLst>
        </pc:spChg>
        <pc:spChg chg="del mod">
          <ac:chgData name="Federico De Donatis" userId="83371a07-8c34-4fdc-a9d5-8b5dbf947458" providerId="ADAL" clId="{6CBD7BE2-C963-41D6-9BBE-68196094DBCD}" dt="2026-10-14T10:19:29.992" v="74" actId="478"/>
          <ac:spMkLst>
            <pc:docMk/>
            <pc:sldMk cId="2279898828" sldId="591"/>
            <ac:spMk id="165" creationId="{7239974F-2E06-42E0-B698-165785252019}"/>
          </ac:spMkLst>
        </pc:spChg>
      </pc:sldChg>
      <pc:sldChg chg="addSp delSp modSp add del mod">
        <pc:chgData name="Federico De Donatis" userId="83371a07-8c34-4fdc-a9d5-8b5dbf947458" providerId="ADAL" clId="{6CBD7BE2-C963-41D6-9BBE-68196094DBCD}" dt="2026-10-14T10:51:51.286" v="295" actId="47"/>
        <pc:sldMkLst>
          <pc:docMk/>
          <pc:sldMk cId="1938853620" sldId="592"/>
        </pc:sldMkLst>
        <pc:spChg chg="del">
          <ac:chgData name="Federico De Donatis" userId="83371a07-8c34-4fdc-a9d5-8b5dbf947458" providerId="ADAL" clId="{6CBD7BE2-C963-41D6-9BBE-68196094DBCD}" dt="2026-10-14T10:37:38.410" v="146" actId="478"/>
          <ac:spMkLst>
            <pc:docMk/>
            <pc:sldMk cId="1938853620" sldId="592"/>
            <ac:spMk id="2" creationId="{EEDEED06-8024-4490-8E76-BE09C24C10AC}"/>
          </ac:spMkLst>
        </pc:spChg>
        <pc:spChg chg="del">
          <ac:chgData name="Federico De Donatis" userId="83371a07-8c34-4fdc-a9d5-8b5dbf947458" providerId="ADAL" clId="{6CBD7BE2-C963-41D6-9BBE-68196094DBCD}" dt="2026-10-14T10:37:43.293" v="147" actId="478"/>
          <ac:spMkLst>
            <pc:docMk/>
            <pc:sldMk cId="1938853620" sldId="592"/>
            <ac:spMk id="3" creationId="{0F0D4C00-7A78-4653-94F8-5E51E4A392A6}"/>
          </ac:spMkLst>
        </pc:spChg>
        <pc:spChg chg="del">
          <ac:chgData name="Federico De Donatis" userId="83371a07-8c34-4fdc-a9d5-8b5dbf947458" providerId="ADAL" clId="{6CBD7BE2-C963-41D6-9BBE-68196094DBCD}" dt="2026-10-14T10:37:49.137" v="149" actId="478"/>
          <ac:spMkLst>
            <pc:docMk/>
            <pc:sldMk cId="1938853620" sldId="592"/>
            <ac:spMk id="4" creationId="{F0A8939A-AA20-466F-8238-D25AB684B015}"/>
          </ac:spMkLst>
        </pc:spChg>
        <pc:spChg chg="del">
          <ac:chgData name="Federico De Donatis" userId="83371a07-8c34-4fdc-a9d5-8b5dbf947458" providerId="ADAL" clId="{6CBD7BE2-C963-41D6-9BBE-68196094DBCD}" dt="2026-10-14T10:37:54.698" v="151" actId="478"/>
          <ac:spMkLst>
            <pc:docMk/>
            <pc:sldMk cId="1938853620" sldId="592"/>
            <ac:spMk id="5" creationId="{396BD7CC-E58E-4DF1-A0CE-2A72C8A11279}"/>
          </ac:spMkLst>
        </pc:spChg>
        <pc:spChg chg="add del mod">
          <ac:chgData name="Federico De Donatis" userId="83371a07-8c34-4fdc-a9d5-8b5dbf947458" providerId="ADAL" clId="{6CBD7BE2-C963-41D6-9BBE-68196094DBCD}" dt="2026-10-14T10:40:24.130" v="167" actId="14100"/>
          <ac:spMkLst>
            <pc:docMk/>
            <pc:sldMk cId="1938853620" sldId="592"/>
            <ac:spMk id="6" creationId="{7DE7853B-3965-4CF6-9B5D-608571771E6F}"/>
          </ac:spMkLst>
        </pc:spChg>
        <pc:spChg chg="add del mod">
          <ac:chgData name="Federico De Donatis" userId="83371a07-8c34-4fdc-a9d5-8b5dbf947458" providerId="ADAL" clId="{6CBD7BE2-C963-41D6-9BBE-68196094DBCD}" dt="2026-10-14T10:40:15.747" v="166" actId="1076"/>
          <ac:spMkLst>
            <pc:docMk/>
            <pc:sldMk cId="1938853620" sldId="592"/>
            <ac:spMk id="7" creationId="{68256F3B-CCBA-43B5-AAF6-A207EA8A4ACE}"/>
          </ac:spMkLst>
        </pc:spChg>
        <pc:spChg chg="mod">
          <ac:chgData name="Federico De Donatis" userId="83371a07-8c34-4fdc-a9d5-8b5dbf947458" providerId="ADAL" clId="{6CBD7BE2-C963-41D6-9BBE-68196094DBCD}" dt="2026-10-14T10:47:45.147" v="292" actId="1076"/>
          <ac:spMkLst>
            <pc:docMk/>
            <pc:sldMk cId="1938853620" sldId="592"/>
            <ac:spMk id="8" creationId="{AAE507C5-B882-4AEC-A241-F6471C806511}"/>
          </ac:spMkLst>
        </pc:spChg>
        <pc:spChg chg="mod">
          <ac:chgData name="Federico De Donatis" userId="83371a07-8c34-4fdc-a9d5-8b5dbf947458" providerId="ADAL" clId="{6CBD7BE2-C963-41D6-9BBE-68196094DBCD}" dt="2026-10-14T10:40:37.447" v="168" actId="14100"/>
          <ac:spMkLst>
            <pc:docMk/>
            <pc:sldMk cId="1938853620" sldId="592"/>
            <ac:spMk id="10" creationId="{59FFE935-866A-4F06-8B5F-4968858160D3}"/>
          </ac:spMkLst>
        </pc:spChg>
        <pc:spChg chg="del">
          <ac:chgData name="Federico De Donatis" userId="83371a07-8c34-4fdc-a9d5-8b5dbf947458" providerId="ADAL" clId="{6CBD7BE2-C963-41D6-9BBE-68196094DBCD}" dt="2026-10-14T10:37:36.999" v="145" actId="478"/>
          <ac:spMkLst>
            <pc:docMk/>
            <pc:sldMk cId="1938853620" sldId="592"/>
            <ac:spMk id="13" creationId="{8502BFB0-EB34-40E9-8318-4E5BF0E32737}"/>
          </ac:spMkLst>
        </pc:spChg>
        <pc:spChg chg="del">
          <ac:chgData name="Federico De Donatis" userId="83371a07-8c34-4fdc-a9d5-8b5dbf947458" providerId="ADAL" clId="{6CBD7BE2-C963-41D6-9BBE-68196094DBCD}" dt="2026-10-14T10:37:52.084" v="150" actId="478"/>
          <ac:spMkLst>
            <pc:docMk/>
            <pc:sldMk cId="1938853620" sldId="592"/>
            <ac:spMk id="14" creationId="{0EC61148-93E4-425D-A2FF-B821A18B7AC7}"/>
          </ac:spMkLst>
        </pc:spChg>
        <pc:spChg chg="add del mod">
          <ac:chgData name="Federico De Donatis" userId="83371a07-8c34-4fdc-a9d5-8b5dbf947458" providerId="ADAL" clId="{6CBD7BE2-C963-41D6-9BBE-68196094DBCD}" dt="2026-10-14T10:41:13.277" v="173" actId="20577"/>
          <ac:spMkLst>
            <pc:docMk/>
            <pc:sldMk cId="1938853620" sldId="592"/>
            <ac:spMk id="15" creationId="{5A056C9F-01E5-4FA4-923F-64F36EDE96FE}"/>
          </ac:spMkLst>
        </pc:spChg>
        <pc:spChg chg="add mod">
          <ac:chgData name="Federico De Donatis" userId="83371a07-8c34-4fdc-a9d5-8b5dbf947458" providerId="ADAL" clId="{6CBD7BE2-C963-41D6-9BBE-68196094DBCD}" dt="2026-10-14T10:13:25.412" v="51"/>
          <ac:spMkLst>
            <pc:docMk/>
            <pc:sldMk cId="1938853620" sldId="592"/>
            <ac:spMk id="16" creationId="{6CD0DB46-3CC8-4742-88A9-880FE18C7122}"/>
          </ac:spMkLst>
        </pc:spChg>
        <pc:spChg chg="add del mod">
          <ac:chgData name="Federico De Donatis" userId="83371a07-8c34-4fdc-a9d5-8b5dbf947458" providerId="ADAL" clId="{6CBD7BE2-C963-41D6-9BBE-68196094DBCD}" dt="2026-10-14T10:39:04.702" v="156" actId="478"/>
          <ac:spMkLst>
            <pc:docMk/>
            <pc:sldMk cId="1938853620" sldId="592"/>
            <ac:spMk id="17" creationId="{A404CE62-D3F0-458E-912F-28FD58616E47}"/>
          </ac:spMkLst>
        </pc:spChg>
        <pc:spChg chg="mod">
          <ac:chgData name="Federico De Donatis" userId="83371a07-8c34-4fdc-a9d5-8b5dbf947458" providerId="ADAL" clId="{6CBD7BE2-C963-41D6-9BBE-68196094DBCD}" dt="2026-10-14T10:41:10.254" v="171" actId="20577"/>
          <ac:spMkLst>
            <pc:docMk/>
            <pc:sldMk cId="1938853620" sldId="592"/>
            <ac:spMk id="18" creationId="{8175BDD2-6183-49B3-84AE-248126B5F7C3}"/>
          </ac:spMkLst>
        </pc:spChg>
        <pc:spChg chg="del mod">
          <ac:chgData name="Federico De Donatis" userId="83371a07-8c34-4fdc-a9d5-8b5dbf947458" providerId="ADAL" clId="{6CBD7BE2-C963-41D6-9BBE-68196094DBCD}" dt="2026-10-14T10:42:04.763" v="181" actId="478"/>
          <ac:spMkLst>
            <pc:docMk/>
            <pc:sldMk cId="1938853620" sldId="592"/>
            <ac:spMk id="20" creationId="{FD4874B3-247A-47EB-9B35-730AC47F66E2}"/>
          </ac:spMkLst>
        </pc:spChg>
        <pc:spChg chg="mod">
          <ac:chgData name="Federico De Donatis" userId="83371a07-8c34-4fdc-a9d5-8b5dbf947458" providerId="ADAL" clId="{6CBD7BE2-C963-41D6-9BBE-68196094DBCD}" dt="2026-10-14T10:42:36.754" v="191" actId="20577"/>
          <ac:spMkLst>
            <pc:docMk/>
            <pc:sldMk cId="1938853620" sldId="592"/>
            <ac:spMk id="22" creationId="{376679A9-FBDB-47A6-9257-53A4C1457CAD}"/>
          </ac:spMkLst>
        </pc:spChg>
        <pc:spChg chg="mod">
          <ac:chgData name="Federico De Donatis" userId="83371a07-8c34-4fdc-a9d5-8b5dbf947458" providerId="ADAL" clId="{6CBD7BE2-C963-41D6-9BBE-68196094DBCD}" dt="2026-10-14T10:47:54.036" v="294" actId="1076"/>
          <ac:spMkLst>
            <pc:docMk/>
            <pc:sldMk cId="1938853620" sldId="592"/>
            <ac:spMk id="23" creationId="{CCACC043-5091-49A4-A53D-42302F43865C}"/>
          </ac:spMkLst>
        </pc:spChg>
        <pc:spChg chg="del mod">
          <ac:chgData name="Federico De Donatis" userId="83371a07-8c34-4fdc-a9d5-8b5dbf947458" providerId="ADAL" clId="{6CBD7BE2-C963-41D6-9BBE-68196094DBCD}" dt="2026-10-14T10:43:20.285" v="197" actId="478"/>
          <ac:spMkLst>
            <pc:docMk/>
            <pc:sldMk cId="1938853620" sldId="592"/>
            <ac:spMk id="24" creationId="{0208AD41-0D25-4757-8EA2-7716D9C7DC2B}"/>
          </ac:spMkLst>
        </pc:spChg>
        <pc:spChg chg="del mod">
          <ac:chgData name="Federico De Donatis" userId="83371a07-8c34-4fdc-a9d5-8b5dbf947458" providerId="ADAL" clId="{6CBD7BE2-C963-41D6-9BBE-68196094DBCD}" dt="2026-10-14T10:43:20.285" v="197" actId="478"/>
          <ac:spMkLst>
            <pc:docMk/>
            <pc:sldMk cId="1938853620" sldId="592"/>
            <ac:spMk id="25" creationId="{CBCDF4E6-C041-4DB0-8F80-A2E47A4D53FF}"/>
          </ac:spMkLst>
        </pc:spChg>
        <pc:spChg chg="del mod">
          <ac:chgData name="Federico De Donatis" userId="83371a07-8c34-4fdc-a9d5-8b5dbf947458" providerId="ADAL" clId="{6CBD7BE2-C963-41D6-9BBE-68196094DBCD}" dt="2026-10-14T10:43:20.285" v="197" actId="478"/>
          <ac:spMkLst>
            <pc:docMk/>
            <pc:sldMk cId="1938853620" sldId="592"/>
            <ac:spMk id="26" creationId="{AF6C7D4D-1E23-4A58-AB44-759D5EAA69DA}"/>
          </ac:spMkLst>
        </pc:spChg>
        <pc:spChg chg="mod">
          <ac:chgData name="Federico De Donatis" userId="83371a07-8c34-4fdc-a9d5-8b5dbf947458" providerId="ADAL" clId="{6CBD7BE2-C963-41D6-9BBE-68196094DBCD}" dt="2026-10-14T10:41:19.706" v="177" actId="20577"/>
          <ac:spMkLst>
            <pc:docMk/>
            <pc:sldMk cId="1938853620" sldId="592"/>
            <ac:spMk id="27" creationId="{FE0E57A3-C304-43FA-B5A4-D04F21016D2E}"/>
          </ac:spMkLst>
        </pc:spChg>
        <pc:spChg chg="del">
          <ac:chgData name="Federico De Donatis" userId="83371a07-8c34-4fdc-a9d5-8b5dbf947458" providerId="ADAL" clId="{6CBD7BE2-C963-41D6-9BBE-68196094DBCD}" dt="2026-10-14T10:41:32.183" v="179" actId="478"/>
          <ac:spMkLst>
            <pc:docMk/>
            <pc:sldMk cId="1938853620" sldId="592"/>
            <ac:spMk id="28" creationId="{A7CE57B7-C8E6-41C5-9342-6B97A34E14E4}"/>
          </ac:spMkLst>
        </pc:spChg>
        <pc:spChg chg="add mod">
          <ac:chgData name="Federico De Donatis" userId="83371a07-8c34-4fdc-a9d5-8b5dbf947458" providerId="ADAL" clId="{6CBD7BE2-C963-41D6-9BBE-68196094DBCD}" dt="2026-10-14T10:13:25.416" v="54"/>
          <ac:spMkLst>
            <pc:docMk/>
            <pc:sldMk cId="1938853620" sldId="592"/>
            <ac:spMk id="29" creationId="{0D7A6956-2864-40EC-851E-B24D7A3173BD}"/>
          </ac:spMkLst>
        </pc:spChg>
        <pc:spChg chg="add mod">
          <ac:chgData name="Federico De Donatis" userId="83371a07-8c34-4fdc-a9d5-8b5dbf947458" providerId="ADAL" clId="{6CBD7BE2-C963-41D6-9BBE-68196094DBCD}" dt="2026-10-14T10:13:25.420" v="57"/>
          <ac:spMkLst>
            <pc:docMk/>
            <pc:sldMk cId="1938853620" sldId="592"/>
            <ac:spMk id="30" creationId="{5D4AEC30-9A05-443F-976C-FFB0BA363328}"/>
          </ac:spMkLst>
        </pc:spChg>
        <pc:spChg chg="add mod">
          <ac:chgData name="Federico De Donatis" userId="83371a07-8c34-4fdc-a9d5-8b5dbf947458" providerId="ADAL" clId="{6CBD7BE2-C963-41D6-9BBE-68196094DBCD}" dt="2026-10-14T10:13:25.426" v="60"/>
          <ac:spMkLst>
            <pc:docMk/>
            <pc:sldMk cId="1938853620" sldId="592"/>
            <ac:spMk id="31" creationId="{8FBE8333-98CF-44CB-A9A2-7D2E54A51C2D}"/>
          </ac:spMkLst>
        </pc:spChg>
        <pc:spChg chg="del">
          <ac:chgData name="Federico De Donatis" userId="83371a07-8c34-4fdc-a9d5-8b5dbf947458" providerId="ADAL" clId="{6CBD7BE2-C963-41D6-9BBE-68196094DBCD}" dt="2026-10-14T10:37:34.109" v="144" actId="478"/>
          <ac:spMkLst>
            <pc:docMk/>
            <pc:sldMk cId="1938853620" sldId="592"/>
            <ac:spMk id="153" creationId="{7239974F-2E06-42E0-B698-165785252019}"/>
          </ac:spMkLst>
        </pc:spChg>
        <pc:spChg chg="del">
          <ac:chgData name="Federico De Donatis" userId="83371a07-8c34-4fdc-a9d5-8b5dbf947458" providerId="ADAL" clId="{6CBD7BE2-C963-41D6-9BBE-68196094DBCD}" dt="2026-10-14T10:37:31.510" v="143" actId="478"/>
          <ac:spMkLst>
            <pc:docMk/>
            <pc:sldMk cId="1938853620" sldId="592"/>
            <ac:spMk id="154" creationId="{7239974F-2E06-42E0-B698-165785252019}"/>
          </ac:spMkLst>
        </pc:spChg>
        <pc:spChg chg="del">
          <ac:chgData name="Federico De Donatis" userId="83371a07-8c34-4fdc-a9d5-8b5dbf947458" providerId="ADAL" clId="{6CBD7BE2-C963-41D6-9BBE-68196094DBCD}" dt="2026-10-14T10:37:47.598" v="148" actId="478"/>
          <ac:spMkLst>
            <pc:docMk/>
            <pc:sldMk cId="1938853620" sldId="592"/>
            <ac:spMk id="158" creationId="{7239974F-2E06-42E0-B698-165785252019}"/>
          </ac:spMkLst>
        </pc:spChg>
        <pc:spChg chg="add del mod">
          <ac:chgData name="Federico De Donatis" userId="83371a07-8c34-4fdc-a9d5-8b5dbf947458" providerId="ADAL" clId="{6CBD7BE2-C963-41D6-9BBE-68196094DBCD}" dt="2026-10-14T10:39:13.898" v="157" actId="1076"/>
          <ac:spMkLst>
            <pc:docMk/>
            <pc:sldMk cId="1938853620" sldId="592"/>
            <ac:spMk id="162" creationId="{7239974F-2E06-42E0-B698-165785252019}"/>
          </ac:spMkLst>
        </pc:spChg>
        <pc:spChg chg="add del mod">
          <ac:chgData name="Federico De Donatis" userId="83371a07-8c34-4fdc-a9d5-8b5dbf947458" providerId="ADAL" clId="{6CBD7BE2-C963-41D6-9BBE-68196094DBCD}" dt="2026-10-14T10:43:29.917" v="198" actId="20577"/>
          <ac:spMkLst>
            <pc:docMk/>
            <pc:sldMk cId="1938853620" sldId="592"/>
            <ac:spMk id="163" creationId="{7239974F-2E06-42E0-B698-165785252019}"/>
          </ac:spMkLst>
        </pc:spChg>
        <pc:spChg chg="add del mod">
          <ac:chgData name="Federico De Donatis" userId="83371a07-8c34-4fdc-a9d5-8b5dbf947458" providerId="ADAL" clId="{6CBD7BE2-C963-41D6-9BBE-68196094DBCD}" dt="2026-10-14T10:39:13.898" v="157" actId="1076"/>
          <ac:spMkLst>
            <pc:docMk/>
            <pc:sldMk cId="1938853620" sldId="592"/>
            <ac:spMk id="164" creationId="{7239974F-2E06-42E0-B698-165785252019}"/>
          </ac:spMkLst>
        </pc:spChg>
        <pc:spChg chg="mod">
          <ac:chgData name="Federico De Donatis" userId="83371a07-8c34-4fdc-a9d5-8b5dbf947458" providerId="ADAL" clId="{6CBD7BE2-C963-41D6-9BBE-68196094DBCD}" dt="2026-10-14T10:41:37.926" v="180" actId="1076"/>
          <ac:spMkLst>
            <pc:docMk/>
            <pc:sldMk cId="1938853620" sldId="592"/>
            <ac:spMk id="169" creationId="{7239974F-2E06-42E0-B698-165785252019}"/>
          </ac:spMkLst>
        </pc:spChg>
        <pc:spChg chg="del">
          <ac:chgData name="Federico De Donatis" userId="83371a07-8c34-4fdc-a9d5-8b5dbf947458" providerId="ADAL" clId="{6CBD7BE2-C963-41D6-9BBE-68196094DBCD}" dt="2026-10-14T10:41:28.505" v="178" actId="478"/>
          <ac:spMkLst>
            <pc:docMk/>
            <pc:sldMk cId="1938853620" sldId="592"/>
            <ac:spMk id="170" creationId="{7239974F-2E06-42E0-B698-165785252019}"/>
          </ac:spMkLst>
        </pc:spChg>
      </pc:sldChg>
      <pc:sldChg chg="delSp modSp add mod">
        <pc:chgData name="Federico De Donatis" userId="83371a07-8c34-4fdc-a9d5-8b5dbf947458" providerId="ADAL" clId="{6CBD7BE2-C963-41D6-9BBE-68196094DBCD}" dt="2026-10-14T14:52:07.256" v="741" actId="478"/>
        <pc:sldMkLst>
          <pc:docMk/>
          <pc:sldMk cId="2108289697" sldId="593"/>
        </pc:sldMkLst>
        <pc:spChg chg="mod">
          <ac:chgData name="Federico De Donatis" userId="83371a07-8c34-4fdc-a9d5-8b5dbf947458" providerId="ADAL" clId="{6CBD7BE2-C963-41D6-9BBE-68196094DBCD}" dt="2026-10-14T10:19:57.336" v="78"/>
          <ac:spMkLst>
            <pc:docMk/>
            <pc:sldMk cId="2108289697" sldId="593"/>
            <ac:spMk id="21" creationId="{CDFB7E1D-6063-40B5-140E-BA57A2F21A47}"/>
          </ac:spMkLst>
        </pc:spChg>
        <pc:spChg chg="mod">
          <ac:chgData name="Federico De Donatis" userId="83371a07-8c34-4fdc-a9d5-8b5dbf947458" providerId="ADAL" clId="{6CBD7BE2-C963-41D6-9BBE-68196094DBCD}" dt="2026-10-14T10:22:23.525" v="96" actId="20577"/>
          <ac:spMkLst>
            <pc:docMk/>
            <pc:sldMk cId="2108289697" sldId="593"/>
            <ac:spMk id="152" creationId="{3B94DC28-2993-380F-7DE6-EF768BADF3C0}"/>
          </ac:spMkLst>
        </pc:spChg>
        <pc:spChg chg="mod">
          <ac:chgData name="Federico De Donatis" userId="83371a07-8c34-4fdc-a9d5-8b5dbf947458" providerId="ADAL" clId="{6CBD7BE2-C963-41D6-9BBE-68196094DBCD}" dt="2026-10-14T10:21:10.770" v="87"/>
          <ac:spMkLst>
            <pc:docMk/>
            <pc:sldMk cId="2108289697" sldId="593"/>
            <ac:spMk id="153" creationId="{648BD936-821F-F9C4-7320-40E37AA204FE}"/>
          </ac:spMkLst>
        </pc:spChg>
        <pc:spChg chg="del">
          <ac:chgData name="Federico De Donatis" userId="83371a07-8c34-4fdc-a9d5-8b5dbf947458" providerId="ADAL" clId="{6CBD7BE2-C963-41D6-9BBE-68196094DBCD}" dt="2026-10-14T10:21:09.290" v="86" actId="478"/>
          <ac:spMkLst>
            <pc:docMk/>
            <pc:sldMk cId="2108289697" sldId="593"/>
            <ac:spMk id="155" creationId="{0BE1A09D-C195-41B7-EAB9-215094FB116F}"/>
          </ac:spMkLst>
        </pc:spChg>
        <pc:spChg chg="del">
          <ac:chgData name="Federico De Donatis" userId="83371a07-8c34-4fdc-a9d5-8b5dbf947458" providerId="ADAL" clId="{6CBD7BE2-C963-41D6-9BBE-68196094DBCD}" dt="2026-10-14T10:22:49.802" v="97" actId="478"/>
          <ac:spMkLst>
            <pc:docMk/>
            <pc:sldMk cId="2108289697" sldId="593"/>
            <ac:spMk id="156" creationId="{74AEF62D-4678-DDAE-3233-78C92F51000C}"/>
          </ac:spMkLst>
        </pc:spChg>
        <pc:spChg chg="mod">
          <ac:chgData name="Federico De Donatis" userId="83371a07-8c34-4fdc-a9d5-8b5dbf947458" providerId="ADAL" clId="{6CBD7BE2-C963-41D6-9BBE-68196094DBCD}" dt="2026-10-14T11:08:08.341" v="537" actId="255"/>
          <ac:spMkLst>
            <pc:docMk/>
            <pc:sldMk cId="2108289697" sldId="593"/>
            <ac:spMk id="157" creationId="{1EA0750E-9E82-2D73-A8B1-FB6B562022CF}"/>
          </ac:spMkLst>
        </pc:spChg>
        <pc:spChg chg="mod">
          <ac:chgData name="Federico De Donatis" userId="83371a07-8c34-4fdc-a9d5-8b5dbf947458" providerId="ADAL" clId="{6CBD7BE2-C963-41D6-9BBE-68196094DBCD}" dt="2026-10-14T11:08:33.599" v="541" actId="1076"/>
          <ac:spMkLst>
            <pc:docMk/>
            <pc:sldMk cId="2108289697" sldId="593"/>
            <ac:spMk id="158" creationId="{69A99F9C-F1A6-4C8E-43C9-71A1D23B87A9}"/>
          </ac:spMkLst>
        </pc:spChg>
        <pc:spChg chg="del">
          <ac:chgData name="Federico De Donatis" userId="83371a07-8c34-4fdc-a9d5-8b5dbf947458" providerId="ADAL" clId="{6CBD7BE2-C963-41D6-9BBE-68196094DBCD}" dt="2026-10-14T14:52:03.822" v="740" actId="478"/>
          <ac:spMkLst>
            <pc:docMk/>
            <pc:sldMk cId="2108289697" sldId="593"/>
            <ac:spMk id="165" creationId="{AD7DFC4A-A879-F1BB-3421-4B27FFBEA87D}"/>
          </ac:spMkLst>
        </pc:spChg>
        <pc:spChg chg="del">
          <ac:chgData name="Federico De Donatis" userId="83371a07-8c34-4fdc-a9d5-8b5dbf947458" providerId="ADAL" clId="{6CBD7BE2-C963-41D6-9BBE-68196094DBCD}" dt="2026-10-14T14:52:07.256" v="741" actId="478"/>
          <ac:spMkLst>
            <pc:docMk/>
            <pc:sldMk cId="2108289697" sldId="593"/>
            <ac:spMk id="166" creationId="{EA7294CD-9109-5E8E-BF30-75ADE7D31D18}"/>
          </ac:spMkLst>
        </pc:spChg>
        <pc:spChg chg="del mod">
          <ac:chgData name="Federico De Donatis" userId="83371a07-8c34-4fdc-a9d5-8b5dbf947458" providerId="ADAL" clId="{6CBD7BE2-C963-41D6-9BBE-68196094DBCD}" dt="2026-10-14T14:52:02.139" v="739" actId="478"/>
          <ac:spMkLst>
            <pc:docMk/>
            <pc:sldMk cId="2108289697" sldId="593"/>
            <ac:spMk id="167" creationId="{BABB6CD9-BD82-A604-7DAC-6DB53ABE7C43}"/>
          </ac:spMkLst>
        </pc:spChg>
        <pc:spChg chg="del">
          <ac:chgData name="Federico De Donatis" userId="83371a07-8c34-4fdc-a9d5-8b5dbf947458" providerId="ADAL" clId="{6CBD7BE2-C963-41D6-9BBE-68196094DBCD}" dt="2026-10-14T10:27:06.380" v="140" actId="478"/>
          <ac:spMkLst>
            <pc:docMk/>
            <pc:sldMk cId="2108289697" sldId="593"/>
            <ac:spMk id="168" creationId="{98D8A1E9-5078-CD40-80AD-DB73252EC9A9}"/>
          </ac:spMkLst>
        </pc:spChg>
      </pc:sldChg>
      <pc:sldChg chg="delSp modSp add mod">
        <pc:chgData name="Federico De Donatis" userId="83371a07-8c34-4fdc-a9d5-8b5dbf947458" providerId="ADAL" clId="{6CBD7BE2-C963-41D6-9BBE-68196094DBCD}" dt="2026-10-14T14:52:24.602" v="742" actId="20577"/>
        <pc:sldMkLst>
          <pc:docMk/>
          <pc:sldMk cId="345383809" sldId="594"/>
        </pc:sldMkLst>
        <pc:spChg chg="mod">
          <ac:chgData name="Federico De Donatis" userId="83371a07-8c34-4fdc-a9d5-8b5dbf947458" providerId="ADAL" clId="{6CBD7BE2-C963-41D6-9BBE-68196094DBCD}" dt="2026-10-14T10:54:43.866" v="316" actId="1076"/>
          <ac:spMkLst>
            <pc:docMk/>
            <pc:sldMk cId="345383809" sldId="594"/>
            <ac:spMk id="8" creationId="{DB872ED7-036F-AD97-E32F-DA16D3652CA7}"/>
          </ac:spMkLst>
        </pc:spChg>
        <pc:spChg chg="mod">
          <ac:chgData name="Federico De Donatis" userId="83371a07-8c34-4fdc-a9d5-8b5dbf947458" providerId="ADAL" clId="{6CBD7BE2-C963-41D6-9BBE-68196094DBCD}" dt="2026-10-14T11:05:31.291" v="479" actId="20577"/>
          <ac:spMkLst>
            <pc:docMk/>
            <pc:sldMk cId="345383809" sldId="594"/>
            <ac:spMk id="15" creationId="{08F305CF-6F84-9627-3E0D-B954D4092E71}"/>
          </ac:spMkLst>
        </pc:spChg>
        <pc:spChg chg="del">
          <ac:chgData name="Federico De Donatis" userId="83371a07-8c34-4fdc-a9d5-8b5dbf947458" providerId="ADAL" clId="{6CBD7BE2-C963-41D6-9BBE-68196094DBCD}" dt="2026-10-14T10:56:59.732" v="340" actId="478"/>
          <ac:spMkLst>
            <pc:docMk/>
            <pc:sldMk cId="345383809" sldId="594"/>
            <ac:spMk id="16" creationId="{27A1CADE-BDCB-338B-ABAE-FC79FC972F53}"/>
          </ac:spMkLst>
        </pc:spChg>
        <pc:spChg chg="mod">
          <ac:chgData name="Federico De Donatis" userId="83371a07-8c34-4fdc-a9d5-8b5dbf947458" providerId="ADAL" clId="{6CBD7BE2-C963-41D6-9BBE-68196094DBCD}" dt="2026-10-14T11:21:44.387" v="632" actId="20577"/>
          <ac:spMkLst>
            <pc:docMk/>
            <pc:sldMk cId="345383809" sldId="594"/>
            <ac:spMk id="22" creationId="{D9574212-5430-2E66-B236-0736B1E0E39D}"/>
          </ac:spMkLst>
        </pc:spChg>
        <pc:spChg chg="mod">
          <ac:chgData name="Federico De Donatis" userId="83371a07-8c34-4fdc-a9d5-8b5dbf947458" providerId="ADAL" clId="{6CBD7BE2-C963-41D6-9BBE-68196094DBCD}" dt="2026-10-14T11:16:05.676" v="606" actId="1076"/>
          <ac:spMkLst>
            <pc:docMk/>
            <pc:sldMk cId="345383809" sldId="594"/>
            <ac:spMk id="23" creationId="{7C789797-7295-F5CA-0CB6-FDA54D4F7BC8}"/>
          </ac:spMkLst>
        </pc:spChg>
        <pc:spChg chg="mod">
          <ac:chgData name="Federico De Donatis" userId="83371a07-8c34-4fdc-a9d5-8b5dbf947458" providerId="ADAL" clId="{6CBD7BE2-C963-41D6-9BBE-68196094DBCD}" dt="2026-10-14T11:05:48.645" v="536" actId="20577"/>
          <ac:spMkLst>
            <pc:docMk/>
            <pc:sldMk cId="345383809" sldId="594"/>
            <ac:spMk id="27" creationId="{4BCA2057-E864-D442-48CA-B1E61DC91CD5}"/>
          </ac:spMkLst>
        </pc:spChg>
        <pc:spChg chg="del">
          <ac:chgData name="Federico De Donatis" userId="83371a07-8c34-4fdc-a9d5-8b5dbf947458" providerId="ADAL" clId="{6CBD7BE2-C963-41D6-9BBE-68196094DBCD}" dt="2026-10-14T10:57:05.744" v="341" actId="478"/>
          <ac:spMkLst>
            <pc:docMk/>
            <pc:sldMk cId="345383809" sldId="594"/>
            <ac:spMk id="29" creationId="{601F7812-6B40-BDA5-E92A-C9C50259A44E}"/>
          </ac:spMkLst>
        </pc:spChg>
        <pc:spChg chg="del">
          <ac:chgData name="Federico De Donatis" userId="83371a07-8c34-4fdc-a9d5-8b5dbf947458" providerId="ADAL" clId="{6CBD7BE2-C963-41D6-9BBE-68196094DBCD}" dt="2026-10-14T10:57:07.894" v="342" actId="478"/>
          <ac:spMkLst>
            <pc:docMk/>
            <pc:sldMk cId="345383809" sldId="594"/>
            <ac:spMk id="30" creationId="{0FCB6736-AE7F-FBB2-A194-1D1BAB62D7F5}"/>
          </ac:spMkLst>
        </pc:spChg>
        <pc:spChg chg="del">
          <ac:chgData name="Federico De Donatis" userId="83371a07-8c34-4fdc-a9d5-8b5dbf947458" providerId="ADAL" clId="{6CBD7BE2-C963-41D6-9BBE-68196094DBCD}" dt="2026-10-14T10:57:12.413" v="343" actId="478"/>
          <ac:spMkLst>
            <pc:docMk/>
            <pc:sldMk cId="345383809" sldId="594"/>
            <ac:spMk id="31" creationId="{7908DB1F-F9D4-E36C-F012-1F74E35863EA}"/>
          </ac:spMkLst>
        </pc:spChg>
        <pc:spChg chg="mod">
          <ac:chgData name="Federico De Donatis" userId="83371a07-8c34-4fdc-a9d5-8b5dbf947458" providerId="ADAL" clId="{6CBD7BE2-C963-41D6-9BBE-68196094DBCD}" dt="2026-10-14T11:19:05.553" v="622" actId="113"/>
          <ac:spMkLst>
            <pc:docMk/>
            <pc:sldMk cId="345383809" sldId="594"/>
            <ac:spMk id="162" creationId="{36CEECBE-D464-A77A-AE9A-767258B7BCC6}"/>
          </ac:spMkLst>
        </pc:spChg>
        <pc:spChg chg="mod">
          <ac:chgData name="Federico De Donatis" userId="83371a07-8c34-4fdc-a9d5-8b5dbf947458" providerId="ADAL" clId="{6CBD7BE2-C963-41D6-9BBE-68196094DBCD}" dt="2026-10-14T11:19:24.255" v="624" actId="113"/>
          <ac:spMkLst>
            <pc:docMk/>
            <pc:sldMk cId="345383809" sldId="594"/>
            <ac:spMk id="163" creationId="{9FB20F71-F16E-02C8-BEF3-0295F6D66113}"/>
          </ac:spMkLst>
        </pc:spChg>
        <pc:spChg chg="del">
          <ac:chgData name="Federico De Donatis" userId="83371a07-8c34-4fdc-a9d5-8b5dbf947458" providerId="ADAL" clId="{6CBD7BE2-C963-41D6-9BBE-68196094DBCD}" dt="2026-10-14T10:44:03.999" v="200" actId="478"/>
          <ac:spMkLst>
            <pc:docMk/>
            <pc:sldMk cId="345383809" sldId="594"/>
            <ac:spMk id="164" creationId="{AA7968B5-D5CF-32BD-45A7-979C3EB2A4BA}"/>
          </ac:spMkLst>
        </pc:spChg>
        <pc:spChg chg="mod">
          <ac:chgData name="Federico De Donatis" userId="83371a07-8c34-4fdc-a9d5-8b5dbf947458" providerId="ADAL" clId="{6CBD7BE2-C963-41D6-9BBE-68196094DBCD}" dt="2026-10-14T11:05:08.846" v="459" actId="255"/>
          <ac:spMkLst>
            <pc:docMk/>
            <pc:sldMk cId="345383809" sldId="594"/>
            <ac:spMk id="169" creationId="{770BB235-7C24-988B-8EA5-E99F2D533F5F}"/>
          </ac:spMkLst>
        </pc:spChg>
        <pc:spChg chg="mod">
          <ac:chgData name="Federico De Donatis" userId="83371a07-8c34-4fdc-a9d5-8b5dbf947458" providerId="ADAL" clId="{6CBD7BE2-C963-41D6-9BBE-68196094DBCD}" dt="2026-10-14T14:52:24.602" v="742" actId="20577"/>
          <ac:spMkLst>
            <pc:docMk/>
            <pc:sldMk cId="345383809" sldId="594"/>
            <ac:spMk id="175" creationId="{96E64EC6-3DA3-8F50-5D85-D0968B80F907}"/>
          </ac:spMkLst>
        </pc:spChg>
      </pc:sldChg>
      <pc:sldChg chg="add ord">
        <pc:chgData name="Federico De Donatis" userId="83371a07-8c34-4fdc-a9d5-8b5dbf947458" providerId="ADAL" clId="{6CBD7BE2-C963-41D6-9BBE-68196094DBCD}" dt="2026-10-14T13:34:27.050" v="693"/>
        <pc:sldMkLst>
          <pc:docMk/>
          <pc:sldMk cId="3078740437" sldId="595"/>
        </pc:sldMkLst>
      </pc:sldChg>
    </pc:docChg>
  </pc:docChgLst>
</pc:chgInfo>
</file>

<file path=ppt/comments/modernComment_21A_2330BDD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2BECFE4-A010-467B-B4CE-7DB728EB1BBB}" authorId="{8B7364AA-8F0A-C579-A9B1-BF6AF1F986D3}" created="2026-10-12T12:37:14.815">
    <pc:sldMkLst xmlns:pc="http://schemas.microsoft.com/office/powerpoint/2013/main/command">
      <pc:docMk/>
      <pc:sldMk cId="590396893" sldId="538"/>
    </pc:sldMkLst>
    <p188:txBody>
      <a:bodyPr/>
      <a:lstStyle/>
      <a:p>
        <a:r>
          <a:rPr lang="it-IT"/>
          <a:t>Da finire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14T06:42:52.170" authorId="{7C951B0A-B001-02A1-36BC-9C7639ABFEF5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B7448-D3CB-47F4-82A6-5D1A1BE72E51}" type="datetimeFigureOut">
              <a:rPr lang="it-IT" smtClean="0"/>
              <a:t>18/10/2026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29D6-24D4-489C-B967-48EE3CBF84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928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3C4C2-18D7-3907-A04C-7CF64E4F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otes">
            <a:extLst>
              <a:ext uri="{FF2B5EF4-FFF2-40B4-BE49-F238E27FC236}">
                <a16:creationId xmlns:a16="http://schemas.microsoft.com/office/drawing/2014/main" id="{4B889B7E-D3AC-B5C4-37B7-83788DB75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~90 seconds. Define gyro measurement omega_m=omega+b_g+n_g in rad/s; the code receives vehicle_imu.delta_angle in radians, dt=delta_angle_dt·10^-6 seconds, then forms measured rate dangle/dt after deliberately adding kDemoYawBiasRadS·dt to its z increment (+0.5 degree/s for the demo). Let delta-b=b_true-b_hat, q_true≈q_hat⊗delta_q(delta-theta), and omega_hat=omega_m-b_hat. With a right-multiplicative BODY-frame small error, differentiating q_true=q_hat⊗delta_q and keeping first-order terms yields delta-dot-theta≈-[omega_hat]_cross delta-theta-delta-b-n_g; bias error is modelled as a random walk, delta-dot-b≈w_b. Thus A=[-[omega_hat]_cross,-I3;0,0], the upper-right -I3 dt in F makes bias error accumulate as attitude error. The actual implementation constructs F by subtracting skew(rate)·dt in its upper-left block and setting F[i][i+3]=-dt. It uses F≈I+A dt and P_minus=F P_plus F^T+Q_k; Q_k is a first-order diagonal approximation, not an exact matrix exponential/discretization. The nominal estimate uses q_hat_minus=q_hat_plus⊗Exp_q(omega_hat dt), implemented with Q4::delta(rate*dt) and normalization in AttitudeFilter::predict(). The body-to-NED quaternion is unit norm; Exp_q(dtheta)=[cos(|dtheta|/2),sin(|dtheta|/2) dtheta/|dtheta|], with its small-angle branch. Bias estimate is held constant in prediction. This is kinematics driven by measured angular motion: no rigid-body inertia or torque equation.</a:t>
            </a:r>
          </a:p>
          <a:p>
            <a:r>
              <a:rPr lang="en-GB"/>
              <a:t>DERIVATION — RIGHT-MULTIPLICATIVE BODY ERROR</a:t>
            </a:r>
          </a:p>
          <a:p>
            <a:r>
              <a:rPr lang="en-GB"/>
              <a:t>R_true = R_hat Exp([δθ]×), E = R_hatᵀ R_true ≃ I + [δθ]×. Here R maps BODY/FRD to NED, and δθ is a BODY-frame right-multiplicative local error. With Ṙ_true = R_true[ω_true]× and Ṙ_hat = R_hat[ω_hat]×, differentiating E gives Ė = −[ω_hat]× E + E[ω_true]× exactly.</a:t>
            </a:r>
          </a:p>
          <a:p>
            <a:r>
              <a:rPr lang="en-GB"/>
              <a:t>The measured gyro reads ω_m = ω_true + b_g,true + n_g, while ω_hat = ω_m − b_hat_g. Define δb_g = b_g,true − b_hat_g; therefore ω_true = ω_hat − δb_g − n_g. Substitute E ≃ I+[δθ]× into Ė and retain first-order terms: [δθ̇]× = −[ω_hat]×[δθ]× + [δθ]×[ω_hat]× − [δb_g+n_g]× = −[ω_hat×δθ]× − [δb_g+n_g]×.</a:t>
            </a:r>
          </a:p>
          <a:p>
            <a:r>
              <a:rPr lang="en-GB"/>
              <a:t>Consequently δθ̇ = −[ω_hat]×δθ − δb_g − n_g. If the nominal bias is held constant and true bias is a random walk, δḃ_g = w_b. For δx=[δθ;δb_g], A has 3×3 blocks Aθθ=−[ω_hat]×, Aθb=−I₃, Abθ=0, Abb=0; w=[−n_g;w_b]. The upper-right minus sign follows δb_g=b_true−b_hat: overestimating bias lowers ω_hat and makes the true-minus-nominal attitude error grow. Left-multiplicative or nominal-minus-true error conventions change signs; do not mix them. F≈I₆+AΔt and P⁻=FP⁺Fᵀ+Q are covariance prediction, not propagation of the unknown true δx.</a:t>
            </a:r>
          </a:p>
        </p:txBody>
      </p:sp>
    </p:spTree>
    <p:extLst>
      <p:ext uri="{BB962C8B-B14F-4D97-AF65-F5344CB8AC3E}">
        <p14:creationId xmlns:p14="http://schemas.microsoft.com/office/powerpoint/2010/main" val="2112710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~75 seconds. An accelerometer senses specific force f^B=R(q)^T(a^N-g^N), not acceleration a^N directly: at rest in NED g^N=(0,0,+9.80665 m/s²) and a^N≈0, so f^B≈-R(q)^T g^N. Code bridge: attitude_lab.cpp constructs specific_force=imu.delta_velocity/dt_acc, where dt_acc=imu.delta_velocity_dt×10^-6 s; attitude_filter.hpp correct_accel() forms z_a=f^B/||f^B|| and h_a(q_hat)=q_hat.inverse_rotate((0,0,-1))=R(q_hat)^T(0,0,-1). For right-multiplicative q_true≈q_hat⊗delta_q(delta-theta), R(q_true)^T g≈(I-[delta-theta]_cross)h≈h+[h]_cross delta-theta, giving H_a=[[h_a]_cross,0_(3×3)] with a positive skew(h) block, exactly the implemented update_vector() Jacobian. The innovation is nu_a=z_a-h_a. Gravity is invariant to rotations about its own direction, so this observation alone does not fix yaw. The implementation rejects ||f|| outside [0.85g,1.15g] and normalized innovation norm &gt;0.7; these are heuristic gates and do not prove absence of translational acceleration. During acceleration, a^N is nonzero and interpreting normalized specific force as gravity biases tilt. R(q) is a rotation matrix, while R_a denotes measurement noise covariance; q_hat^- and q_hat^+ are pre- and post-correction estimates. The 0.07²I₃ covariance is in normalized-vector units, not (m/s²)².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5F684-686A-8151-C4BD-6187E280E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otes">
            <a:extLst>
              <a:ext uri="{FF2B5EF4-FFF2-40B4-BE49-F238E27FC236}">
                <a16:creationId xmlns:a16="http://schemas.microsoft.com/office/drawing/2014/main" id="{99F9F9BC-7AAA-D02D-5271-1007D23A7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~75 seconds. An accelerometer senses specific force f^B=R(q)^T(a^N-g^N), not acceleration a^N directly: at rest in NED g^N=(0,0,+9.80665 m/s²) and a^N≈0, so f^B≈-R(q)^T g^N. Code bridge: attitude_lab.cpp constructs specific_force=imu.delta_velocity/dt_acc, where dt_acc=imu.delta_velocity_dt×10^-6 s; attitude_filter.hpp correct_accel() forms z_a=f^B/||f^B|| and h_a(q_hat)=q_hat.inverse_rotate((0,0,-1))=R(q_hat)^T(0,0,-1). For right-multiplicative q_true≈q_hat⊗delta_q(delta-theta), R(q_true)^T g≈(I-[delta-theta]_cross)h≈h+[h]_cross delta-theta, giving H_a=[[h_a]_cross,0_(3×3)] with a positive skew(h) block, exactly the implemented update_vector() Jacobian. The innovation is nu_a=z_a-h_a. Gravity is invariant to rotations about its own direction, so this observation alone does not fix yaw. The implementation rejects ||f|| outside [0.85g,1.15g] and normalized innovation norm &gt;0.7; these are heuristic gates and do not prove absence of translational acceleration. During acceleration, a^N is nonzero and interpreting normalized specific force as gravity biases tilt. R(q) is a rotation matrix, while R_a denotes measurement noise covariance; q_hat^- and q_hat^+ are pre- and post-correction estimates. The 0.07²I₃ covariance is in normalized-vector units, not (m/s²)².</a:t>
            </a:r>
          </a:p>
        </p:txBody>
      </p:sp>
    </p:spTree>
    <p:extLst>
      <p:ext uri="{BB962C8B-B14F-4D97-AF65-F5344CB8AC3E}">
        <p14:creationId xmlns:p14="http://schemas.microsoft.com/office/powerpoint/2010/main" val="1960769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~90 seconds. For either unit-vector observation, residual nu=z-h(q_hat^-), H=[[h]_cross,0] has size 3×6, covariance P^- is 6×6 and R is 3×3, so innovation covariance S=H P^- H^T+R is 3×3. Gain K=P^- H^T S^-1 is 6×3; delta-x_hat=K nu splits into delta-theta_hat (first three) and delta-b_hat (last three). In attitude_filter.hpp update_vector(), ekf=ekf*Q4::delta(delta-theta_hat), normalize, bias=bias+delta-b_hat. The attitude correction is clipped to magnitude 0.25 rad to preserve the local approximation. For numerical stability covariance is first updated by Joseph form P_J=(I-KH)P^-(I-KH)^T+K R K^T (code variable M and N). After injecting the error, reset its mean to zero and transform covariance with reset Jacobian G≈diag(I3−0.5[delta-theta_hat]_cross,I3); the implementation symmetrizes P=0.5(G P_J G^T+(G P_J G^T)^T). Verify source values: constructor P0=diag(0.15²I3,0.04²I3); predict() Q_k=diag((0.02² Δt)I3,(0.002² Δt)I3); correct_accel() passes sigma=0.07, correct_mag() sigma=0.08, so R_a=0.07²I3, R_m=0.08²I3. Q is a first-order discrete approximation to diagonal spectral densities, with no cross-terms; the values are educational guesses, not sensor statistics identified from Allan variance, datasheets or SITL recordings. Both observation vectors are normalized, hence R_a and R_m apply to unit-vector residuals, not raw m/s² or Gauss. Proper engineering tuning compares innovation consistency and ground-truth attitude/bias in controlled SITL cases after sensor characterization. Distinguish R(q) rotation from R_a/R_m covariance, and predicted x_hat^- from corrected x_hat^+.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7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0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sv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6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gif"/><Relationship Id="rId4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62.png"/><Relationship Id="rId4" Type="http://schemas.openxmlformats.org/officeDocument/2006/relationships/image" Target="../media/image8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microsoft.com/office/2018/10/relationships/comments" Target="../comments/modernComment_21A_2330BDDD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7.jpe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7.jpe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7.jpe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sv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23362" y="3451504"/>
            <a:ext cx="18552543" cy="35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1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Autonomous Drones and Perception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4561654" y="8394375"/>
            <a:ext cx="3593607" cy="790594"/>
          </a:xfrm>
          <a:custGeom>
            <a:avLst/>
            <a:gdLst/>
            <a:ahLst/>
            <a:cxnLst/>
            <a:rect l="l" t="t" r="r" b="b"/>
            <a:pathLst>
              <a:path w="3593607" h="790594">
                <a:moveTo>
                  <a:pt x="0" y="0"/>
                </a:moveTo>
                <a:lnTo>
                  <a:pt x="3593607" y="0"/>
                </a:lnTo>
                <a:lnTo>
                  <a:pt x="3593607" y="790593"/>
                </a:lnTo>
                <a:lnTo>
                  <a:pt x="0" y="790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8525312" y="7875763"/>
            <a:ext cx="4217583" cy="1559284"/>
          </a:xfrm>
          <a:custGeom>
            <a:avLst/>
            <a:gdLst/>
            <a:ahLst/>
            <a:cxnLst/>
            <a:rect l="l" t="t" r="r" b="b"/>
            <a:pathLst>
              <a:path w="4217583" h="1559284">
                <a:moveTo>
                  <a:pt x="0" y="0"/>
                </a:moveTo>
                <a:lnTo>
                  <a:pt x="4217583" y="0"/>
                </a:lnTo>
                <a:lnTo>
                  <a:pt x="4217583" y="1559284"/>
                </a:lnTo>
                <a:lnTo>
                  <a:pt x="0" y="1559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1" name="Group 11"/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-195325" y="2994438"/>
            <a:ext cx="8720638" cy="430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2"/>
              </a:lnSpc>
              <a:spcBef>
                <a:spcPct val="0"/>
              </a:spcBef>
            </a:pPr>
            <a:r>
              <a:rPr lang="en-US" sz="2523">
                <a:solidFill>
                  <a:srgbClr val="FFFFFF"/>
                </a:solidFill>
                <a:latin typeface="Montserrat 2"/>
                <a:ea typeface="Montserrat 2"/>
                <a:cs typeface="Montserrat 2"/>
                <a:sym typeface="Montserrat 2"/>
              </a:rPr>
              <a:t>[R]overTech x Polispace x Suncubes Workshop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00920" y="8273498"/>
            <a:ext cx="6939843" cy="106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59"/>
              </a:lnSpc>
            </a:pPr>
            <a:r>
              <a:rPr lang="en-US" sz="3042">
                <a:solidFill>
                  <a:srgbClr val="FFFFFF"/>
                </a:solidFill>
                <a:latin typeface="Montserrat 2"/>
                <a:ea typeface="Montserrat 2"/>
                <a:cs typeface="Montserrat 2"/>
                <a:sym typeface="Montserrat 2"/>
              </a:rPr>
              <a:t>Federico De Donatis</a:t>
            </a:r>
          </a:p>
          <a:p>
            <a:pPr algn="r">
              <a:lnSpc>
                <a:spcPts val="4259"/>
              </a:lnSpc>
              <a:spcBef>
                <a:spcPct val="0"/>
              </a:spcBef>
            </a:pPr>
            <a:r>
              <a:rPr lang="en-US" sz="3042">
                <a:solidFill>
                  <a:srgbClr val="FFFFFF"/>
                </a:solidFill>
                <a:latin typeface="Montserrat 2"/>
                <a:ea typeface="Montserrat 2"/>
                <a:cs typeface="Montserrat 2"/>
                <a:sym typeface="Montserrat 2"/>
              </a:rPr>
              <a:t>Luca Attorrese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64295" y="7875763"/>
            <a:ext cx="3120720" cy="1827817"/>
            <a:chOff x="0" y="0"/>
            <a:chExt cx="4160961" cy="243709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950887"/>
              <a:ext cx="4160961" cy="486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60"/>
                </a:lnSpc>
              </a:pPr>
              <a:r>
                <a:rPr lang="en-US" sz="1971">
                  <a:solidFill>
                    <a:srgbClr val="FF6301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1971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3484" y="-381000"/>
              <a:ext cx="2993992" cy="24176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52"/>
                </a:lnSpc>
              </a:pPr>
              <a:r>
                <a:rPr lang="en-US" sz="10037" spc="1515">
                  <a:solidFill>
                    <a:srgbClr val="FF6300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[ 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6285" y="-87005"/>
              <a:ext cx="1808391" cy="1905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1030"/>
                </a:lnSpc>
                <a:spcBef>
                  <a:spcPct val="0"/>
                </a:spcBef>
              </a:pPr>
              <a:r>
                <a:rPr lang="en-US" sz="7879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662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23362" y="3451504"/>
            <a:ext cx="18552543" cy="35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FROM MEASUREMENTS
TO ATTITUDE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9" name="TextBox 9"/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415322" y="2890967"/>
            <a:ext cx="8720638" cy="546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sz="3223" b="1">
                <a:solidFill>
                  <a:srgbClr val="FFFFFF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Lesson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49797" y="7545419"/>
            <a:ext cx="15512388" cy="513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59"/>
              </a:lnSpc>
              <a:spcBef>
                <a:spcPct val="0"/>
              </a:spcBef>
            </a:pPr>
            <a:r>
              <a:rPr lang="en-US" sz="3042">
                <a:solidFill>
                  <a:srgbClr val="FFFFFF"/>
                </a:solidFill>
                <a:latin typeface="Montserrat 2"/>
                <a:ea typeface="Montserrat 2"/>
                <a:cs typeface="Montserrat 2"/>
                <a:sym typeface="Montserrat 2"/>
              </a:rPr>
              <a:t>Sensors, Observability and Sensor Fusion</a:t>
            </a:r>
          </a:p>
        </p:txBody>
      </p:sp>
    </p:spTree>
    <p:extLst>
      <p:ext uri="{BB962C8B-B14F-4D97-AF65-F5344CB8AC3E}">
        <p14:creationId xmlns:p14="http://schemas.microsoft.com/office/powerpoint/2010/main" val="2124597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149213" y="2980144"/>
            <a:ext cx="7771211" cy="853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4"/>
              </a:lnSpc>
            </a:pPr>
            <a:r>
              <a:rPr lang="en-US" sz="5010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Federico De Donatis</a:t>
            </a:r>
          </a:p>
        </p:txBody>
      </p:sp>
      <p:sp>
        <p:nvSpPr>
          <p:cNvPr id="4" name="Freeform 4"/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0" y="-25121"/>
            <a:ext cx="18288000" cy="2118431"/>
            <a:chOff x="0" y="0"/>
            <a:chExt cx="4816593" cy="5579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57941"/>
            </a:xfrm>
            <a:custGeom>
              <a:avLst/>
              <a:gdLst/>
              <a:ahLst/>
              <a:cxnLst/>
              <a:rect l="l" t="t" r="r" b="b"/>
              <a:pathLst>
                <a:path w="4816592" h="557941">
                  <a:moveTo>
                    <a:pt x="0" y="0"/>
                  </a:moveTo>
                  <a:lnTo>
                    <a:pt x="4816592" y="0"/>
                  </a:lnTo>
                  <a:lnTo>
                    <a:pt x="4816592" y="557941"/>
                  </a:lnTo>
                  <a:lnTo>
                    <a:pt x="0" y="557941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596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40991" y="7999403"/>
            <a:ext cx="8218355" cy="47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  <a:spcBef>
                <a:spcPct val="0"/>
              </a:spcBef>
            </a:pPr>
            <a:r>
              <a:rPr lang="en-US" sz="2771" b="1">
                <a:solidFill>
                  <a:srgbClr val="FFFFFF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Systems architecture &amp; avionics integration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4864" y="219458"/>
            <a:ext cx="18288000" cy="146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7"/>
              </a:lnSpc>
              <a:spcBef>
                <a:spcPct val="0"/>
              </a:spcBef>
            </a:pPr>
            <a:r>
              <a:rPr lang="en-US" sz="8605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Your Speakers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6328" y="7999403"/>
            <a:ext cx="7982707" cy="47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7"/>
              </a:lnSpc>
              <a:spcBef>
                <a:spcPct val="0"/>
              </a:spcBef>
            </a:pPr>
            <a:r>
              <a:rPr lang="en-US" sz="2769" b="1">
                <a:solidFill>
                  <a:srgbClr val="FFFFFF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Robotics and perception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67575" y="2980144"/>
            <a:ext cx="7771211" cy="853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4"/>
              </a:lnSpc>
            </a:pPr>
            <a:r>
              <a:rPr lang="en-US" sz="5010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Luca </a:t>
            </a:r>
            <a:r>
              <a:rPr lang="en-US" sz="5010" b="1" err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Attorrese</a:t>
            </a:r>
            <a:endParaRPr lang="en-US" sz="5010" b="1">
              <a:solidFill>
                <a:srgbClr val="FF6300"/>
              </a:solidFill>
              <a:latin typeface="Montserrat 2 Bold"/>
              <a:ea typeface="Montserrat 2 Bold"/>
              <a:cs typeface="Montserrat 2 Bold"/>
              <a:sym typeface="Montserrat 2 Bold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C6CD0F-C8AF-4340-981B-70F5BBAC0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9084" y="4007091"/>
            <a:ext cx="3711468" cy="37114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1FBACB-1AAF-6205-A9A9-E1FA7F558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7446" y="4007091"/>
            <a:ext cx="3711468" cy="371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83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4C08-DFAF-55C9-1086-D8F33FC7A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7128E9-6567-F8F4-6BE2-10462FE86412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E459AE-E35B-52D9-32FF-57419353EFC6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26875A1-C631-EE35-19B0-39C02EB88F94}"/>
              </a:ext>
            </a:extLst>
          </p:cNvPr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9A89D87-5A0A-F115-808E-184F442D5A12}"/>
                </a:ext>
              </a:extLst>
            </p:cNvPr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09BC274-DA0C-5B11-5E3F-0B40FDCE29DC}"/>
              </a:ext>
            </a:extLst>
          </p:cNvPr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03E22C2-9B60-883C-885B-90D9D77232CD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E5A319D-45D8-1B72-01B3-EDEBD8083AF1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7DD93205-9BAC-A331-0052-BC4D2D3E817F}"/>
              </a:ext>
            </a:extLst>
          </p:cNvPr>
          <p:cNvSpPr txBox="1"/>
          <p:nvPr/>
        </p:nvSpPr>
        <p:spPr>
          <a:xfrm>
            <a:off x="228600" y="428758"/>
            <a:ext cx="7848600" cy="1426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Material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46B285-C091-5A27-3280-BD3A09A65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325" y="3660722"/>
            <a:ext cx="3027338" cy="2965555"/>
          </a:xfrm>
          <a:prstGeom prst="rect">
            <a:avLst/>
          </a:prstGeom>
        </p:spPr>
      </p:pic>
      <p:sp>
        <p:nvSpPr>
          <p:cNvPr id="17" name="TextBox 9">
            <a:extLst>
              <a:ext uri="{FF2B5EF4-FFF2-40B4-BE49-F238E27FC236}">
                <a16:creationId xmlns:a16="http://schemas.microsoft.com/office/drawing/2014/main" id="{63F5F47F-045C-3E7D-BDD1-BDFF07810C12}"/>
              </a:ext>
            </a:extLst>
          </p:cNvPr>
          <p:cNvSpPr txBox="1"/>
          <p:nvPr/>
        </p:nvSpPr>
        <p:spPr>
          <a:xfrm>
            <a:off x="1038981" y="7129029"/>
            <a:ext cx="16210027" cy="1426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 b="1" err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FedericoDD</a:t>
            </a:r>
            <a:r>
              <a:rPr lang="en-US" sz="8600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/workshop-PX4/</a:t>
            </a:r>
          </a:p>
        </p:txBody>
      </p:sp>
    </p:spTree>
    <p:extLst>
      <p:ext uri="{BB962C8B-B14F-4D97-AF65-F5344CB8AC3E}">
        <p14:creationId xmlns:p14="http://schemas.microsoft.com/office/powerpoint/2010/main" val="459866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0" y="-25121"/>
            <a:ext cx="18288000" cy="2118431"/>
            <a:chOff x="0" y="0"/>
            <a:chExt cx="4816593" cy="5579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57941"/>
            </a:xfrm>
            <a:custGeom>
              <a:avLst/>
              <a:gdLst/>
              <a:ahLst/>
              <a:cxnLst/>
              <a:rect l="l" t="t" r="r" b="b"/>
              <a:pathLst>
                <a:path w="4816592" h="557941">
                  <a:moveTo>
                    <a:pt x="0" y="0"/>
                  </a:moveTo>
                  <a:lnTo>
                    <a:pt x="4816592" y="0"/>
                  </a:lnTo>
                  <a:lnTo>
                    <a:pt x="4816592" y="557941"/>
                  </a:lnTo>
                  <a:lnTo>
                    <a:pt x="0" y="557941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596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5177" y="3459531"/>
            <a:ext cx="4659691" cy="4918041"/>
            <a:chOff x="0" y="0"/>
            <a:chExt cx="1227244" cy="12952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7244" cy="1295287"/>
            </a:xfrm>
            <a:custGeom>
              <a:avLst/>
              <a:gdLst/>
              <a:ahLst/>
              <a:cxnLst/>
              <a:rect l="l" t="t" r="r" b="b"/>
              <a:pathLst>
                <a:path w="1227244" h="1295287">
                  <a:moveTo>
                    <a:pt x="84735" y="0"/>
                  </a:moveTo>
                  <a:lnTo>
                    <a:pt x="1142509" y="0"/>
                  </a:lnTo>
                  <a:cubicBezTo>
                    <a:pt x="1164982" y="0"/>
                    <a:pt x="1186534" y="8927"/>
                    <a:pt x="1202425" y="24818"/>
                  </a:cubicBezTo>
                  <a:cubicBezTo>
                    <a:pt x="1218316" y="40709"/>
                    <a:pt x="1227244" y="62262"/>
                    <a:pt x="1227244" y="84735"/>
                  </a:cubicBezTo>
                  <a:lnTo>
                    <a:pt x="1227244" y="1210552"/>
                  </a:lnTo>
                  <a:cubicBezTo>
                    <a:pt x="1227244" y="1257350"/>
                    <a:pt x="1189307" y="1295287"/>
                    <a:pt x="1142509" y="1295287"/>
                  </a:cubicBezTo>
                  <a:lnTo>
                    <a:pt x="84735" y="1295287"/>
                  </a:lnTo>
                  <a:cubicBezTo>
                    <a:pt x="37937" y="1295287"/>
                    <a:pt x="0" y="1257350"/>
                    <a:pt x="0" y="1210552"/>
                  </a:cubicBezTo>
                  <a:lnTo>
                    <a:pt x="0" y="84735"/>
                  </a:lnTo>
                  <a:cubicBezTo>
                    <a:pt x="0" y="37937"/>
                    <a:pt x="37937" y="0"/>
                    <a:pt x="847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27244" cy="1333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99609" y="3459531"/>
            <a:ext cx="4659691" cy="4918041"/>
            <a:chOff x="0" y="0"/>
            <a:chExt cx="1227244" cy="12952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27244" cy="1295287"/>
            </a:xfrm>
            <a:custGeom>
              <a:avLst/>
              <a:gdLst/>
              <a:ahLst/>
              <a:cxnLst/>
              <a:rect l="l" t="t" r="r" b="b"/>
              <a:pathLst>
                <a:path w="1227244" h="1295287">
                  <a:moveTo>
                    <a:pt x="84735" y="0"/>
                  </a:moveTo>
                  <a:lnTo>
                    <a:pt x="1142509" y="0"/>
                  </a:lnTo>
                  <a:cubicBezTo>
                    <a:pt x="1164982" y="0"/>
                    <a:pt x="1186534" y="8927"/>
                    <a:pt x="1202425" y="24818"/>
                  </a:cubicBezTo>
                  <a:cubicBezTo>
                    <a:pt x="1218316" y="40709"/>
                    <a:pt x="1227244" y="62262"/>
                    <a:pt x="1227244" y="84735"/>
                  </a:cubicBezTo>
                  <a:lnTo>
                    <a:pt x="1227244" y="1210552"/>
                  </a:lnTo>
                  <a:cubicBezTo>
                    <a:pt x="1227244" y="1257350"/>
                    <a:pt x="1189307" y="1295287"/>
                    <a:pt x="1142509" y="1295287"/>
                  </a:cubicBezTo>
                  <a:lnTo>
                    <a:pt x="84735" y="1295287"/>
                  </a:lnTo>
                  <a:cubicBezTo>
                    <a:pt x="37937" y="1295287"/>
                    <a:pt x="0" y="1257350"/>
                    <a:pt x="0" y="1210552"/>
                  </a:cubicBezTo>
                  <a:lnTo>
                    <a:pt x="0" y="84735"/>
                  </a:lnTo>
                  <a:cubicBezTo>
                    <a:pt x="0" y="37937"/>
                    <a:pt x="37937" y="0"/>
                    <a:pt x="847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27244" cy="1333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82393" y="3459531"/>
            <a:ext cx="4659691" cy="4918041"/>
            <a:chOff x="0" y="0"/>
            <a:chExt cx="1227244" cy="12952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27244" cy="1295287"/>
            </a:xfrm>
            <a:custGeom>
              <a:avLst/>
              <a:gdLst/>
              <a:ahLst/>
              <a:cxnLst/>
              <a:rect l="l" t="t" r="r" b="b"/>
              <a:pathLst>
                <a:path w="1227244" h="1295287">
                  <a:moveTo>
                    <a:pt x="84735" y="0"/>
                  </a:moveTo>
                  <a:lnTo>
                    <a:pt x="1142509" y="0"/>
                  </a:lnTo>
                  <a:cubicBezTo>
                    <a:pt x="1164982" y="0"/>
                    <a:pt x="1186534" y="8927"/>
                    <a:pt x="1202425" y="24818"/>
                  </a:cubicBezTo>
                  <a:cubicBezTo>
                    <a:pt x="1218316" y="40709"/>
                    <a:pt x="1227244" y="62262"/>
                    <a:pt x="1227244" y="84735"/>
                  </a:cubicBezTo>
                  <a:lnTo>
                    <a:pt x="1227244" y="1210552"/>
                  </a:lnTo>
                  <a:cubicBezTo>
                    <a:pt x="1227244" y="1257350"/>
                    <a:pt x="1189307" y="1295287"/>
                    <a:pt x="1142509" y="1295287"/>
                  </a:cubicBezTo>
                  <a:lnTo>
                    <a:pt x="84735" y="1295287"/>
                  </a:lnTo>
                  <a:cubicBezTo>
                    <a:pt x="37937" y="1295287"/>
                    <a:pt x="0" y="1257350"/>
                    <a:pt x="0" y="1210552"/>
                  </a:cubicBezTo>
                  <a:lnTo>
                    <a:pt x="0" y="84735"/>
                  </a:lnTo>
                  <a:cubicBezTo>
                    <a:pt x="0" y="37937"/>
                    <a:pt x="37937" y="0"/>
                    <a:pt x="847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27244" cy="1333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5916800" y="5918552"/>
            <a:ext cx="573661" cy="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17" name="AutoShape 17"/>
          <p:cNvSpPr/>
          <p:nvPr/>
        </p:nvSpPr>
        <p:spPr>
          <a:xfrm>
            <a:off x="11737359" y="5899502"/>
            <a:ext cx="573661" cy="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18" name="AutoShape 18"/>
          <p:cNvSpPr/>
          <p:nvPr/>
        </p:nvSpPr>
        <p:spPr>
          <a:xfrm>
            <a:off x="965177" y="4821209"/>
            <a:ext cx="4659691" cy="1905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9" name="AutoShape 19"/>
          <p:cNvSpPr/>
          <p:nvPr/>
        </p:nvSpPr>
        <p:spPr>
          <a:xfrm flipV="1">
            <a:off x="6814155" y="4840259"/>
            <a:ext cx="4595925" cy="1905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0" name="AutoShape 20"/>
          <p:cNvSpPr/>
          <p:nvPr/>
        </p:nvSpPr>
        <p:spPr>
          <a:xfrm>
            <a:off x="12599532" y="4811684"/>
            <a:ext cx="4659691" cy="1905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>
            <a:off x="9602470" y="3117088"/>
            <a:ext cx="2033960" cy="1057659"/>
          </a:xfrm>
          <a:custGeom>
            <a:avLst/>
            <a:gdLst/>
            <a:ahLst/>
            <a:cxnLst/>
            <a:rect l="l" t="t" r="r" b="b"/>
            <a:pathLst>
              <a:path w="2033960" h="1057659">
                <a:moveTo>
                  <a:pt x="0" y="0"/>
                </a:moveTo>
                <a:lnTo>
                  <a:pt x="2033960" y="0"/>
                </a:lnTo>
                <a:lnTo>
                  <a:pt x="2033960" y="1057659"/>
                </a:lnTo>
                <a:lnTo>
                  <a:pt x="0" y="1057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TextBox 22"/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281837" y="284523"/>
            <a:ext cx="18288000" cy="146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7"/>
              </a:lnSpc>
              <a:spcBef>
                <a:spcPct val="0"/>
              </a:spcBef>
            </a:pPr>
            <a:r>
              <a:rPr lang="en-US" sz="8605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Workshop Map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0139" y="3826519"/>
            <a:ext cx="1940662" cy="62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000000"/>
                </a:solidFill>
                <a:latin typeface="Montserrat 1"/>
                <a:ea typeface="Montserrat 1"/>
                <a:cs typeface="Montserrat 1"/>
                <a:sym typeface="Montserrat 1"/>
              </a:rPr>
              <a:t>Lesson 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956826" y="3826519"/>
            <a:ext cx="2206973" cy="62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000000"/>
                </a:solidFill>
                <a:latin typeface="Montserrat 1"/>
                <a:ea typeface="Montserrat 1"/>
                <a:cs typeface="Montserrat 1"/>
                <a:sym typeface="Montserrat 1"/>
              </a:rPr>
              <a:t>Lesson 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38658" y="3826519"/>
            <a:ext cx="2157742" cy="62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000000"/>
                </a:solidFill>
                <a:latin typeface="Montserrat 1"/>
                <a:ea typeface="Montserrat 1"/>
                <a:cs typeface="Montserrat 1"/>
                <a:sym typeface="Montserrat 1"/>
              </a:rPr>
              <a:t>Lesson 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93660" y="4978629"/>
            <a:ext cx="3734549" cy="99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ESTIMATE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79887" y="4927327"/>
            <a:ext cx="3797014" cy="99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PERCEIVE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34140" y="5029200"/>
            <a:ext cx="2406546" cy="99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BUILD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0219" y="6630025"/>
            <a:ext cx="3882628" cy="703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61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Hardware, PX4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80139" y="6630025"/>
            <a:ext cx="2727722" cy="703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61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IMU + EKF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37359" y="6482939"/>
            <a:ext cx="6533598" cy="1437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50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Camera + </a:t>
            </a:r>
            <a:endParaRPr lang="en-US" sz="4150">
              <a:sym typeface="Montserrat 1"/>
            </a:endParaRPr>
          </a:p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50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Visual Odometry</a:t>
            </a:r>
            <a:endParaRPr lang="en-US" sz="4150"/>
          </a:p>
        </p:txBody>
      </p:sp>
      <p:sp>
        <p:nvSpPr>
          <p:cNvPr id="33" name="TextBox 33"/>
          <p:cNvSpPr txBox="1"/>
          <p:nvPr/>
        </p:nvSpPr>
        <p:spPr>
          <a:xfrm>
            <a:off x="2386944" y="8466710"/>
            <a:ext cx="1880255" cy="920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  <a:spcBef>
                <a:spcPct val="0"/>
              </a:spcBef>
            </a:pPr>
            <a:r>
              <a:rPr lang="en-US" sz="5378">
                <a:solidFill>
                  <a:srgbClr val="FF6300"/>
                </a:solidFill>
                <a:latin typeface="Montserrat 1"/>
                <a:ea typeface="Montserrat 1"/>
                <a:cs typeface="Montserrat 1"/>
                <a:sym typeface="Montserrat 1"/>
              </a:rPr>
              <a:t>07/10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45445" y="8400450"/>
            <a:ext cx="1847544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  <a:spcBef>
                <a:spcPct val="0"/>
              </a:spcBef>
            </a:pPr>
            <a:r>
              <a:rPr lang="en-US" sz="5378">
                <a:solidFill>
                  <a:srgbClr val="FF6300"/>
                </a:solidFill>
                <a:latin typeface="Montserrat 1"/>
                <a:ea typeface="Montserrat 1"/>
                <a:cs typeface="Montserrat 1"/>
                <a:sym typeface="Montserrat 1"/>
              </a:rPr>
              <a:t>14/10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071846" y="8417015"/>
            <a:ext cx="1814610" cy="887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  <a:spcBef>
                <a:spcPct val="0"/>
              </a:spcBef>
            </a:pPr>
            <a:r>
              <a:rPr lang="en-US" sz="5378">
                <a:solidFill>
                  <a:srgbClr val="FF6300"/>
                </a:solidFill>
                <a:latin typeface="Montserrat 1"/>
                <a:ea typeface="Montserrat 1"/>
                <a:cs typeface="Montserrat 1"/>
                <a:sym typeface="Montserrat 1"/>
              </a:rPr>
              <a:t>21/10</a:t>
            </a:r>
          </a:p>
        </p:txBody>
      </p:sp>
    </p:spTree>
    <p:extLst>
      <p:ext uri="{BB962C8B-B14F-4D97-AF65-F5344CB8AC3E}">
        <p14:creationId xmlns:p14="http://schemas.microsoft.com/office/powerpoint/2010/main" val="157162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/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Freeform 9"/>
          <p:cNvSpPr/>
          <p:nvPr/>
        </p:nvSpPr>
        <p:spPr>
          <a:xfrm>
            <a:off x="1816103" y="7023097"/>
            <a:ext cx="14655803" cy="1854203"/>
          </a:xfrm>
          <a:custGeom>
            <a:avLst/>
            <a:gdLst/>
            <a:ahLst/>
            <a:cxnLst/>
            <a:rect l="l" t="t" r="r" b="b"/>
            <a:pathLst>
              <a:path w="14655803" h="1574797">
                <a:moveTo>
                  <a:pt x="0" y="0"/>
                </a:moveTo>
                <a:lnTo>
                  <a:pt x="14655803" y="0"/>
                </a:lnTo>
                <a:lnTo>
                  <a:pt x="14655803" y="1574797"/>
                </a:lnTo>
                <a:lnTo>
                  <a:pt x="0" y="15747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679447" y="4044953"/>
            <a:ext cx="16910047" cy="2705100"/>
          </a:xfrm>
          <a:custGeom>
            <a:avLst/>
            <a:gdLst/>
            <a:ahLst/>
            <a:cxnLst/>
            <a:rect l="l" t="t" r="r" b="b"/>
            <a:pathLst>
              <a:path w="16910047" h="2705100">
                <a:moveTo>
                  <a:pt x="0" y="0"/>
                </a:moveTo>
                <a:lnTo>
                  <a:pt x="16910047" y="0"/>
                </a:lnTo>
                <a:lnTo>
                  <a:pt x="16910047" y="2705100"/>
                </a:lnTo>
                <a:lnTo>
                  <a:pt x="0" y="2705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TextBox 11"/>
          <p:cNvSpPr txBox="1"/>
          <p:nvPr/>
        </p:nvSpPr>
        <p:spPr>
          <a:xfrm>
            <a:off x="228600" y="355600"/>
            <a:ext cx="10795000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Frames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4961" y="2524887"/>
            <a:ext cx="16032442" cy="116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924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Attitude arrives as a quaternion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0384" y="4350677"/>
            <a:ext cx="3007452" cy="1826419"/>
          </a:xfrm>
          <a:prstGeom prst="rect">
            <a:avLst/>
          </a:prstGeom>
        </p:spPr>
        <p:txBody>
          <a:bodyPr lIns="0" tIns="0" rIns="0" bIns="0" rtlCol="0" anchor="ctr" anchorCtr="0">
            <a:spAutoFit/>
          </a:bodyPr>
          <a:lstStyle/>
          <a:p>
            <a:pPr algn="ctr">
              <a:lnSpc>
                <a:spcPts val="2584"/>
              </a:lnSpc>
            </a:pPr>
            <a:r>
              <a:rPr lang="en-US" sz="2199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EXPLAINED IN LESSON 2</a:t>
            </a:r>
          </a:p>
          <a:p>
            <a:pPr algn="ctr">
              <a:lnSpc>
                <a:spcPts val="3289"/>
              </a:lnSpc>
            </a:pPr>
            <a:r>
              <a:rPr lang="en-US" sz="2799" b="1">
                <a:solidFill>
                  <a:srgbClr val="0B2A44"/>
                </a:solidFill>
                <a:latin typeface="Roboto Bold"/>
                <a:ea typeface="Roboto Bold"/>
                <a:cs typeface="Roboto Bold"/>
                <a:sym typeface="Roboto Bold"/>
              </a:rPr>
              <a:t>ATTITUDE ESTIMATOR</a:t>
            </a:r>
          </a:p>
          <a:p>
            <a:pPr algn="ctr">
              <a:lnSpc>
                <a:spcPts val="2702"/>
              </a:lnSpc>
            </a:pPr>
            <a:r>
              <a:rPr lang="en-US" sz="2299">
                <a:solidFill>
                  <a:srgbClr val="575F6C"/>
                </a:solidFill>
                <a:latin typeface="Montserrat 2"/>
                <a:ea typeface="Montserrat 2"/>
                <a:cs typeface="Montserrat 2"/>
                <a:sym typeface="Montserrat 2"/>
              </a:rPr>
              <a:t>fuses IMU and other aiding sources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0831" y="4538672"/>
            <a:ext cx="2289219" cy="164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0"/>
              </a:lnSpc>
            </a:pPr>
            <a:r>
              <a:rPr lang="en-US" sz="2400" b="1">
                <a:solidFill>
                  <a:srgbClr val="0B2A44"/>
                </a:solidFill>
                <a:latin typeface="Roboto Bold"/>
                <a:ea typeface="Roboto Bold"/>
                <a:cs typeface="Roboto Bold"/>
                <a:sym typeface="Roboto Bold"/>
              </a:rPr>
              <a:t>INVERSE ROTATION</a:t>
            </a:r>
          </a:p>
          <a:p>
            <a:pPr algn="ctr">
              <a:lnSpc>
                <a:spcPts val="2232"/>
              </a:lnSpc>
            </a:pPr>
            <a:r>
              <a:rPr lang="en-US" sz="1899">
                <a:solidFill>
                  <a:srgbClr val="575F6C"/>
                </a:solidFill>
                <a:latin typeface="Montserrat 2"/>
                <a:ea typeface="Montserrat 2"/>
                <a:cs typeface="Montserrat 2"/>
                <a:sym typeface="Montserrat 2"/>
              </a:rPr>
              <a:t>rotate NED gravity back into BODY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31552" y="4491047"/>
            <a:ext cx="2183711" cy="42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B2A44"/>
                </a:solidFill>
                <a:latin typeface="Roboto Bold"/>
                <a:ea typeface="Roboto Bold"/>
                <a:cs typeface="Roboto Bold"/>
                <a:sym typeface="Roboto Bold"/>
              </a:rPr>
              <a:t>BODY GRAVITY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80389" y="5596833"/>
            <a:ext cx="2518610" cy="58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575F6C"/>
                </a:solidFill>
                <a:latin typeface="Montserrat 2"/>
                <a:ea typeface="Montserrat 2"/>
                <a:cs typeface="Montserrat 2"/>
                <a:sym typeface="Montserrat 2"/>
              </a:rPr>
              <a:t>uORB topic with the current attitude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42914" y="5596833"/>
            <a:ext cx="2654227" cy="58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575F6C"/>
                </a:solidFill>
                <a:latin typeface="Montserrat 2"/>
                <a:ea typeface="Montserrat 2"/>
                <a:cs typeface="Montserrat 2"/>
                <a:sym typeface="Montserrat 2"/>
              </a:rPr>
              <a:t>Hamilton quaternion, FRD → NED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84016" y="5596833"/>
            <a:ext cx="2688679" cy="58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575F6C"/>
                </a:solidFill>
                <a:latin typeface="Montserrat 2"/>
                <a:ea typeface="Montserrat 2"/>
                <a:cs typeface="Montserrat 2"/>
                <a:sym typeface="Montserrat 2"/>
              </a:rPr>
              <a:t>Forward, Right, Down components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73661" y="4507582"/>
            <a:ext cx="2736332" cy="381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0B2A4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vehicle_attitude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20"/>
              <p:cNvSpPr txBox="1"/>
              <p:nvPr/>
            </p:nvSpPr>
            <p:spPr>
              <a:xfrm>
                <a:off x="7802661" y="4507582"/>
                <a:ext cx="2736332" cy="38168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q</m:t>
                      </m:r>
                      <m: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 = [</m:t>
                      </m:r>
                      <m:r>
                        <m:rPr>
                          <m:sty m:val="p"/>
                        </m:rP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w</m:t>
                      </m:r>
                      <m: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x</m:t>
                      </m:r>
                      <m: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y</m:t>
                      </m:r>
                      <m: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z</m:t>
                      </m:r>
                      <m: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661" y="4507582"/>
                <a:ext cx="2736332" cy="381686"/>
              </a:xfrm>
              <a:prstGeom prst="rect">
                <a:avLst/>
              </a:prstGeom>
              <a:blipFill>
                <a:blip r:embed="rId6"/>
                <a:stretch>
                  <a:fillRect t="-1587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1"/>
          <p:cNvSpPr txBox="1"/>
          <p:nvPr/>
        </p:nvSpPr>
        <p:spPr>
          <a:xfrm>
            <a:off x="2901363" y="7385142"/>
            <a:ext cx="12734973" cy="116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3500" b="1" i="1">
                <a:solidFill>
                  <a:srgbClr val="FD151B"/>
                </a:solidFill>
                <a:latin typeface="Montserrat 2 Bold Italics"/>
                <a:ea typeface="Montserrat 2 Bold Italics"/>
                <a:cs typeface="Montserrat 2 Bold Italics"/>
                <a:sym typeface="Montserrat 2 Bold Italics"/>
              </a:rPr>
              <a:t>Don't confuse the two operations</a:t>
            </a:r>
          </a:p>
          <a:p>
            <a:pPr algn="ctr">
              <a:lnSpc>
                <a:spcPts val="3079"/>
              </a:lnSpc>
            </a:pPr>
            <a:r>
              <a:rPr lang="en-US" sz="3500" b="1">
                <a:solidFill>
                  <a:srgbClr val="0B2A44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The estimator creates the attitude; gravity_demo only reads it and changes coordinates.</a:t>
            </a:r>
          </a:p>
        </p:txBody>
      </p:sp>
    </p:spTree>
    <p:extLst>
      <p:ext uri="{BB962C8B-B14F-4D97-AF65-F5344CB8AC3E}">
        <p14:creationId xmlns:p14="http://schemas.microsoft.com/office/powerpoint/2010/main" val="3898285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DF5D1-FEB9-881A-280B-BC2DC3FD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6CD7F6D-AA4B-B7FD-2341-7F65CC35007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CAAC104-86DD-4177-7A80-271BC2C51930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88DE76E-CB4E-05FA-E085-83009F370B84}"/>
              </a:ext>
            </a:extLst>
          </p:cNvPr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D7C27FA-8A95-84A8-DE22-A59409A4D3EF}"/>
                </a:ext>
              </a:extLst>
            </p:cNvPr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01E479B-74B0-E4D1-E8A9-79326D8B281B}"/>
              </a:ext>
            </a:extLst>
          </p:cNvPr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51E2100-FE6A-BB7C-2B6E-90093E89C80C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94B5A2A-B404-C4B9-97C1-644CB9721D68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814F4B1-2D15-B9A6-8099-CC63920DEC48}"/>
              </a:ext>
            </a:extLst>
          </p:cNvPr>
          <p:cNvSpPr/>
          <p:nvPr/>
        </p:nvSpPr>
        <p:spPr>
          <a:xfrm>
            <a:off x="1816103" y="7023097"/>
            <a:ext cx="14655803" cy="1854203"/>
          </a:xfrm>
          <a:custGeom>
            <a:avLst/>
            <a:gdLst/>
            <a:ahLst/>
            <a:cxnLst/>
            <a:rect l="l" t="t" r="r" b="b"/>
            <a:pathLst>
              <a:path w="14655803" h="1574797">
                <a:moveTo>
                  <a:pt x="0" y="0"/>
                </a:moveTo>
                <a:lnTo>
                  <a:pt x="14655803" y="0"/>
                </a:lnTo>
                <a:lnTo>
                  <a:pt x="14655803" y="1574797"/>
                </a:lnTo>
                <a:lnTo>
                  <a:pt x="0" y="15747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23191BD-F1B1-8EDB-7E89-8A6FE58D3B76}"/>
              </a:ext>
            </a:extLst>
          </p:cNvPr>
          <p:cNvSpPr/>
          <p:nvPr/>
        </p:nvSpPr>
        <p:spPr>
          <a:xfrm>
            <a:off x="679447" y="4044953"/>
            <a:ext cx="16910047" cy="2705100"/>
          </a:xfrm>
          <a:custGeom>
            <a:avLst/>
            <a:gdLst/>
            <a:ahLst/>
            <a:cxnLst/>
            <a:rect l="l" t="t" r="r" b="b"/>
            <a:pathLst>
              <a:path w="16910047" h="2705100">
                <a:moveTo>
                  <a:pt x="0" y="0"/>
                </a:moveTo>
                <a:lnTo>
                  <a:pt x="16910047" y="0"/>
                </a:lnTo>
                <a:lnTo>
                  <a:pt x="16910047" y="2705100"/>
                </a:lnTo>
                <a:lnTo>
                  <a:pt x="0" y="2705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6AD7519-CC7F-5305-4B13-24E131FAD93A}"/>
              </a:ext>
            </a:extLst>
          </p:cNvPr>
          <p:cNvSpPr txBox="1"/>
          <p:nvPr/>
        </p:nvSpPr>
        <p:spPr>
          <a:xfrm>
            <a:off x="228600" y="355600"/>
            <a:ext cx="10795000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Frames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8CF20CE-C9EE-8075-1162-813AC80EC7FC}"/>
              </a:ext>
            </a:extLst>
          </p:cNvPr>
          <p:cNvSpPr txBox="1"/>
          <p:nvPr/>
        </p:nvSpPr>
        <p:spPr>
          <a:xfrm>
            <a:off x="1284961" y="2524887"/>
            <a:ext cx="16032442" cy="116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924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Attitude arrives as a quaternion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5753048-65D8-8DE5-5F23-BFC4FA56351A}"/>
              </a:ext>
            </a:extLst>
          </p:cNvPr>
          <p:cNvSpPr txBox="1"/>
          <p:nvPr/>
        </p:nvSpPr>
        <p:spPr>
          <a:xfrm>
            <a:off x="778755" y="4044953"/>
            <a:ext cx="3007452" cy="2385268"/>
          </a:xfrm>
          <a:prstGeom prst="rect">
            <a:avLst/>
          </a:prstGeom>
        </p:spPr>
        <p:txBody>
          <a:bodyPr lIns="0" tIns="0" rIns="0" bIns="0" rtlCol="0" anchor="ctr" anchorCtr="0">
            <a:spAutoFit/>
          </a:bodyPr>
          <a:lstStyle/>
          <a:p>
            <a:pPr algn="ctr">
              <a:lnSpc>
                <a:spcPts val="3289"/>
              </a:lnSpc>
            </a:pPr>
            <a:endParaRPr lang="en-US" sz="2799" b="1">
              <a:solidFill>
                <a:srgbClr val="0B2A44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ctr">
              <a:lnSpc>
                <a:spcPts val="3289"/>
              </a:lnSpc>
            </a:pPr>
            <a:endParaRPr lang="en-US" sz="2799" b="1">
              <a:solidFill>
                <a:srgbClr val="0B2A44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ctr">
              <a:lnSpc>
                <a:spcPts val="3289"/>
              </a:lnSpc>
            </a:pPr>
            <a:r>
              <a:rPr lang="en-US" sz="2799" b="1">
                <a:solidFill>
                  <a:srgbClr val="0B2A44"/>
                </a:solidFill>
                <a:latin typeface="Roboto Bold"/>
                <a:ea typeface="Roboto Bold"/>
                <a:cs typeface="Roboto Bold"/>
                <a:sym typeface="Roboto Bold"/>
              </a:rPr>
              <a:t>ATTITUDE ESTIMATOR</a:t>
            </a:r>
          </a:p>
          <a:p>
            <a:pPr algn="ctr">
              <a:lnSpc>
                <a:spcPts val="2702"/>
              </a:lnSpc>
            </a:pPr>
            <a:r>
              <a:rPr lang="en-US" sz="2299">
                <a:solidFill>
                  <a:srgbClr val="575F6C"/>
                </a:solidFill>
                <a:latin typeface="Montserrat 2"/>
                <a:ea typeface="Montserrat 2"/>
                <a:cs typeface="Montserrat 2"/>
                <a:sym typeface="Montserrat 2"/>
              </a:rPr>
              <a:t>fuses IMU and other aiding sources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074AB89-39B4-CB8F-AAAC-6BC3C981253A}"/>
              </a:ext>
            </a:extLst>
          </p:cNvPr>
          <p:cNvSpPr txBox="1"/>
          <p:nvPr/>
        </p:nvSpPr>
        <p:spPr>
          <a:xfrm>
            <a:off x="11450831" y="4538672"/>
            <a:ext cx="2289219" cy="164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0"/>
              </a:lnSpc>
            </a:pPr>
            <a:r>
              <a:rPr lang="en-US" sz="2400" b="1">
                <a:solidFill>
                  <a:srgbClr val="0B2A44"/>
                </a:solidFill>
                <a:latin typeface="Roboto Bold"/>
                <a:ea typeface="Roboto Bold"/>
                <a:cs typeface="Roboto Bold"/>
                <a:sym typeface="Roboto Bold"/>
              </a:rPr>
              <a:t>INVERSE ROTATION</a:t>
            </a:r>
          </a:p>
          <a:p>
            <a:pPr algn="ctr">
              <a:lnSpc>
                <a:spcPts val="2232"/>
              </a:lnSpc>
            </a:pPr>
            <a:r>
              <a:rPr lang="en-US" sz="1899">
                <a:solidFill>
                  <a:srgbClr val="575F6C"/>
                </a:solidFill>
                <a:latin typeface="Montserrat 2"/>
                <a:ea typeface="Montserrat 2"/>
                <a:cs typeface="Montserrat 2"/>
                <a:sym typeface="Montserrat 2"/>
              </a:rPr>
              <a:t>rotate NED gravity back into BODY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571ECAC-DDCB-9389-6D5E-8DB68A6C087F}"/>
              </a:ext>
            </a:extLst>
          </p:cNvPr>
          <p:cNvSpPr txBox="1"/>
          <p:nvPr/>
        </p:nvSpPr>
        <p:spPr>
          <a:xfrm>
            <a:off x="14931552" y="4491047"/>
            <a:ext cx="2183711" cy="42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B2A44"/>
                </a:solidFill>
                <a:latin typeface="Roboto Bold"/>
                <a:ea typeface="Roboto Bold"/>
                <a:cs typeface="Roboto Bold"/>
                <a:sym typeface="Roboto Bold"/>
              </a:rPr>
              <a:t>BODY GRAVITY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4F72D33-B281-2758-2E7A-89B1000B5DC0}"/>
              </a:ext>
            </a:extLst>
          </p:cNvPr>
          <p:cNvSpPr txBox="1"/>
          <p:nvPr/>
        </p:nvSpPr>
        <p:spPr>
          <a:xfrm>
            <a:off x="4480389" y="5596833"/>
            <a:ext cx="2518610" cy="58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575F6C"/>
                </a:solidFill>
                <a:latin typeface="Montserrat 2"/>
                <a:ea typeface="Montserrat 2"/>
                <a:cs typeface="Montserrat 2"/>
                <a:sym typeface="Montserrat 2"/>
              </a:rPr>
              <a:t>uORB topic with the current attitude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BADB4CE-322A-6A61-3972-1D98752F3009}"/>
              </a:ext>
            </a:extLst>
          </p:cNvPr>
          <p:cNvSpPr txBox="1"/>
          <p:nvPr/>
        </p:nvSpPr>
        <p:spPr>
          <a:xfrm>
            <a:off x="7842914" y="5596833"/>
            <a:ext cx="2654227" cy="58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575F6C"/>
                </a:solidFill>
                <a:latin typeface="Montserrat 2"/>
                <a:ea typeface="Montserrat 2"/>
                <a:cs typeface="Montserrat 2"/>
                <a:sym typeface="Montserrat 2"/>
              </a:rPr>
              <a:t>Hamilton quaternion, FRD → NED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3B9D911-7897-494F-D233-42CB86A87153}"/>
              </a:ext>
            </a:extLst>
          </p:cNvPr>
          <p:cNvSpPr txBox="1"/>
          <p:nvPr/>
        </p:nvSpPr>
        <p:spPr>
          <a:xfrm>
            <a:off x="14684016" y="5596833"/>
            <a:ext cx="2688679" cy="58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575F6C"/>
                </a:solidFill>
                <a:latin typeface="Montserrat 2"/>
                <a:ea typeface="Montserrat 2"/>
                <a:cs typeface="Montserrat 2"/>
                <a:sym typeface="Montserrat 2"/>
              </a:rPr>
              <a:t>Forward, Right, Down components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8DF7B26-D01B-9A4F-DE53-E92BDC2FDB33}"/>
              </a:ext>
            </a:extLst>
          </p:cNvPr>
          <p:cNvSpPr txBox="1"/>
          <p:nvPr/>
        </p:nvSpPr>
        <p:spPr>
          <a:xfrm>
            <a:off x="4373661" y="4507582"/>
            <a:ext cx="2736332" cy="381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0B2A4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vehicle_attitude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A03A6A22-21B1-B595-9058-FD32CA8AFB7C}"/>
                  </a:ext>
                </a:extLst>
              </p:cNvPr>
              <p:cNvSpPr txBox="1"/>
              <p:nvPr/>
            </p:nvSpPr>
            <p:spPr>
              <a:xfrm>
                <a:off x="7802661" y="4507582"/>
                <a:ext cx="2736332" cy="38168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q</m:t>
                      </m:r>
                      <m: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 = [</m:t>
                      </m:r>
                      <m:r>
                        <m:rPr>
                          <m:sty m:val="p"/>
                        </m:rP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w</m:t>
                      </m:r>
                      <m: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x</m:t>
                      </m:r>
                      <m: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y</m:t>
                      </m:r>
                      <m: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z</m:t>
                      </m:r>
                      <m:r>
                        <a:rPr lang="en-US" sz="2199" b="1">
                          <a:solidFill>
                            <a:srgbClr val="0B2A44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A03A6A22-21B1-B595-9058-FD32CA8AF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661" y="4507582"/>
                <a:ext cx="2736332" cy="381686"/>
              </a:xfrm>
              <a:prstGeom prst="rect">
                <a:avLst/>
              </a:prstGeom>
              <a:blipFill>
                <a:blip r:embed="rId6"/>
                <a:stretch>
                  <a:fillRect t="-1587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1">
            <a:extLst>
              <a:ext uri="{FF2B5EF4-FFF2-40B4-BE49-F238E27FC236}">
                <a16:creationId xmlns:a16="http://schemas.microsoft.com/office/drawing/2014/main" id="{B39067E6-9198-CCE7-DFE0-FB2A904754B0}"/>
              </a:ext>
            </a:extLst>
          </p:cNvPr>
          <p:cNvSpPr txBox="1"/>
          <p:nvPr/>
        </p:nvSpPr>
        <p:spPr>
          <a:xfrm>
            <a:off x="2901363" y="7385142"/>
            <a:ext cx="12734973" cy="116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3500" b="1" i="1">
                <a:solidFill>
                  <a:srgbClr val="FD151B"/>
                </a:solidFill>
                <a:latin typeface="Montserrat 2 Bold Italics"/>
                <a:ea typeface="Montserrat 2 Bold Italics"/>
                <a:cs typeface="Montserrat 2 Bold Italics"/>
                <a:sym typeface="Montserrat 2 Bold Italics"/>
              </a:rPr>
              <a:t>Don't confuse the two operations</a:t>
            </a:r>
          </a:p>
          <a:p>
            <a:pPr algn="ctr">
              <a:lnSpc>
                <a:spcPts val="3079"/>
              </a:lnSpc>
            </a:pPr>
            <a:r>
              <a:rPr lang="en-US" sz="3500" b="1">
                <a:solidFill>
                  <a:srgbClr val="0B2A44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The estimator creates the attitude; gravity_demo only reads it and changes coordinates.</a:t>
            </a:r>
          </a:p>
        </p:txBody>
      </p:sp>
      <p:sp>
        <p:nvSpPr>
          <p:cNvPr id="23" name="Freeform 21">
            <a:extLst>
              <a:ext uri="{FF2B5EF4-FFF2-40B4-BE49-F238E27FC236}">
                <a16:creationId xmlns:a16="http://schemas.microsoft.com/office/drawing/2014/main" id="{6CBBBA98-BDDC-BDD6-881F-CEFE80EF715B}"/>
              </a:ext>
            </a:extLst>
          </p:cNvPr>
          <p:cNvSpPr/>
          <p:nvPr/>
        </p:nvSpPr>
        <p:spPr>
          <a:xfrm>
            <a:off x="1340474" y="3727370"/>
            <a:ext cx="2033960" cy="1057659"/>
          </a:xfrm>
          <a:custGeom>
            <a:avLst/>
            <a:gdLst/>
            <a:ahLst/>
            <a:cxnLst/>
            <a:rect l="l" t="t" r="r" b="b"/>
            <a:pathLst>
              <a:path w="2033960" h="1057659">
                <a:moveTo>
                  <a:pt x="0" y="0"/>
                </a:moveTo>
                <a:lnTo>
                  <a:pt x="2033960" y="0"/>
                </a:lnTo>
                <a:lnTo>
                  <a:pt x="2033960" y="1057659"/>
                </a:lnTo>
                <a:lnTo>
                  <a:pt x="0" y="10576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430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0" y="-25121"/>
            <a:ext cx="18288000" cy="2118431"/>
            <a:chOff x="0" y="0"/>
            <a:chExt cx="4816593" cy="5579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57941"/>
            </a:xfrm>
            <a:custGeom>
              <a:avLst/>
              <a:gdLst/>
              <a:ahLst/>
              <a:cxnLst/>
              <a:rect l="l" t="t" r="r" b="b"/>
              <a:pathLst>
                <a:path w="4816592" h="557941">
                  <a:moveTo>
                    <a:pt x="0" y="0"/>
                  </a:moveTo>
                  <a:lnTo>
                    <a:pt x="4816592" y="0"/>
                  </a:lnTo>
                  <a:lnTo>
                    <a:pt x="4816592" y="557941"/>
                  </a:lnTo>
                  <a:lnTo>
                    <a:pt x="0" y="557941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596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234864" y="219458"/>
            <a:ext cx="18288000" cy="146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7"/>
              </a:lnSpc>
              <a:spcBef>
                <a:spcPct val="0"/>
              </a:spcBef>
            </a:pPr>
            <a:r>
              <a:rPr lang="en-US" sz="8605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Estimation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4864" y="2264760"/>
            <a:ext cx="17870533" cy="117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4"/>
              </a:lnSpc>
            </a:pPr>
            <a:r>
              <a:rPr lang="en-US" sz="6924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What does estimation mean?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15936" y="6088021"/>
            <a:ext cx="1363164" cy="613411"/>
          </a:xfrm>
          <a:prstGeom prst="rect">
            <a:avLst/>
          </a:prstGeom>
        </p:spPr>
        <p:txBody>
          <a:bodyPr lIns="0" tIns="0" rIns="0" bIns="0" rtlCol="0" anchor="ctr" anchorCtr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40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x̂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24915" y="6034199"/>
            <a:ext cx="1363164" cy="613411"/>
          </a:xfrm>
          <a:prstGeom prst="rect">
            <a:avLst/>
          </a:prstGeom>
        </p:spPr>
        <p:txBody>
          <a:bodyPr lIns="0" tIns="0" rIns="0" bIns="0" rtlCol="0" anchor="ctr" anchorCtr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40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z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94000" y="3506694"/>
            <a:ext cx="12700000" cy="1333500"/>
          </a:xfrm>
          <a:prstGeom prst="rect">
            <a:avLst/>
          </a:prstGeom>
        </p:spPr>
        <p:txBody>
          <a:bodyPr lIns="0" tIns="0" rIns="0" bIns="0" rtlCol="0" anchor="ctr" anchorCtr="0">
            <a:normAutofit/>
          </a:bodyPr>
          <a:lstStyle/>
          <a:p>
            <a:pPr algn="ctr">
              <a:lnSpc>
                <a:spcPts val="4400"/>
              </a:lnSpc>
            </a:pPr>
            <a:r>
              <a:rPr lang="en-US" sz="4000" b="1">
                <a:solidFill>
                  <a:srgbClr val="FFFFFF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Infer a hidden state from measurements,</a:t>
            </a:r>
            <a:br>
              <a:rPr sz="4000"/>
            </a:br>
            <a:r>
              <a:rPr lang="en-US" sz="4000" b="1">
                <a:solidFill>
                  <a:srgbClr val="FFFFFF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 model and uncertainty.</a:t>
            </a:r>
          </a:p>
        </p:txBody>
      </p:sp>
    </p:spTree>
    <p:extLst>
      <p:ext uri="{BB962C8B-B14F-4D97-AF65-F5344CB8AC3E}">
        <p14:creationId xmlns:p14="http://schemas.microsoft.com/office/powerpoint/2010/main" val="3125978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675EE-4895-7EBF-C999-A932F836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8AF60D-793B-E93F-2C8B-23622F58A2FE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851EA65-2869-49BC-04A2-874FB1B5A7AA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92ED7D2-8C32-15D3-CABD-D08FC1E3168B}"/>
              </a:ext>
            </a:extLst>
          </p:cNvPr>
          <p:cNvGrpSpPr/>
          <p:nvPr/>
        </p:nvGrpSpPr>
        <p:grpSpPr>
          <a:xfrm>
            <a:off x="0" y="-25121"/>
            <a:ext cx="18288000" cy="2118431"/>
            <a:chOff x="0" y="0"/>
            <a:chExt cx="4816593" cy="55794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16CDEE0-92F5-4ED7-6332-B85518A3F3F9}"/>
                </a:ext>
              </a:extLst>
            </p:cNvPr>
            <p:cNvSpPr/>
            <p:nvPr/>
          </p:nvSpPr>
          <p:spPr>
            <a:xfrm>
              <a:off x="0" y="0"/>
              <a:ext cx="4816592" cy="557941"/>
            </a:xfrm>
            <a:custGeom>
              <a:avLst/>
              <a:gdLst/>
              <a:ahLst/>
              <a:cxnLst/>
              <a:rect l="l" t="t" r="r" b="b"/>
              <a:pathLst>
                <a:path w="4816592" h="557941">
                  <a:moveTo>
                    <a:pt x="0" y="0"/>
                  </a:moveTo>
                  <a:lnTo>
                    <a:pt x="4816592" y="0"/>
                  </a:lnTo>
                  <a:lnTo>
                    <a:pt x="4816592" y="557941"/>
                  </a:lnTo>
                  <a:lnTo>
                    <a:pt x="0" y="557941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F576EAD-E672-9397-8C72-14CB4B66D850}"/>
                </a:ext>
              </a:extLst>
            </p:cNvPr>
            <p:cNvSpPr txBox="1"/>
            <p:nvPr/>
          </p:nvSpPr>
          <p:spPr>
            <a:xfrm>
              <a:off x="0" y="-38100"/>
              <a:ext cx="4816593" cy="596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0D4DF93-1659-3477-0B70-61F4178812D0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B495D26-57CA-43D5-183C-DF6F158D72F4}"/>
              </a:ext>
            </a:extLst>
          </p:cNvPr>
          <p:cNvSpPr txBox="1"/>
          <p:nvPr/>
        </p:nvSpPr>
        <p:spPr>
          <a:xfrm>
            <a:off x="234864" y="219458"/>
            <a:ext cx="18288000" cy="146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7"/>
              </a:lnSpc>
              <a:spcBef>
                <a:spcPct val="0"/>
              </a:spcBef>
            </a:pPr>
            <a:r>
              <a:rPr lang="en-US" sz="8605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Estimation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913804F-40D9-835D-9FF6-0E311564701E}"/>
              </a:ext>
            </a:extLst>
          </p:cNvPr>
          <p:cNvSpPr txBox="1"/>
          <p:nvPr/>
        </p:nvSpPr>
        <p:spPr>
          <a:xfrm>
            <a:off x="234864" y="2264760"/>
            <a:ext cx="17870533" cy="117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4"/>
              </a:lnSpc>
            </a:pPr>
            <a:r>
              <a:rPr lang="en-US" sz="6924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What does estimation mean?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646E2E6-9972-0000-8093-ABBAE4EBF9BB}"/>
              </a:ext>
            </a:extLst>
          </p:cNvPr>
          <p:cNvSpPr txBox="1"/>
          <p:nvPr/>
        </p:nvSpPr>
        <p:spPr>
          <a:xfrm>
            <a:off x="13915936" y="6088021"/>
            <a:ext cx="1363164" cy="613411"/>
          </a:xfrm>
          <a:prstGeom prst="rect">
            <a:avLst/>
          </a:prstGeom>
        </p:spPr>
        <p:txBody>
          <a:bodyPr lIns="0" tIns="0" rIns="0" bIns="0" rtlCol="0" anchor="ctr" anchorCtr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40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x̂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C306719-23E1-27DC-8248-5C8AE79B9930}"/>
              </a:ext>
            </a:extLst>
          </p:cNvPr>
          <p:cNvSpPr txBox="1"/>
          <p:nvPr/>
        </p:nvSpPr>
        <p:spPr>
          <a:xfrm>
            <a:off x="2724915" y="6034199"/>
            <a:ext cx="1363164" cy="613411"/>
          </a:xfrm>
          <a:prstGeom prst="rect">
            <a:avLst/>
          </a:prstGeom>
        </p:spPr>
        <p:txBody>
          <a:bodyPr lIns="0" tIns="0" rIns="0" bIns="0" rtlCol="0" anchor="ctr" anchorCtr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240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z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7C85151-4369-16BB-2143-C64041C25DB3}"/>
              </a:ext>
            </a:extLst>
          </p:cNvPr>
          <p:cNvSpPr txBox="1"/>
          <p:nvPr/>
        </p:nvSpPr>
        <p:spPr>
          <a:xfrm>
            <a:off x="2794000" y="3506694"/>
            <a:ext cx="12700000" cy="1333500"/>
          </a:xfrm>
          <a:prstGeom prst="rect">
            <a:avLst/>
          </a:prstGeom>
        </p:spPr>
        <p:txBody>
          <a:bodyPr lIns="0" tIns="0" rIns="0" bIns="0" rtlCol="0" anchor="ctr" anchorCtr="0">
            <a:normAutofit/>
          </a:bodyPr>
          <a:lstStyle/>
          <a:p>
            <a:pPr algn="ctr">
              <a:lnSpc>
                <a:spcPts val="4400"/>
              </a:lnSpc>
            </a:pPr>
            <a:r>
              <a:rPr lang="en-US" sz="4000" b="1">
                <a:solidFill>
                  <a:srgbClr val="FFFFFF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Infer a hidden state from measurements,</a:t>
            </a:r>
            <a:br>
              <a:rPr sz="4000"/>
            </a:br>
            <a:r>
              <a:rPr lang="en-US" sz="4000" b="1">
                <a:solidFill>
                  <a:srgbClr val="FFFFFF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 model and uncertainty.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E2EEA3-D5CE-E910-C5EA-005E8E533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688" y="4980477"/>
            <a:ext cx="14584403" cy="506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46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97769E-7230-5198-39A7-7509D9B0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5E6667-B6D7-E978-930A-1635B8D1CE58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05D6EC6-ED7D-F1F5-AD82-5736D2B81D9E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DE36B86-3C3F-051E-2B3F-F94F818DC902}"/>
              </a:ext>
            </a:extLst>
          </p:cNvPr>
          <p:cNvGrpSpPr/>
          <p:nvPr/>
        </p:nvGrpSpPr>
        <p:grpSpPr>
          <a:xfrm>
            <a:off x="0" y="-25121"/>
            <a:ext cx="18288000" cy="2118431"/>
            <a:chOff x="0" y="0"/>
            <a:chExt cx="4816593" cy="55794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9DCCE79-3DEA-5788-493F-7DD2DE4642E8}"/>
                </a:ext>
              </a:extLst>
            </p:cNvPr>
            <p:cNvSpPr/>
            <p:nvPr/>
          </p:nvSpPr>
          <p:spPr>
            <a:xfrm>
              <a:off x="0" y="0"/>
              <a:ext cx="4816592" cy="557941"/>
            </a:xfrm>
            <a:custGeom>
              <a:avLst/>
              <a:gdLst/>
              <a:ahLst/>
              <a:cxnLst/>
              <a:rect l="l" t="t" r="r" b="b"/>
              <a:pathLst>
                <a:path w="4816592" h="557941">
                  <a:moveTo>
                    <a:pt x="0" y="0"/>
                  </a:moveTo>
                  <a:lnTo>
                    <a:pt x="4816592" y="0"/>
                  </a:lnTo>
                  <a:lnTo>
                    <a:pt x="4816592" y="557941"/>
                  </a:lnTo>
                  <a:lnTo>
                    <a:pt x="0" y="557941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C44BE20-A6A4-52AC-D881-4D36395EF66A}"/>
                </a:ext>
              </a:extLst>
            </p:cNvPr>
            <p:cNvSpPr txBox="1"/>
            <p:nvPr/>
          </p:nvSpPr>
          <p:spPr>
            <a:xfrm>
              <a:off x="0" y="-38100"/>
              <a:ext cx="4816593" cy="596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EA641B5-A424-E215-4F72-CFAD1E8E0A2D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F6F0D53-EBFF-BA77-7E27-3AD4FEC07482}"/>
              </a:ext>
            </a:extLst>
          </p:cNvPr>
          <p:cNvSpPr txBox="1"/>
          <p:nvPr/>
        </p:nvSpPr>
        <p:spPr>
          <a:xfrm>
            <a:off x="234864" y="219458"/>
            <a:ext cx="18288000" cy="146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7"/>
              </a:lnSpc>
              <a:spcBef>
                <a:spcPct val="0"/>
              </a:spcBef>
            </a:pPr>
            <a:r>
              <a:rPr lang="en-US" sz="8605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Estimation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64C4757-AF37-D78F-3C01-B2DBDB0E520B}"/>
              </a:ext>
            </a:extLst>
          </p:cNvPr>
          <p:cNvSpPr txBox="1"/>
          <p:nvPr/>
        </p:nvSpPr>
        <p:spPr>
          <a:xfrm>
            <a:off x="234864" y="2264760"/>
            <a:ext cx="17870533" cy="117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4"/>
              </a:lnSpc>
            </a:pPr>
            <a:r>
              <a:rPr lang="en-US" sz="6924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What does estimation mean?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2964E59D-C281-BEA7-D990-E99FB0C9B910}"/>
              </a:ext>
            </a:extLst>
          </p:cNvPr>
          <p:cNvSpPr txBox="1"/>
          <p:nvPr/>
        </p:nvSpPr>
        <p:spPr>
          <a:xfrm>
            <a:off x="2794000" y="3506694"/>
            <a:ext cx="12700000" cy="1333500"/>
          </a:xfrm>
          <a:prstGeom prst="rect">
            <a:avLst/>
          </a:prstGeom>
        </p:spPr>
        <p:txBody>
          <a:bodyPr lIns="0" tIns="0" rIns="0" bIns="0" rtlCol="0" anchor="ctr" anchorCtr="0">
            <a:normAutofit/>
          </a:bodyPr>
          <a:lstStyle/>
          <a:p>
            <a:pPr algn="ctr">
              <a:lnSpc>
                <a:spcPts val="4400"/>
              </a:lnSpc>
            </a:pPr>
            <a:r>
              <a:rPr lang="en-US" sz="4000" b="1">
                <a:solidFill>
                  <a:srgbClr val="FFFFFF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Infer a hidden state from measurements,</a:t>
            </a:r>
            <a:br>
              <a:rPr lang="en-US" sz="4000"/>
            </a:br>
            <a:r>
              <a:rPr lang="en-US" sz="4000" b="1">
                <a:solidFill>
                  <a:srgbClr val="FFFFFF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a model and uncertainty.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1D4DC-79BB-4941-9E12-1CC02772DED4}"/>
              </a:ext>
            </a:extLst>
          </p:cNvPr>
          <p:cNvSpPr/>
          <p:nvPr/>
        </p:nvSpPr>
        <p:spPr>
          <a:xfrm>
            <a:off x="825500" y="5080000"/>
            <a:ext cx="5080000" cy="3111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B21B4D-8838-4569-9654-D0706E7C0366}"/>
              </a:ext>
            </a:extLst>
          </p:cNvPr>
          <p:cNvSpPr/>
          <p:nvPr/>
        </p:nvSpPr>
        <p:spPr>
          <a:xfrm>
            <a:off x="825500" y="5080000"/>
            <a:ext cx="5080000" cy="88900"/>
          </a:xfrm>
          <a:prstGeom prst="rect">
            <a:avLst/>
          </a:prstGeom>
          <a:solidFill>
            <a:srgbClr val="FD151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198B6-3E44-4DA8-BD94-58DC387587D4}"/>
              </a:ext>
            </a:extLst>
          </p:cNvPr>
          <p:cNvSpPr txBox="1"/>
          <p:nvPr/>
        </p:nvSpPr>
        <p:spPr>
          <a:xfrm>
            <a:off x="1054100" y="5334000"/>
            <a:ext cx="38100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3500" b="1">
                <a:solidFill>
                  <a:srgbClr val="0A2540"/>
                </a:solidFill>
                <a:latin typeface="Montserrat 1 Bold"/>
              </a:rPr>
              <a:t>MEASUREMENT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9D0820-4B8F-4E87-8F3C-8562F40F5273}"/>
              </a:ext>
            </a:extLst>
          </p:cNvPr>
          <p:cNvSpPr txBox="1"/>
          <p:nvPr/>
        </p:nvSpPr>
        <p:spPr>
          <a:xfrm>
            <a:off x="4889500" y="5283200"/>
            <a:ext cx="787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3500" b="1">
                <a:solidFill>
                  <a:srgbClr val="FD151B"/>
                </a:solidFill>
                <a:latin typeface="Cambria Math"/>
                <a:ea typeface="Cambria Math"/>
              </a:rPr>
              <a:t>z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69C6C5-5991-4B97-B4AB-432579F52120}"/>
              </a:ext>
            </a:extLst>
          </p:cNvPr>
          <p:cNvSpPr txBox="1"/>
          <p:nvPr/>
        </p:nvSpPr>
        <p:spPr>
          <a:xfrm>
            <a:off x="1054100" y="6248400"/>
            <a:ext cx="4622800" cy="158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3500">
                <a:solidFill>
                  <a:srgbClr val="0A2540"/>
                </a:solidFill>
                <a:latin typeface="Montserrat 1"/>
              </a:rPr>
              <a:t>What sensors provide about the physical system.</a:t>
            </a:r>
            <a:endParaRPr lang="it-IT" sz="3500">
              <a:solidFill>
                <a:srgbClr val="0A2540"/>
              </a:solidFill>
              <a:latin typeface="Montserrat 1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F2215E-ED97-4653-8935-2EEFA7B94108}"/>
              </a:ext>
            </a:extLst>
          </p:cNvPr>
          <p:cNvSpPr/>
          <p:nvPr/>
        </p:nvSpPr>
        <p:spPr>
          <a:xfrm>
            <a:off x="6604000" y="5080000"/>
            <a:ext cx="5080000" cy="3111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80562-D998-40FF-838F-4C4588518DB9}"/>
              </a:ext>
            </a:extLst>
          </p:cNvPr>
          <p:cNvSpPr/>
          <p:nvPr/>
        </p:nvSpPr>
        <p:spPr>
          <a:xfrm>
            <a:off x="6604000" y="5080000"/>
            <a:ext cx="5080000" cy="88900"/>
          </a:xfrm>
          <a:prstGeom prst="rect">
            <a:avLst/>
          </a:prstGeom>
          <a:solidFill>
            <a:srgbClr val="A8D67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83EAD1-625D-4368-9F24-F6BB9A3E0906}"/>
              </a:ext>
            </a:extLst>
          </p:cNvPr>
          <p:cNvSpPr txBox="1"/>
          <p:nvPr/>
        </p:nvSpPr>
        <p:spPr>
          <a:xfrm>
            <a:off x="6832600" y="5334000"/>
            <a:ext cx="38100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3500" b="1">
                <a:solidFill>
                  <a:srgbClr val="0A2540"/>
                </a:solidFill>
                <a:latin typeface="Montserrat 1 Bold"/>
              </a:rPr>
              <a:t>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0FD3D0-DE17-4061-AEF6-9FAA21858A29}"/>
              </a:ext>
            </a:extLst>
          </p:cNvPr>
          <p:cNvSpPr txBox="1"/>
          <p:nvPr/>
        </p:nvSpPr>
        <p:spPr>
          <a:xfrm>
            <a:off x="10668000" y="5283200"/>
            <a:ext cx="787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3500" b="1">
                <a:solidFill>
                  <a:srgbClr val="A8D67C"/>
                </a:solidFill>
                <a:latin typeface="Cambria Math"/>
                <a:ea typeface="Cambria Math"/>
              </a:rPr>
              <a:t>f, 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EB00E3-D94F-4AAB-AAE1-679B53BBE5D5}"/>
              </a:ext>
            </a:extLst>
          </p:cNvPr>
          <p:cNvSpPr txBox="1"/>
          <p:nvPr/>
        </p:nvSpPr>
        <p:spPr>
          <a:xfrm>
            <a:off x="6832600" y="6248400"/>
            <a:ext cx="4622800" cy="158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/>
          </a:bodyPr>
          <a:lstStyle/>
          <a:p>
            <a:pPr algn="l"/>
            <a:r>
              <a:rPr lang="en-US" sz="3500">
                <a:solidFill>
                  <a:srgbClr val="0A2540"/>
                </a:solidFill>
                <a:latin typeface="Montserrat 1"/>
              </a:rPr>
              <a:t>How the state evolves and produces measurements.</a:t>
            </a:r>
            <a:endParaRPr lang="it-IT" sz="3500">
              <a:solidFill>
                <a:srgbClr val="0A2540"/>
              </a:solidFill>
              <a:latin typeface="Montserrat 1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F94002-3187-4A82-9BB4-DACEE5CCC0C1}"/>
              </a:ext>
            </a:extLst>
          </p:cNvPr>
          <p:cNvSpPr/>
          <p:nvPr/>
        </p:nvSpPr>
        <p:spPr>
          <a:xfrm>
            <a:off x="12382500" y="5080000"/>
            <a:ext cx="5080000" cy="3111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73E2A9-964E-4881-9EC3-5F76EA525C57}"/>
              </a:ext>
            </a:extLst>
          </p:cNvPr>
          <p:cNvSpPr/>
          <p:nvPr/>
        </p:nvSpPr>
        <p:spPr>
          <a:xfrm>
            <a:off x="12382500" y="5080000"/>
            <a:ext cx="5080000" cy="88900"/>
          </a:xfrm>
          <a:prstGeom prst="rect">
            <a:avLst/>
          </a:prstGeom>
          <a:solidFill>
            <a:srgbClr val="FFDE5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E721C2-A499-4FA7-B658-4B6D1993F659}"/>
              </a:ext>
            </a:extLst>
          </p:cNvPr>
          <p:cNvSpPr txBox="1"/>
          <p:nvPr/>
        </p:nvSpPr>
        <p:spPr>
          <a:xfrm>
            <a:off x="12611100" y="5334000"/>
            <a:ext cx="38100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/>
          </a:bodyPr>
          <a:lstStyle/>
          <a:p>
            <a:pPr algn="l"/>
            <a:r>
              <a:rPr lang="it-IT" sz="3500" b="1">
                <a:solidFill>
                  <a:srgbClr val="0A2540"/>
                </a:solidFill>
                <a:latin typeface="Montserrat 1 Bold"/>
              </a:rPr>
              <a:t>STATE ESTIMATE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A3D45D-5686-4A66-93EA-645C4B31FAFE}"/>
                  </a:ext>
                </a:extLst>
              </p:cNvPr>
              <p:cNvSpPr txBox="1"/>
              <p:nvPr/>
            </p:nvSpPr>
            <p:spPr>
              <a:xfrm>
                <a:off x="16446500" y="5283200"/>
                <a:ext cx="787400" cy="736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ˆ"/>
                          <m:ctrlPr>
                            <a:rPr lang="it-IT" sz="3500" b="1" i="1" dirty="0" smtClean="0">
                              <a:solidFill>
                                <a:srgbClr val="FFDE59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it-IT" sz="3500" b="1" i="1" dirty="0" smtClean="0">
                              <a:solidFill>
                                <a:srgbClr val="FFDE59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it-IT" sz="3500" b="1">
                  <a:solidFill>
                    <a:srgbClr val="FFDE59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A3D45D-5686-4A66-93EA-645C4B31F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6500" y="5283200"/>
                <a:ext cx="787400" cy="736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2601FB5E-D396-4F07-BF7D-9F826F60C214}"/>
              </a:ext>
            </a:extLst>
          </p:cNvPr>
          <p:cNvSpPr txBox="1"/>
          <p:nvPr/>
        </p:nvSpPr>
        <p:spPr>
          <a:xfrm>
            <a:off x="12611100" y="6248400"/>
            <a:ext cx="4622800" cy="158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3500">
                <a:solidFill>
                  <a:srgbClr val="0A2540"/>
                </a:solidFill>
                <a:latin typeface="Montserrat 1"/>
              </a:rPr>
              <a:t>The best current inference of the hidden state.</a:t>
            </a:r>
            <a:endParaRPr lang="it-IT" sz="3500">
              <a:solidFill>
                <a:srgbClr val="0A2540"/>
              </a:solidFill>
              <a:latin typeface="Montserrat 1"/>
            </a:endParaRPr>
          </a:p>
        </p:txBody>
      </p:sp>
    </p:spTree>
    <p:extLst>
      <p:ext uri="{BB962C8B-B14F-4D97-AF65-F5344CB8AC3E}">
        <p14:creationId xmlns:p14="http://schemas.microsoft.com/office/powerpoint/2010/main" val="3267617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1650873" y="-3255893"/>
            <a:ext cx="21593175" cy="16192500"/>
          </a:xfrm>
          <a:custGeom>
            <a:avLst/>
            <a:gdLst/>
            <a:ahLst/>
            <a:cxnLst/>
            <a:rect l="l" t="t" r="r" b="b"/>
            <a:pathLst>
              <a:path w="28790900" h="21590000">
                <a:moveTo>
                  <a:pt x="0" y="0"/>
                </a:moveTo>
                <a:lnTo>
                  <a:pt x="28790900" y="0"/>
                </a:lnTo>
                <a:lnTo>
                  <a:pt x="28790900" y="21590000"/>
                </a:lnTo>
                <a:lnTo>
                  <a:pt x="0" y="2159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999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/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34867" y="225762"/>
            <a:ext cx="14729984" cy="14784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12046"/>
              </a:lnSpc>
            </a:pPr>
            <a:r>
              <a:rPr lang="en-US" sz="6924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One attitude-estimation example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D97D11-1D2B-4439-89FF-822E85C0B8BD}"/>
              </a:ext>
            </a:extLst>
          </p:cNvPr>
          <p:cNvSpPr/>
          <p:nvPr/>
        </p:nvSpPr>
        <p:spPr>
          <a:xfrm>
            <a:off x="698500" y="2921000"/>
            <a:ext cx="5080000" cy="3619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66C6D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C8D472-2732-4893-BE48-F711323CB8A2}"/>
              </a:ext>
            </a:extLst>
          </p:cNvPr>
          <p:cNvSpPr/>
          <p:nvPr/>
        </p:nvSpPr>
        <p:spPr>
          <a:xfrm>
            <a:off x="698500" y="2921000"/>
            <a:ext cx="5080000" cy="101600"/>
          </a:xfrm>
          <a:prstGeom prst="rect">
            <a:avLst/>
          </a:prstGeom>
          <a:solidFill>
            <a:srgbClr val="FD151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F426ED-9D7E-4A9E-880C-1EF636CBE7CF}"/>
              </a:ext>
            </a:extLst>
          </p:cNvPr>
          <p:cNvSpPr txBox="1"/>
          <p:nvPr/>
        </p:nvSpPr>
        <p:spPr>
          <a:xfrm>
            <a:off x="977900" y="3238500"/>
            <a:ext cx="45212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3500" b="1">
                <a:solidFill>
                  <a:srgbClr val="0B2A44"/>
                </a:solidFill>
                <a:latin typeface="Montserrat 1 Bold"/>
              </a:rPr>
              <a:t>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E58F12-D808-4EA5-A6E2-12423942EF2D}"/>
                  </a:ext>
                </a:extLst>
              </p:cNvPr>
              <p:cNvSpPr txBox="1"/>
              <p:nvPr/>
            </p:nvSpPr>
            <p:spPr>
              <a:xfrm>
                <a:off x="1003300" y="4191000"/>
                <a:ext cx="44704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3200">
                    <a:solidFill>
                      <a:srgbClr val="0B2A44"/>
                    </a:solidFill>
                    <a:latin typeface="Montserrat 1"/>
                  </a:rPr>
                  <a:t>Measured angular rate</a:t>
                </a:r>
                <a:endParaRPr lang="en-US" sz="3200"/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E58F12-D808-4EA5-A6E2-12423942E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00" y="4191000"/>
                <a:ext cx="4470400" cy="1905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Quaternion derivation source"/>
          <p:cNvSpPr txBox="1"/>
          <p:nvPr/>
        </p:nvSpPr>
        <p:spPr>
          <a:xfrm>
            <a:off x="1054100" y="9715500"/>
            <a:ext cx="1371600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</a:rPr>
              <a:t>Reference: J. Solà (2017), Quaternion kinematics for the error-state Kalman filter.</a:t>
            </a:r>
          </a:p>
        </p:txBody>
      </p:sp>
      <p:pic>
        <p:nvPicPr>
          <p:cNvPr id="12" name="Picture 11" descr="Gyroscope - SparkFun Learn">
            <a:extLst>
              <a:ext uri="{FF2B5EF4-FFF2-40B4-BE49-F238E27FC236}">
                <a16:creationId xmlns:a16="http://schemas.microsoft.com/office/drawing/2014/main" id="{B7AD790C-9A18-6C86-13A8-E91026DCD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560" y="6453921"/>
            <a:ext cx="2817079" cy="2817079"/>
          </a:xfrm>
          <a:prstGeom prst="rect">
            <a:avLst/>
          </a:prstGeom>
        </p:spPr>
      </p:pic>
      <p:pic>
        <p:nvPicPr>
          <p:cNvPr id="13" name="Picture 12" descr="Premium Fiber Optic Gyroscope Manufacturer | GuideNav">
            <a:extLst>
              <a:ext uri="{FF2B5EF4-FFF2-40B4-BE49-F238E27FC236}">
                <a16:creationId xmlns:a16="http://schemas.microsoft.com/office/drawing/2014/main" id="{553F7A7E-DE80-4ECC-7F05-994518C3B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0" y="3587750"/>
            <a:ext cx="5276850" cy="5276850"/>
          </a:xfrm>
          <a:prstGeom prst="rect">
            <a:avLst/>
          </a:prstGeom>
        </p:spPr>
      </p:pic>
      <p:pic>
        <p:nvPicPr>
          <p:cNvPr id="17" name="Picture 16" descr="GNSS heading technology for accurate positioning and direction">
            <a:extLst>
              <a:ext uri="{FF2B5EF4-FFF2-40B4-BE49-F238E27FC236}">
                <a16:creationId xmlns:a16="http://schemas.microsoft.com/office/drawing/2014/main" id="{6FF86087-2C34-2214-042C-9CD8E19F29E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572" t="6099" r="16227" b="7228"/>
          <a:stretch>
            <a:fillRect/>
          </a:stretch>
        </p:blipFill>
        <p:spPr>
          <a:xfrm>
            <a:off x="12420600" y="2781300"/>
            <a:ext cx="46482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515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AAF079-975D-D1DB-F186-560E81E87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DFC457-2D53-2EF2-7F0E-F50C25EECED1}"/>
              </a:ext>
            </a:extLst>
          </p:cNvPr>
          <p:cNvGrpSpPr/>
          <p:nvPr/>
        </p:nvGrpSpPr>
        <p:grpSpPr>
          <a:xfrm>
            <a:off x="-1650873" y="-3390900"/>
            <a:ext cx="21593175" cy="16192500"/>
            <a:chOff x="0" y="0"/>
            <a:chExt cx="28790900" cy="2159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042F7DC-93EB-BB44-5B4D-A6E96707F756}"/>
                </a:ext>
              </a:extLst>
            </p:cNvPr>
            <p:cNvSpPr/>
            <p:nvPr/>
          </p:nvSpPr>
          <p:spPr>
            <a:xfrm>
              <a:off x="0" y="0"/>
              <a:ext cx="28790900" cy="21590000"/>
            </a:xfrm>
            <a:custGeom>
              <a:avLst/>
              <a:gdLst/>
              <a:ahLst/>
              <a:cxnLst/>
              <a:rect l="l" t="t" r="r" b="b"/>
              <a:pathLst>
                <a:path w="28790900" h="21590000">
                  <a:moveTo>
                    <a:pt x="0" y="0"/>
                  </a:moveTo>
                  <a:lnTo>
                    <a:pt x="28790900" y="0"/>
                  </a:lnTo>
                  <a:lnTo>
                    <a:pt x="28790900" y="21590000"/>
                  </a:lnTo>
                  <a:lnTo>
                    <a:pt x="0" y="2159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0C6D46A-1836-FEA2-64AF-B2B4CE542C12}"/>
              </a:ext>
            </a:extLst>
          </p:cNvPr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CD39438-B1AD-AD46-F59E-61C4D931A69A}"/>
                </a:ext>
              </a:extLst>
            </p:cNvPr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600702C-0917-C8F5-01B0-7D06153D6C28}"/>
              </a:ext>
            </a:extLst>
          </p:cNvPr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0444401-50A5-7152-FD6C-8907C97EF278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5489A4C-C474-3CFE-B055-D188E227F2D9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1B1F0921-5C2A-1458-A150-69522B5309BC}"/>
              </a:ext>
            </a:extLst>
          </p:cNvPr>
          <p:cNvSpPr txBox="1"/>
          <p:nvPr/>
        </p:nvSpPr>
        <p:spPr>
          <a:xfrm>
            <a:off x="234867" y="225762"/>
            <a:ext cx="14729984" cy="14784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12046"/>
              </a:lnSpc>
            </a:pPr>
            <a:r>
              <a:rPr lang="en-US" sz="6924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One attitude-estimation example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8A1E41-A9EE-5A9E-C8F9-9F9021882664}"/>
              </a:ext>
            </a:extLst>
          </p:cNvPr>
          <p:cNvSpPr/>
          <p:nvPr/>
        </p:nvSpPr>
        <p:spPr>
          <a:xfrm>
            <a:off x="698500" y="2921000"/>
            <a:ext cx="5080000" cy="3619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66C6D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0F9722-29D7-0F53-4067-76292A9C1B1C}"/>
              </a:ext>
            </a:extLst>
          </p:cNvPr>
          <p:cNvSpPr/>
          <p:nvPr/>
        </p:nvSpPr>
        <p:spPr>
          <a:xfrm>
            <a:off x="698500" y="2921000"/>
            <a:ext cx="5080000" cy="101600"/>
          </a:xfrm>
          <a:prstGeom prst="rect">
            <a:avLst/>
          </a:prstGeom>
          <a:solidFill>
            <a:srgbClr val="FD151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300092-34CD-EACA-8A93-D0FDBF6B2C54}"/>
              </a:ext>
            </a:extLst>
          </p:cNvPr>
          <p:cNvSpPr txBox="1"/>
          <p:nvPr/>
        </p:nvSpPr>
        <p:spPr>
          <a:xfrm>
            <a:off x="977900" y="3238500"/>
            <a:ext cx="45212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3500" b="1">
                <a:solidFill>
                  <a:srgbClr val="0B2A44"/>
                </a:solidFill>
                <a:latin typeface="Montserrat 1 Bold"/>
              </a:rPr>
              <a:t>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2D32C93-3299-9E72-3ED5-2FC7D8549478}"/>
                  </a:ext>
                </a:extLst>
              </p:cNvPr>
              <p:cNvSpPr txBox="1"/>
              <p:nvPr/>
            </p:nvSpPr>
            <p:spPr>
              <a:xfrm>
                <a:off x="1003300" y="4191000"/>
                <a:ext cx="44704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3200">
                    <a:solidFill>
                      <a:srgbClr val="0B2A44"/>
                    </a:solidFill>
                    <a:latin typeface="Montserrat 1"/>
                  </a:rPr>
                  <a:t>Measured angular rate</a:t>
                </a:r>
                <a:endParaRPr lang="en-US" sz="320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it-IT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it-IT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2D32C93-3299-9E72-3ED5-2FC7D8549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00" y="4191000"/>
                <a:ext cx="4470400" cy="1905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A61697CD-6FF9-B17D-ACC6-238A84BED61E}"/>
              </a:ext>
            </a:extLst>
          </p:cNvPr>
          <p:cNvSpPr/>
          <p:nvPr/>
        </p:nvSpPr>
        <p:spPr>
          <a:xfrm>
            <a:off x="6604000" y="2921000"/>
            <a:ext cx="5080000" cy="3619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66C6D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00C6CB-370B-E1EC-68D2-D1C52A4B0949}"/>
              </a:ext>
            </a:extLst>
          </p:cNvPr>
          <p:cNvSpPr/>
          <p:nvPr/>
        </p:nvSpPr>
        <p:spPr>
          <a:xfrm>
            <a:off x="6604000" y="2921000"/>
            <a:ext cx="5080000" cy="101600"/>
          </a:xfrm>
          <a:prstGeom prst="rect">
            <a:avLst/>
          </a:prstGeom>
          <a:solidFill>
            <a:srgbClr val="A8D67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BA7920-B11F-38A8-49C4-A9DDE1E1C9F2}"/>
              </a:ext>
            </a:extLst>
          </p:cNvPr>
          <p:cNvSpPr txBox="1"/>
          <p:nvPr/>
        </p:nvSpPr>
        <p:spPr>
          <a:xfrm>
            <a:off x="6883400" y="3238500"/>
            <a:ext cx="45212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3500" b="1">
                <a:solidFill>
                  <a:srgbClr val="0B2A44"/>
                </a:solidFill>
                <a:latin typeface="Montserrat 1 Bold"/>
              </a:rPr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622A877-E9BB-8FB3-20BC-F4DE29ADC056}"/>
                  </a:ext>
                </a:extLst>
              </p:cNvPr>
              <p:cNvSpPr txBox="1"/>
              <p:nvPr/>
            </p:nvSpPr>
            <p:spPr>
              <a:xfrm>
                <a:off x="6908800" y="4191000"/>
                <a:ext cx="44704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3200">
                    <a:solidFill>
                      <a:srgbClr val="0B2A44"/>
                    </a:solidFill>
                    <a:latin typeface="Montserrat 1"/>
                  </a:rPr>
                  <a:t>Remove estimated bias</a:t>
                </a:r>
                <a:endParaRPr lang="en-US" sz="3200"/>
              </a:p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ˆ"/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acc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it-IT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ˆ"/>
                          <m:ctrlPr>
                            <a:rPr lang="it-IT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it-IT" sz="3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622A877-E9BB-8FB3-20BC-F4DE29ADC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00" y="4191000"/>
                <a:ext cx="4470400" cy="1905000"/>
              </a:xfrm>
              <a:prstGeom prst="rect">
                <a:avLst/>
              </a:prstGeom>
              <a:blipFill>
                <a:blip r:embed="rId5"/>
                <a:stretch>
                  <a:fillRect r="-1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7D9F9B5-15DD-AC34-B8FF-21E67BEDE187}"/>
              </a:ext>
            </a:extLst>
          </p:cNvPr>
          <p:cNvSpPr txBox="1"/>
          <p:nvPr/>
        </p:nvSpPr>
        <p:spPr>
          <a:xfrm>
            <a:off x="12788900" y="3238500"/>
            <a:ext cx="45212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endParaRPr lang="it-IT" sz="3500" b="1">
              <a:solidFill>
                <a:srgbClr val="0B2A44"/>
              </a:solidFill>
              <a:latin typeface="Montserrat 1 Bold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974219F7-FADD-40D3-6424-3D6792AE23CE}"/>
              </a:ext>
            </a:extLst>
          </p:cNvPr>
          <p:cNvSpPr/>
          <p:nvPr/>
        </p:nvSpPr>
        <p:spPr>
          <a:xfrm>
            <a:off x="5905500" y="4445000"/>
            <a:ext cx="533400" cy="609600"/>
          </a:xfrm>
          <a:prstGeom prst="chevron">
            <a:avLst/>
          </a:prstGeom>
          <a:solidFill>
            <a:srgbClr val="FF63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>
              <a:solidFill>
                <a:schemeClr val="tx1"/>
              </a:solidFill>
            </a:endParaRPr>
          </a:p>
        </p:txBody>
      </p:sp>
      <p:sp>
        <p:nvSpPr>
          <p:cNvPr id="38" name="Quaternion derivation source">
            <a:extLst>
              <a:ext uri="{FF2B5EF4-FFF2-40B4-BE49-F238E27FC236}">
                <a16:creationId xmlns:a16="http://schemas.microsoft.com/office/drawing/2014/main" id="{7396C1CE-F10D-82C9-99C3-CBD1037F3D11}"/>
              </a:ext>
            </a:extLst>
          </p:cNvPr>
          <p:cNvSpPr txBox="1"/>
          <p:nvPr/>
        </p:nvSpPr>
        <p:spPr>
          <a:xfrm>
            <a:off x="1054100" y="9715500"/>
            <a:ext cx="1371600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</a:rPr>
              <a:t>Reference: J. Solà (2017), Quaternion kinematics for the error-state Kalman filter.</a:t>
            </a:r>
          </a:p>
        </p:txBody>
      </p:sp>
      <p:pic>
        <p:nvPicPr>
          <p:cNvPr id="12" name="Picture 11" descr="Towards understanding IMU: Basics of Accelerometer and Gyroscope Sensors and How to Compute Pitch, Roll and Yaw Angles - Atadiat">
            <a:extLst>
              <a:ext uri="{FF2B5EF4-FFF2-40B4-BE49-F238E27FC236}">
                <a16:creationId xmlns:a16="http://schemas.microsoft.com/office/drawing/2014/main" id="{C98B4EE3-9C98-EEA1-4A05-943AC12F26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0000"/>
          <a:stretch>
            <a:fillRect/>
          </a:stretch>
        </p:blipFill>
        <p:spPr>
          <a:xfrm>
            <a:off x="1191197" y="6775006"/>
            <a:ext cx="7982295" cy="2951383"/>
          </a:xfrm>
          <a:prstGeom prst="rect">
            <a:avLst/>
          </a:prstGeom>
        </p:spPr>
      </p:pic>
      <p:pic>
        <p:nvPicPr>
          <p:cNvPr id="13" name="Picture 11" descr="Towards understanding IMU: Basics of Accelerometer and Gyroscope Sensors and How to Compute Pitch, Roll and Yaw Angles - Atadiat">
            <a:extLst>
              <a:ext uri="{FF2B5EF4-FFF2-40B4-BE49-F238E27FC236}">
                <a16:creationId xmlns:a16="http://schemas.microsoft.com/office/drawing/2014/main" id="{4A6FA0B6-C672-254C-3BB4-352C754A55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9916"/>
          <a:stretch>
            <a:fillRect/>
          </a:stretch>
        </p:blipFill>
        <p:spPr>
          <a:xfrm>
            <a:off x="9605114" y="6744280"/>
            <a:ext cx="8069364" cy="298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98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E660A-30D4-5C31-863D-E13811D81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F18F826-EAD7-0B97-7180-88170EA0004E}"/>
              </a:ext>
            </a:extLst>
          </p:cNvPr>
          <p:cNvGrpSpPr/>
          <p:nvPr/>
        </p:nvGrpSpPr>
        <p:grpSpPr>
          <a:xfrm>
            <a:off x="-1650873" y="-3255893"/>
            <a:ext cx="21593175" cy="16192500"/>
            <a:chOff x="0" y="0"/>
            <a:chExt cx="28790900" cy="2159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7208E85-F557-5700-8A55-480724958D00}"/>
                </a:ext>
              </a:extLst>
            </p:cNvPr>
            <p:cNvSpPr/>
            <p:nvPr/>
          </p:nvSpPr>
          <p:spPr>
            <a:xfrm>
              <a:off x="0" y="0"/>
              <a:ext cx="28790900" cy="21590000"/>
            </a:xfrm>
            <a:custGeom>
              <a:avLst/>
              <a:gdLst/>
              <a:ahLst/>
              <a:cxnLst/>
              <a:rect l="l" t="t" r="r" b="b"/>
              <a:pathLst>
                <a:path w="28790900" h="21590000">
                  <a:moveTo>
                    <a:pt x="0" y="0"/>
                  </a:moveTo>
                  <a:lnTo>
                    <a:pt x="28790900" y="0"/>
                  </a:lnTo>
                  <a:lnTo>
                    <a:pt x="28790900" y="21590000"/>
                  </a:lnTo>
                  <a:lnTo>
                    <a:pt x="0" y="2159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4751CF3-4B4A-93F6-B0C9-FC402CBE9627}"/>
              </a:ext>
            </a:extLst>
          </p:cNvPr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2B69A26-939B-9A51-1B06-3D77B03C1639}"/>
                </a:ext>
              </a:extLst>
            </p:cNvPr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064A081-0347-2A72-563D-14CAEA250D5D}"/>
              </a:ext>
            </a:extLst>
          </p:cNvPr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2F0711C-54B3-0BF1-83D6-3405EEA6E3CE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DC90245-3CD3-1AB4-2B9B-D88FE1DCFAE7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73C25DE5-1BB6-678C-E3C4-803C992A4E31}"/>
              </a:ext>
            </a:extLst>
          </p:cNvPr>
          <p:cNvSpPr txBox="1"/>
          <p:nvPr/>
        </p:nvSpPr>
        <p:spPr>
          <a:xfrm>
            <a:off x="234867" y="225762"/>
            <a:ext cx="14729984" cy="14784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12046"/>
              </a:lnSpc>
            </a:pPr>
            <a:r>
              <a:rPr lang="en-US" sz="6924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One attitude-estimation example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1E3AE7-425C-2914-DD75-8B1B0CCD004F}"/>
              </a:ext>
            </a:extLst>
          </p:cNvPr>
          <p:cNvSpPr/>
          <p:nvPr/>
        </p:nvSpPr>
        <p:spPr>
          <a:xfrm>
            <a:off x="698500" y="2921000"/>
            <a:ext cx="5080000" cy="3619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66C6D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4AE05E-497E-E3DB-0557-E4DA3C11B46B}"/>
              </a:ext>
            </a:extLst>
          </p:cNvPr>
          <p:cNvSpPr/>
          <p:nvPr/>
        </p:nvSpPr>
        <p:spPr>
          <a:xfrm>
            <a:off x="698500" y="2921000"/>
            <a:ext cx="5080000" cy="101600"/>
          </a:xfrm>
          <a:prstGeom prst="rect">
            <a:avLst/>
          </a:prstGeom>
          <a:solidFill>
            <a:srgbClr val="FD151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607360-D83D-8074-001C-69AD8938D3AB}"/>
              </a:ext>
            </a:extLst>
          </p:cNvPr>
          <p:cNvSpPr txBox="1"/>
          <p:nvPr/>
        </p:nvSpPr>
        <p:spPr>
          <a:xfrm>
            <a:off x="977900" y="3238500"/>
            <a:ext cx="45212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3500" b="1">
                <a:solidFill>
                  <a:srgbClr val="0B2A44"/>
                </a:solidFill>
                <a:latin typeface="Montserrat 1 Bold"/>
              </a:rPr>
              <a:t>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992E5CD-FF42-915C-6764-28E69FF8A99A}"/>
                  </a:ext>
                </a:extLst>
              </p:cNvPr>
              <p:cNvSpPr txBox="1"/>
              <p:nvPr/>
            </p:nvSpPr>
            <p:spPr>
              <a:xfrm>
                <a:off x="1003300" y="4191000"/>
                <a:ext cx="44704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3200">
                    <a:solidFill>
                      <a:srgbClr val="0B2A44"/>
                    </a:solidFill>
                    <a:latin typeface="Montserrat 1"/>
                  </a:rPr>
                  <a:t>Measured angular rate</a:t>
                </a:r>
                <a:endParaRPr lang="en-US" sz="320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it-IT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it-IT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it-IT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992E5CD-FF42-915C-6764-28E69FF8A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00" y="4191000"/>
                <a:ext cx="4470400" cy="1905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AC953F5F-63C3-2117-D60F-9976CB07AE23}"/>
              </a:ext>
            </a:extLst>
          </p:cNvPr>
          <p:cNvSpPr/>
          <p:nvPr/>
        </p:nvSpPr>
        <p:spPr>
          <a:xfrm>
            <a:off x="6604000" y="2921000"/>
            <a:ext cx="5080000" cy="3619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66C6D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B68D4E-0191-AB08-99D4-A47C2730B5CA}"/>
              </a:ext>
            </a:extLst>
          </p:cNvPr>
          <p:cNvSpPr/>
          <p:nvPr/>
        </p:nvSpPr>
        <p:spPr>
          <a:xfrm>
            <a:off x="6604000" y="2921000"/>
            <a:ext cx="5080000" cy="101600"/>
          </a:xfrm>
          <a:prstGeom prst="rect">
            <a:avLst/>
          </a:prstGeom>
          <a:solidFill>
            <a:srgbClr val="A8D67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54E580-A3FF-D2A1-C5DA-E2DF0D16FB42}"/>
              </a:ext>
            </a:extLst>
          </p:cNvPr>
          <p:cNvSpPr txBox="1"/>
          <p:nvPr/>
        </p:nvSpPr>
        <p:spPr>
          <a:xfrm>
            <a:off x="6883400" y="3238500"/>
            <a:ext cx="45212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3500" b="1">
                <a:solidFill>
                  <a:srgbClr val="0B2A44"/>
                </a:solidFill>
                <a:latin typeface="Montserrat 1 Bold"/>
              </a:rPr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A7DA8C2-8AA9-B386-11C1-2A00BB5BD0A6}"/>
                  </a:ext>
                </a:extLst>
              </p:cNvPr>
              <p:cNvSpPr txBox="1"/>
              <p:nvPr/>
            </p:nvSpPr>
            <p:spPr>
              <a:xfrm>
                <a:off x="6908800" y="4191000"/>
                <a:ext cx="44704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3200">
                    <a:solidFill>
                      <a:srgbClr val="0B2A44"/>
                    </a:solidFill>
                    <a:latin typeface="Montserrat 1"/>
                  </a:rPr>
                  <a:t>Remove estimated bias</a:t>
                </a:r>
                <a:endParaRPr lang="en-US" sz="3200"/>
              </a:p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ˆ"/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acc>
                      <m:r>
                        <a:rPr lang="it-IT" sz="3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it-IT" sz="32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ˆ"/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A7DA8C2-8AA9-B386-11C1-2A00BB5BD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00" y="4191000"/>
                <a:ext cx="4470400" cy="1905000"/>
              </a:xfrm>
              <a:prstGeom prst="rect">
                <a:avLst/>
              </a:prstGeom>
              <a:blipFill>
                <a:blip r:embed="rId5"/>
                <a:stretch>
                  <a:fillRect r="-1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56A0F1DD-7A6A-5D8C-3641-0CEE1CD47591}"/>
              </a:ext>
            </a:extLst>
          </p:cNvPr>
          <p:cNvSpPr/>
          <p:nvPr/>
        </p:nvSpPr>
        <p:spPr>
          <a:xfrm>
            <a:off x="12509500" y="2921000"/>
            <a:ext cx="5080000" cy="3619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66C6D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44809C-BDC1-C51B-F987-B10F3B7F0DF7}"/>
              </a:ext>
            </a:extLst>
          </p:cNvPr>
          <p:cNvSpPr/>
          <p:nvPr/>
        </p:nvSpPr>
        <p:spPr>
          <a:xfrm>
            <a:off x="12509500" y="2921000"/>
            <a:ext cx="5080000" cy="101600"/>
          </a:xfrm>
          <a:prstGeom prst="rect">
            <a:avLst/>
          </a:prstGeom>
          <a:solidFill>
            <a:srgbClr val="FFDE5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918980-3383-B278-AD59-D081BDD6FBB6}"/>
              </a:ext>
            </a:extLst>
          </p:cNvPr>
          <p:cNvSpPr txBox="1"/>
          <p:nvPr/>
        </p:nvSpPr>
        <p:spPr>
          <a:xfrm>
            <a:off x="12788900" y="3238500"/>
            <a:ext cx="45212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3500" b="1">
                <a:solidFill>
                  <a:srgbClr val="0B2A44"/>
                </a:solidFill>
                <a:latin typeface="Montserrat 1 Bold"/>
              </a:rPr>
              <a:t>STATE ESTIMATE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71A3834-73BE-4DF0-CFF5-02EB4B143617}"/>
                  </a:ext>
                </a:extLst>
              </p:cNvPr>
              <p:cNvSpPr txBox="1"/>
              <p:nvPr/>
            </p:nvSpPr>
            <p:spPr>
              <a:xfrm>
                <a:off x="12814300" y="4423603"/>
                <a:ext cx="44704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3200">
                    <a:solidFill>
                      <a:srgbClr val="0B2A44"/>
                    </a:solidFill>
                    <a:latin typeface="Montserrat 1"/>
                  </a:rPr>
                  <a:t>Compose small rotations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it-IT" sz="32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ˆ"/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it-IT" sz="32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it-IT" sz="32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3200">
                  <a:solidFill>
                    <a:srgbClr val="0B2A44"/>
                  </a:solidFill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ˆ"/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it-IT" sz="32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ˆ"/>
                              <m:ctrlP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it-IT" sz="3200" b="0" i="1" smtClean="0">
                                      <a:solidFill>
                                        <a:srgbClr val="0B2A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sz="3200" b="0" i="1" smtClean="0">
                                      <a:solidFill>
                                        <a:srgbClr val="0B2A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  <m:sub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>
                  <a:solidFill>
                    <a:srgbClr val="0B2A44"/>
                  </a:solidFill>
                  <a:latin typeface="Cambria Math"/>
                </a:endParaRPr>
              </a:p>
              <a:p>
                <a:pPr algn="l"/>
                <a:endParaRPr lang="en-US" sz="2400">
                  <a:solidFill>
                    <a:srgbClr val="0B2A44"/>
                  </a:solidFill>
                  <a:latin typeface="Cambria Math"/>
                </a:endParaRPr>
              </a:p>
              <a:p>
                <a:pPr algn="l"/>
                <a:r>
                  <a:rPr lang="en-US" sz="2400">
                    <a:solidFill>
                      <a:srgbClr val="0B2A44"/>
                    </a:solidFill>
                    <a:latin typeface="Cambria Math"/>
                  </a:rPr>
                  <a:t>x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71A3834-73BE-4DF0-CFF5-02EB4B143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4300" y="4423603"/>
                <a:ext cx="4470400" cy="1905000"/>
              </a:xfrm>
              <a:prstGeom prst="rect">
                <a:avLst/>
              </a:prstGeom>
              <a:blipFill>
                <a:blip r:embed="rId6"/>
                <a:stretch>
                  <a:fillRect l="-4093" t="-29167" b="-32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3D0A4D0A-1B87-DFDE-E075-E49E4F50A064}"/>
              </a:ext>
            </a:extLst>
          </p:cNvPr>
          <p:cNvSpPr/>
          <p:nvPr/>
        </p:nvSpPr>
        <p:spPr>
          <a:xfrm>
            <a:off x="5905500" y="4445000"/>
            <a:ext cx="533400" cy="609600"/>
          </a:xfrm>
          <a:prstGeom prst="chevron">
            <a:avLst/>
          </a:prstGeom>
          <a:solidFill>
            <a:srgbClr val="FF63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>
              <a:solidFill>
                <a:schemeClr val="tx1"/>
              </a:solidFill>
            </a:endParaRP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6DA6961F-280D-FD04-8CD2-7315CA0D18D9}"/>
              </a:ext>
            </a:extLst>
          </p:cNvPr>
          <p:cNvSpPr/>
          <p:nvPr/>
        </p:nvSpPr>
        <p:spPr>
          <a:xfrm>
            <a:off x="11811000" y="4445000"/>
            <a:ext cx="533400" cy="609600"/>
          </a:xfrm>
          <a:prstGeom prst="chevron">
            <a:avLst/>
          </a:prstGeom>
          <a:solidFill>
            <a:srgbClr val="FF63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>
              <a:solidFill>
                <a:schemeClr val="tx1"/>
              </a:solidFill>
            </a:endParaRPr>
          </a:p>
        </p:txBody>
      </p:sp>
      <p:sp>
        <p:nvSpPr>
          <p:cNvPr id="38" name="Quaternion derivation source">
            <a:extLst>
              <a:ext uri="{FF2B5EF4-FFF2-40B4-BE49-F238E27FC236}">
                <a16:creationId xmlns:a16="http://schemas.microsoft.com/office/drawing/2014/main" id="{76A918F3-CB47-88C9-4E2E-2A2FAA90700B}"/>
              </a:ext>
            </a:extLst>
          </p:cNvPr>
          <p:cNvSpPr txBox="1"/>
          <p:nvPr/>
        </p:nvSpPr>
        <p:spPr>
          <a:xfrm>
            <a:off x="1054100" y="9715500"/>
            <a:ext cx="1371600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</a:rPr>
              <a:t>Reference: J. Solà (2017), Quaternion kinematics for the error-state Kalman filter.</a:t>
            </a:r>
          </a:p>
        </p:txBody>
      </p:sp>
      <p:pic>
        <p:nvPicPr>
          <p:cNvPr id="10" name="Picture 9" descr="Euler Rotation Example: 3-1-2 or xyz Euler Rotation Sequence. Euler... |  Download Scientific Diagram">
            <a:extLst>
              <a:ext uri="{FF2B5EF4-FFF2-40B4-BE49-F238E27FC236}">
                <a16:creationId xmlns:a16="http://schemas.microsoft.com/office/drawing/2014/main" id="{3637BB4E-9958-AF0D-4462-F11E168919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6175" y="6768592"/>
            <a:ext cx="80962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68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B3068-5B51-0E90-66D9-1CF722F2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9868C0-DAF7-86A6-653C-A677217EEAA4}"/>
              </a:ext>
            </a:extLst>
          </p:cNvPr>
          <p:cNvGrpSpPr/>
          <p:nvPr/>
        </p:nvGrpSpPr>
        <p:grpSpPr>
          <a:xfrm>
            <a:off x="-1650873" y="-3314700"/>
            <a:ext cx="21593175" cy="16192500"/>
            <a:chOff x="0" y="0"/>
            <a:chExt cx="28790900" cy="2159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41DBD70-5A25-3508-BCA8-718C73BC9296}"/>
                </a:ext>
              </a:extLst>
            </p:cNvPr>
            <p:cNvSpPr/>
            <p:nvPr/>
          </p:nvSpPr>
          <p:spPr>
            <a:xfrm>
              <a:off x="0" y="0"/>
              <a:ext cx="28790900" cy="21590000"/>
            </a:xfrm>
            <a:custGeom>
              <a:avLst/>
              <a:gdLst/>
              <a:ahLst/>
              <a:cxnLst/>
              <a:rect l="l" t="t" r="r" b="b"/>
              <a:pathLst>
                <a:path w="28790900" h="21590000">
                  <a:moveTo>
                    <a:pt x="0" y="0"/>
                  </a:moveTo>
                  <a:lnTo>
                    <a:pt x="28790900" y="0"/>
                  </a:lnTo>
                  <a:lnTo>
                    <a:pt x="28790900" y="21590000"/>
                  </a:lnTo>
                  <a:lnTo>
                    <a:pt x="0" y="2159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D0ED3CB-1794-A219-E234-CF515E4E8610}"/>
              </a:ext>
            </a:extLst>
          </p:cNvPr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8A30120-E5F0-F096-D97B-729EFD79CAD4}"/>
                </a:ext>
              </a:extLst>
            </p:cNvPr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5DA892D-4562-C811-3C9F-023D7296CC2A}"/>
              </a:ext>
            </a:extLst>
          </p:cNvPr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0F9E2F6-B116-864B-BEB1-F9D679BD1052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4E18B93-8EB5-2EE2-5288-7B3904884605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BD206D3-FA31-E83F-05C7-0FEF6E690C57}"/>
              </a:ext>
            </a:extLst>
          </p:cNvPr>
          <p:cNvSpPr txBox="1"/>
          <p:nvPr/>
        </p:nvSpPr>
        <p:spPr>
          <a:xfrm>
            <a:off x="234867" y="225762"/>
            <a:ext cx="14729984" cy="14784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12046"/>
              </a:lnSpc>
            </a:pPr>
            <a:r>
              <a:rPr lang="en-US" sz="6924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Quaternion integration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5E97BE-2229-4854-8689-C636BB0A4F15}"/>
              </a:ext>
            </a:extLst>
          </p:cNvPr>
          <p:cNvSpPr/>
          <p:nvPr/>
        </p:nvSpPr>
        <p:spPr>
          <a:xfrm>
            <a:off x="736600" y="3048000"/>
            <a:ext cx="7950200" cy="36322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00BA29-B760-4CCA-A58D-56C5C24C1D5D}"/>
              </a:ext>
            </a:extLst>
          </p:cNvPr>
          <p:cNvSpPr/>
          <p:nvPr/>
        </p:nvSpPr>
        <p:spPr>
          <a:xfrm>
            <a:off x="736600" y="3048000"/>
            <a:ext cx="7950200" cy="101600"/>
          </a:xfrm>
          <a:prstGeom prst="rect">
            <a:avLst/>
          </a:prstGeom>
          <a:solidFill>
            <a:srgbClr val="00B8C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BB8ABE-9C99-41E6-9EC7-44C42E19972A}"/>
              </a:ext>
            </a:extLst>
          </p:cNvPr>
          <p:cNvSpPr/>
          <p:nvPr/>
        </p:nvSpPr>
        <p:spPr>
          <a:xfrm>
            <a:off x="736600" y="6985000"/>
            <a:ext cx="7950200" cy="19939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9BD65C-5BEA-4568-8611-3FD3087EC991}"/>
              </a:ext>
            </a:extLst>
          </p:cNvPr>
          <p:cNvSpPr/>
          <p:nvPr/>
        </p:nvSpPr>
        <p:spPr>
          <a:xfrm>
            <a:off x="736600" y="6985000"/>
            <a:ext cx="7950200" cy="101600"/>
          </a:xfrm>
          <a:prstGeom prst="rect">
            <a:avLst/>
          </a:prstGeom>
          <a:solidFill>
            <a:srgbClr val="A7D86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C0D418-BF6B-4A70-8672-1284009D6987}"/>
              </a:ext>
            </a:extLst>
          </p:cNvPr>
          <p:cNvSpPr/>
          <p:nvPr/>
        </p:nvSpPr>
        <p:spPr>
          <a:xfrm>
            <a:off x="9118600" y="6985000"/>
            <a:ext cx="8432800" cy="19939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793CA7-DF23-49F3-AC68-5664F229FF3D}"/>
              </a:ext>
            </a:extLst>
          </p:cNvPr>
          <p:cNvSpPr/>
          <p:nvPr/>
        </p:nvSpPr>
        <p:spPr>
          <a:xfrm>
            <a:off x="9118600" y="6985000"/>
            <a:ext cx="8432800" cy="1016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1F72CB-6AB3-4060-96CC-AF3BC3E91432}"/>
              </a:ext>
            </a:extLst>
          </p:cNvPr>
          <p:cNvSpPr txBox="1"/>
          <p:nvPr/>
        </p:nvSpPr>
        <p:spPr>
          <a:xfrm>
            <a:off x="990600" y="9918700"/>
            <a:ext cx="13970000" cy="2413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B8C6CC"/>
                </a:solidFill>
                <a:latin typeface="Montserrat 1"/>
                <a:cs typeface="Arial"/>
              </a:rPr>
              <a:t>Reference: J. Solà (2017), Quaternion kinematics for the error-state Kalman filter.</a:t>
            </a:r>
            <a:endParaRPr lang="it-IT" sz="1000">
              <a:solidFill>
                <a:srgbClr val="B8C6CC"/>
              </a:solidFill>
              <a:latin typeface="Montserrat 1"/>
              <a:cs typeface="Arial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4B0C72-B106-F9A2-23AD-D8865FAA574D}"/>
              </a:ext>
            </a:extLst>
          </p:cNvPr>
          <p:cNvSpPr/>
          <p:nvPr/>
        </p:nvSpPr>
        <p:spPr>
          <a:xfrm>
            <a:off x="9118600" y="3048000"/>
            <a:ext cx="8432800" cy="36322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66C6D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4305DF-5858-7DE0-8AC3-1C982A65F212}"/>
              </a:ext>
            </a:extLst>
          </p:cNvPr>
          <p:cNvSpPr/>
          <p:nvPr/>
        </p:nvSpPr>
        <p:spPr>
          <a:xfrm>
            <a:off x="9118600" y="3048000"/>
            <a:ext cx="8432800" cy="101600"/>
          </a:xfrm>
          <a:prstGeom prst="rect">
            <a:avLst/>
          </a:prstGeom>
          <a:solidFill>
            <a:srgbClr val="FFDE5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Slide insight">
            <a:extLst>
              <a:ext uri="{FF2B5EF4-FFF2-40B4-BE49-F238E27FC236}">
                <a16:creationId xmlns:a16="http://schemas.microsoft.com/office/drawing/2014/main" id="{6A7F5AAB-548D-4C1C-9B00-AF065ACE9BAF}"/>
              </a:ext>
            </a:extLst>
          </p:cNvPr>
          <p:cNvSpPr txBox="1"/>
          <p:nvPr/>
        </p:nvSpPr>
        <p:spPr>
          <a:xfrm>
            <a:off x="736600" y="2184400"/>
            <a:ext cx="16814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900" b="1">
                <a:solidFill>
                  <a:srgbClr val="FF5A00"/>
                </a:solidFill>
                <a:latin typeface="Montserrat 2 Medium"/>
                <a:cs typeface="Arial"/>
              </a:rPr>
              <a:t>Gyro rate becomes a sequence of small rotations</a:t>
            </a:r>
            <a:endParaRPr lang="it-IT" sz="3900" b="1">
              <a:solidFill>
                <a:srgbClr val="FF5A00"/>
              </a:solidFill>
              <a:latin typeface="Montserrat 2 Medium"/>
              <a:cs typeface="Arial"/>
            </a:endParaRPr>
          </a:p>
        </p:txBody>
      </p:sp>
      <p:sp>
        <p:nvSpPr>
          <p:cNvPr id="15" name="Step one heading">
            <a:extLst>
              <a:ext uri="{FF2B5EF4-FFF2-40B4-BE49-F238E27FC236}">
                <a16:creationId xmlns:a16="http://schemas.microsoft.com/office/drawing/2014/main" id="{B06C88FE-3A52-46EE-BD15-9BEC7039FDDA}"/>
              </a:ext>
            </a:extLst>
          </p:cNvPr>
          <p:cNvSpPr txBox="1"/>
          <p:nvPr/>
        </p:nvSpPr>
        <p:spPr>
          <a:xfrm>
            <a:off x="1041400" y="3302000"/>
            <a:ext cx="7315200" cy="4953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0B2A44"/>
                </a:solidFill>
                <a:latin typeface="Montserrat 2 Medium"/>
                <a:cs typeface="Arial"/>
              </a:rPr>
              <a:t>1  CORRECT THE RATE; INTEGRATE OVER Δt</a:t>
            </a:r>
            <a:endParaRPr lang="it-IT" sz="1900" b="1">
              <a:solidFill>
                <a:srgbClr val="0B2A44"/>
              </a:solidFill>
              <a:latin typeface="Montserrat 2 Medium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Bias corrected rate">
                <a:extLst>
                  <a:ext uri="{FF2B5EF4-FFF2-40B4-BE49-F238E27FC236}">
                    <a16:creationId xmlns:a16="http://schemas.microsoft.com/office/drawing/2014/main" id="{EBD76585-925D-4D97-AEF0-CF84C0C1FEC6}"/>
                  </a:ext>
                </a:extLst>
              </p:cNvPr>
              <p:cNvSpPr txBox="1"/>
              <p:nvPr/>
            </p:nvSpPr>
            <p:spPr>
              <a:xfrm>
                <a:off x="1041400" y="4051300"/>
                <a:ext cx="7340600" cy="711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l-GR" sz="4000" i="1" dirty="0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l-GR" sz="4000" i="1" dirty="0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𝜔</m:t>
                          </m:r>
                        </m:e>
                      </m:acc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 = </m:t>
                      </m:r>
                      <m:r>
                        <a:rPr lang="el-GR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𝜔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ₘ,ₖ − </m:t>
                      </m:r>
                      <m:sSub>
                        <m:sSubPr>
                          <m:ctrlPr>
                            <a:rPr lang="it-IT" sz="4000" i="1" dirty="0" err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4000" i="1" dirty="0" err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it-IT" sz="4000" i="1" dirty="0" err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𝑏</m:t>
                              </m:r>
                            </m:e>
                          </m:acc>
                        </m:e>
                        <m:sub>
                          <m:r>
                            <a:rPr lang="it-IT" sz="4000" b="0" i="1" dirty="0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𝑔</m:t>
                          </m:r>
                          <m:r>
                            <a:rPr lang="it-IT" sz="4000" b="0" i="1" dirty="0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,</m:t>
                          </m:r>
                          <m:r>
                            <a:rPr lang="it-IT" sz="4000" b="0" i="1" dirty="0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" name="Bias corrected rate">
                <a:extLst>
                  <a:ext uri="{FF2B5EF4-FFF2-40B4-BE49-F238E27FC236}">
                    <a16:creationId xmlns:a16="http://schemas.microsoft.com/office/drawing/2014/main" id="{EBD76585-925D-4D97-AEF0-CF84C0C1F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00" y="4051300"/>
                <a:ext cx="7340600" cy="711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Angular increment">
                <a:extLst>
                  <a:ext uri="{FF2B5EF4-FFF2-40B4-BE49-F238E27FC236}">
                    <a16:creationId xmlns:a16="http://schemas.microsoft.com/office/drawing/2014/main" id="{9A14043D-127C-47EC-9165-655171EE9B57}"/>
                  </a:ext>
                </a:extLst>
              </p:cNvPr>
              <p:cNvSpPr txBox="1"/>
              <p:nvPr/>
            </p:nvSpPr>
            <p:spPr>
              <a:xfrm>
                <a:off x="1041400" y="5067300"/>
                <a:ext cx="7340600" cy="787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l-GR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𝛿𝜃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 = </m:t>
                      </m:r>
                      <m:acc>
                        <m:accPr>
                          <m:chr m:val="̂"/>
                          <m:ctrlPr>
                            <a:rPr lang="el-GR" sz="4000" i="1" dirty="0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l-GR" sz="4000" i="1" dirty="0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𝜔</m:t>
                          </m:r>
                        </m:e>
                      </m:acc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 </m:t>
                      </m:r>
                      <m:r>
                        <m:rPr>
                          <m:sty m:val="p"/>
                        </m:rPr>
                        <a:rPr lang="el-GR" sz="4000" i="0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Δ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𝑡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7" name="Angular increment">
                <a:extLst>
                  <a:ext uri="{FF2B5EF4-FFF2-40B4-BE49-F238E27FC236}">
                    <a16:creationId xmlns:a16="http://schemas.microsoft.com/office/drawing/2014/main" id="{9A14043D-127C-47EC-9165-655171EE9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00" y="5067300"/>
                <a:ext cx="7340600" cy="787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Step two heading">
            <a:extLst>
              <a:ext uri="{FF2B5EF4-FFF2-40B4-BE49-F238E27FC236}">
                <a16:creationId xmlns:a16="http://schemas.microsoft.com/office/drawing/2014/main" id="{3B158F05-32EE-432C-AB53-C0CE55F2B567}"/>
              </a:ext>
            </a:extLst>
          </p:cNvPr>
          <p:cNvSpPr txBox="1"/>
          <p:nvPr/>
        </p:nvSpPr>
        <p:spPr>
          <a:xfrm>
            <a:off x="9423400" y="3302000"/>
            <a:ext cx="7810500" cy="4953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0B2A44"/>
                </a:solidFill>
                <a:latin typeface="Montserrat 2 Medium"/>
                <a:cs typeface="Arial"/>
              </a:rPr>
              <a:t>2  MAP THE ROTATION VECTOR TO δq</a:t>
            </a:r>
            <a:endParaRPr lang="it-IT" sz="1900" b="1">
              <a:solidFill>
                <a:srgbClr val="0B2A44"/>
              </a:solidFill>
              <a:latin typeface="Montserrat 2 Medium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Angle definition">
                <a:extLst>
                  <a:ext uri="{FF2B5EF4-FFF2-40B4-BE49-F238E27FC236}">
                    <a16:creationId xmlns:a16="http://schemas.microsoft.com/office/drawing/2014/main" id="{9948C084-07B0-4FCD-909B-10D9FB28727C}"/>
                  </a:ext>
                </a:extLst>
              </p:cNvPr>
              <p:cNvSpPr txBox="1"/>
              <p:nvPr/>
            </p:nvSpPr>
            <p:spPr>
              <a:xfrm>
                <a:off x="9423400" y="3924300"/>
                <a:ext cx="78105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l-GR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𝜃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 = ‖</m:t>
                      </m:r>
                      <m:r>
                        <a:rPr lang="el-GR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𝛿𝜃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Angle definition">
                <a:extLst>
                  <a:ext uri="{FF2B5EF4-FFF2-40B4-BE49-F238E27FC236}">
                    <a16:creationId xmlns:a16="http://schemas.microsoft.com/office/drawing/2014/main" id="{9948C084-07B0-4FCD-909B-10D9FB287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400" y="3924300"/>
                <a:ext cx="7810500" cy="508000"/>
              </a:xfrm>
              <a:prstGeom prst="rect">
                <a:avLst/>
              </a:prstGeom>
              <a:blipFill>
                <a:blip r:embed="rId6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Axis definition">
                <a:extLst>
                  <a:ext uri="{FF2B5EF4-FFF2-40B4-BE49-F238E27FC236}">
                    <a16:creationId xmlns:a16="http://schemas.microsoft.com/office/drawing/2014/main" id="{EF840674-16DD-4FFF-AE9C-9F171F9052D6}"/>
                  </a:ext>
                </a:extLst>
              </p:cNvPr>
              <p:cNvSpPr txBox="1"/>
              <p:nvPr/>
            </p:nvSpPr>
            <p:spPr>
              <a:xfrm>
                <a:off x="9423400" y="4495800"/>
                <a:ext cx="78105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𝑢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 = </m:t>
                      </m:r>
                      <m:r>
                        <a:rPr lang="el-GR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𝛿𝜃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 / </m:t>
                      </m:r>
                      <m:r>
                        <a:rPr lang="el-GR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𝜃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" name="Axis definition">
                <a:extLst>
                  <a:ext uri="{FF2B5EF4-FFF2-40B4-BE49-F238E27FC236}">
                    <a16:creationId xmlns:a16="http://schemas.microsoft.com/office/drawing/2014/main" id="{EF840674-16DD-4FFF-AE9C-9F171F905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400" y="4495800"/>
                <a:ext cx="7810500" cy="508000"/>
              </a:xfrm>
              <a:prstGeom prst="rect">
                <a:avLst/>
              </a:prstGeom>
              <a:blipFill>
                <a:blip r:embed="rId7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Quaternion increment upper">
                <a:extLst>
                  <a:ext uri="{FF2B5EF4-FFF2-40B4-BE49-F238E27FC236}">
                    <a16:creationId xmlns:a16="http://schemas.microsoft.com/office/drawing/2014/main" id="{265693D9-A326-486F-B108-4E3EA3D42294}"/>
                  </a:ext>
                </a:extLst>
              </p:cNvPr>
              <p:cNvSpPr txBox="1"/>
              <p:nvPr/>
            </p:nvSpPr>
            <p:spPr>
              <a:xfrm>
                <a:off x="9423400" y="5105400"/>
                <a:ext cx="7810500" cy="4953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𝛿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𝑞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 = [</m:t>
                      </m:r>
                      <m:r>
                        <m:rPr>
                          <m:sty m:val="p"/>
                        </m:rP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cos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⁡(</m:t>
                      </m:r>
                      <m:r>
                        <a:rPr lang="el-GR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𝜃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ₖ/2); </m:t>
                      </m:r>
                      <m:r>
                        <a:rPr lang="it-IT" sz="4000" i="1" dirty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𝑢</m:t>
                      </m:r>
                      <m:r>
                        <a:rPr lang="it-IT" sz="4000" i="1" dirty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 </m:t>
                      </m:r>
                      <m:r>
                        <m:rPr>
                          <m:sty m:val="p"/>
                        </m:rPr>
                        <a:rPr lang="it-IT" sz="4000" i="1" dirty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sin</m:t>
                      </m:r>
                      <m:r>
                        <a:rPr lang="it-IT" sz="4000" i="1" dirty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⁡(</m:t>
                      </m:r>
                      <m:r>
                        <a:rPr lang="el-GR" sz="4000" i="1" dirty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𝜃</m:t>
                      </m:r>
                      <m:r>
                        <a:rPr lang="it-IT" sz="4000" i="1" dirty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ₖ/2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)]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Quaternion increment upper">
                <a:extLst>
                  <a:ext uri="{FF2B5EF4-FFF2-40B4-BE49-F238E27FC236}">
                    <a16:creationId xmlns:a16="http://schemas.microsoft.com/office/drawing/2014/main" id="{265693D9-A326-486F-B108-4E3EA3D42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400" y="5105400"/>
                <a:ext cx="7810500" cy="495300"/>
              </a:xfrm>
              <a:prstGeom prst="rect">
                <a:avLst/>
              </a:prstGeom>
              <a:blipFill>
                <a:blip r:embed="rId8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Bottom right heading">
            <a:extLst>
              <a:ext uri="{FF2B5EF4-FFF2-40B4-BE49-F238E27FC236}">
                <a16:creationId xmlns:a16="http://schemas.microsoft.com/office/drawing/2014/main" id="{BDE066F1-2D87-4884-93C9-047E8C45D95A}"/>
              </a:ext>
            </a:extLst>
          </p:cNvPr>
          <p:cNvSpPr txBox="1"/>
          <p:nvPr/>
        </p:nvSpPr>
        <p:spPr>
          <a:xfrm>
            <a:off x="1041400" y="7150100"/>
            <a:ext cx="77851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900" b="1">
                <a:solidFill>
                  <a:srgbClr val="0B2A44"/>
                </a:solidFill>
                <a:latin typeface="Montserrat 2 Medium"/>
                <a:cs typeface="Arial"/>
              </a:rPr>
              <a:t>3  COMPOSE AND REPEAT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Attitude propagation">
                <a:extLst>
                  <a:ext uri="{FF2B5EF4-FFF2-40B4-BE49-F238E27FC236}">
                    <a16:creationId xmlns:a16="http://schemas.microsoft.com/office/drawing/2014/main" id="{315A3E31-9CD7-4E5C-9978-521C21F7334E}"/>
                  </a:ext>
                </a:extLst>
              </p:cNvPr>
              <p:cNvSpPr txBox="1"/>
              <p:nvPr/>
            </p:nvSpPr>
            <p:spPr>
              <a:xfrm>
                <a:off x="812800" y="7810500"/>
                <a:ext cx="7797800" cy="660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it-IT" sz="4000" i="1" dirty="0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it-IT" sz="4000" i="1" dirty="0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𝑞</m:t>
                          </m:r>
                        </m:e>
                      </m:acc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ₖ₊₁ = </m:t>
                      </m:r>
                      <m:acc>
                        <m:accPr>
                          <m:chr m:val="̂"/>
                          <m:ctrlPr>
                            <a:rPr lang="it-IT" sz="4000" i="1" dirty="0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it-IT" sz="4000" i="1" dirty="0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𝑞</m:t>
                          </m:r>
                        </m:e>
                      </m:acc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 ⊗ </m:t>
                      </m:r>
                      <m:r>
                        <a:rPr lang="el-GR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𝛿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𝑞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2" name="Attitude propagation">
                <a:extLst>
                  <a:ext uri="{FF2B5EF4-FFF2-40B4-BE49-F238E27FC236}">
                    <a16:creationId xmlns:a16="http://schemas.microsoft.com/office/drawing/2014/main" id="{315A3E31-9CD7-4E5C-9978-521C21F73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7810500"/>
                <a:ext cx="7797800" cy="660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aching takeaway">
            <a:extLst>
              <a:ext uri="{FF2B5EF4-FFF2-40B4-BE49-F238E27FC236}">
                <a16:creationId xmlns:a16="http://schemas.microsoft.com/office/drawing/2014/main" id="{CC94DCFE-BA88-4476-85C4-DFE64E208C93}"/>
              </a:ext>
            </a:extLst>
          </p:cNvPr>
          <p:cNvSpPr txBox="1"/>
          <p:nvPr/>
        </p:nvSpPr>
        <p:spPr>
          <a:xfrm>
            <a:off x="1041400" y="9105900"/>
            <a:ext cx="16256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Montserrat 1"/>
                <a:cs typeface="Arial"/>
              </a:rPr>
              <a:t>Each new gyro sample adds one small rotation to the current attitude.</a:t>
            </a:r>
            <a:endParaRPr lang="it-IT" sz="2400" b="1">
              <a:solidFill>
                <a:srgbClr val="FFFFFF"/>
              </a:solidFill>
              <a:latin typeface="Montserrat 1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Small-angle equation">
                <a:extLst>
                  <a:ext uri="{FF2B5EF4-FFF2-40B4-BE49-F238E27FC236}">
                    <a16:creationId xmlns:a16="http://schemas.microsoft.com/office/drawing/2014/main" id="{86A7B68E-D2F7-C8D2-12B1-AD158467BAE4}"/>
                  </a:ext>
                </a:extLst>
              </p:cNvPr>
              <p:cNvSpPr txBox="1"/>
              <p:nvPr/>
            </p:nvSpPr>
            <p:spPr>
              <a:xfrm>
                <a:off x="9652000" y="5776214"/>
                <a:ext cx="7327900" cy="660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l-GR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𝜃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 ≪ 1 ⇒ </m:t>
                      </m:r>
                      <m:r>
                        <a:rPr lang="el-GR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𝛿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𝑞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 ≈ [1; ½</m:t>
                      </m:r>
                      <m:r>
                        <a:rPr lang="el-GR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𝛿𝜃</m:t>
                      </m:r>
                      <m:r>
                        <a:rPr lang="it-IT" sz="4000" i="1" dirty="0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ₖ]</m:t>
                      </m:r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50" name="Small-angle equation">
                <a:extLst>
                  <a:ext uri="{FF2B5EF4-FFF2-40B4-BE49-F238E27FC236}">
                    <a16:creationId xmlns:a16="http://schemas.microsoft.com/office/drawing/2014/main" id="{86A7B68E-D2F7-C8D2-12B1-AD158467B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0" y="5776214"/>
                <a:ext cx="7327900" cy="660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Bottom right heading">
            <a:extLst>
              <a:ext uri="{FF2B5EF4-FFF2-40B4-BE49-F238E27FC236}">
                <a16:creationId xmlns:a16="http://schemas.microsoft.com/office/drawing/2014/main" id="{B11671F3-A35C-12CF-6A61-E74CA5517BE3}"/>
              </a:ext>
            </a:extLst>
          </p:cNvPr>
          <p:cNvSpPr txBox="1"/>
          <p:nvPr/>
        </p:nvSpPr>
        <p:spPr>
          <a:xfrm>
            <a:off x="9512300" y="7169150"/>
            <a:ext cx="77851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900" b="1">
                <a:solidFill>
                  <a:srgbClr val="0B2A44"/>
                </a:solidFill>
                <a:latin typeface="Montserrat 2 Medium"/>
                <a:cs typeface="Arial"/>
              </a:rPr>
              <a:t>4 NORMALIZE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Attitude propagation">
                <a:extLst>
                  <a:ext uri="{FF2B5EF4-FFF2-40B4-BE49-F238E27FC236}">
                    <a16:creationId xmlns:a16="http://schemas.microsoft.com/office/drawing/2014/main" id="{E6CD2D6B-0EA8-FB52-457C-78651480A340}"/>
                  </a:ext>
                </a:extLst>
              </p:cNvPr>
              <p:cNvSpPr txBox="1"/>
              <p:nvPr/>
            </p:nvSpPr>
            <p:spPr>
              <a:xfrm>
                <a:off x="9429750" y="7722108"/>
                <a:ext cx="7797800" cy="660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4000" i="1" dirty="0" smtClean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it-IT" sz="4000" i="1" dirty="0" smtClean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𝑞</m:t>
                        </m:r>
                      </m:e>
                    </m:acc>
                    <m:sSub>
                      <m:sSubPr>
                        <m:ctrlPr>
                          <a:rPr lang="it-IT" sz="4000" i="1" dirty="0" smtClean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it-IT" sz="4000" i="1" dirty="0" smtClean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ₖ</m:t>
                        </m:r>
                      </m:e>
                      <m:sub>
                        <m:r>
                          <a:rPr lang="it-IT" sz="4000" i="1" dirty="0" smtClean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+1</m:t>
                        </m:r>
                      </m:sub>
                    </m:sSub>
                    <m:r>
                      <a:rPr lang="it-IT" sz="4000" i="1" dirty="0" smtClean="0">
                        <a:solidFill>
                          <a:srgbClr val="0B2A44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</m:oMath>
                </a14:m>
                <a:r>
                  <a:rPr lang="it-IT">
                    <a:solidFill>
                      <a:srgbClr val="0B2A44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4000" i="1" dirty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it-IT" sz="4000" i="1" dirty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𝑞</m:t>
                        </m:r>
                      </m:e>
                    </m:acc>
                    <m:sSub>
                      <m:sSubPr>
                        <m:ctrlPr>
                          <a:rPr lang="it-IT" sz="4000" i="1" dirty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it-IT" sz="4000" i="1" dirty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ₖ</m:t>
                        </m:r>
                      </m:e>
                      <m:sub>
                        <m:r>
                          <a:rPr lang="it-IT" sz="4000" i="1" dirty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+1</m:t>
                        </m:r>
                      </m:sub>
                    </m:sSub>
                    <m:r>
                      <a:rPr lang="it-IT" sz="4000" b="0" i="1" dirty="0" smtClean="0">
                        <a:solidFill>
                          <a:srgbClr val="0B2A44"/>
                        </a:solidFill>
                        <a:latin typeface="Cambria Math" panose="02040503050406030204" pitchFamily="18" charset="0"/>
                        <a:ea typeface="Cambria Math"/>
                      </a:rPr>
                      <m:t>/||</m:t>
                    </m:r>
                    <m:acc>
                      <m:accPr>
                        <m:chr m:val="̂"/>
                        <m:ctrlPr>
                          <a:rPr lang="it-IT" sz="4000" i="1" dirty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it-IT" sz="4000" i="1" dirty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𝑞</m:t>
                        </m:r>
                      </m:e>
                    </m:acc>
                    <m:sSub>
                      <m:sSubPr>
                        <m:ctrlPr>
                          <a:rPr lang="it-IT" sz="4000" i="1" dirty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it-IT" sz="4000" i="1" dirty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ₖ</m:t>
                        </m:r>
                      </m:e>
                      <m:sub>
                        <m:r>
                          <a:rPr lang="it-IT" sz="4000" i="1" dirty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+1</m:t>
                        </m:r>
                      </m:sub>
                    </m:sSub>
                    <m:r>
                      <a:rPr lang="it-IT" sz="4000" b="0" i="1" dirty="0" smtClean="0">
                        <a:solidFill>
                          <a:srgbClr val="0B2A44"/>
                        </a:solidFill>
                        <a:latin typeface="Cambria Math" panose="02040503050406030204" pitchFamily="18" charset="0"/>
                        <a:ea typeface="Cambria Math"/>
                      </a:rPr>
                      <m:t>||</m:t>
                    </m:r>
                  </m:oMath>
                </a14:m>
                <a:r>
                  <a:rPr lang="it-IT"/>
                  <a:t> </a:t>
                </a:r>
                <a:endParaRPr/>
              </a:p>
            </p:txBody>
          </p:sp>
        </mc:Choice>
        <mc:Fallback xmlns="">
          <p:sp>
            <p:nvSpPr>
              <p:cNvPr id="54" name="Attitude propagation">
                <a:extLst>
                  <a:ext uri="{FF2B5EF4-FFF2-40B4-BE49-F238E27FC236}">
                    <a16:creationId xmlns:a16="http://schemas.microsoft.com/office/drawing/2014/main" id="{E6CD2D6B-0EA8-FB52-457C-78651480A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750" y="7722108"/>
                <a:ext cx="7797800" cy="660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784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8F7A0-56F0-3160-BECD-DA77D2A42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4FEEBE4-C97F-7F4B-6046-A85C476A241D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7DDE38B-42B1-8831-32A6-7B6F4A58F4AF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7AE4A4D-9BAB-CBE9-A9EA-08355A8986A3}"/>
              </a:ext>
            </a:extLst>
          </p:cNvPr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E5AF79E-6182-F813-2EF3-78FEC9CF58E7}"/>
                </a:ext>
              </a:extLst>
            </p:cNvPr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7EDB7EC-8D7C-BC0A-4B13-5C64ECF7A5E7}"/>
                </a:ext>
              </a:extLst>
            </p:cNvPr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DB5BE76F-033A-94AF-CE1D-23E4286E59CA}"/>
              </a:ext>
            </a:extLst>
          </p:cNvPr>
          <p:cNvSpPr txBox="1"/>
          <p:nvPr/>
        </p:nvSpPr>
        <p:spPr>
          <a:xfrm>
            <a:off x="423362" y="3451504"/>
            <a:ext cx="18552543" cy="171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MEASUREMENT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1EBF313D-0AC6-F00E-F884-A29A0B8DEBEB}"/>
              </a:ext>
            </a:extLst>
          </p:cNvPr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DC6362D-5242-490E-1DFB-55D2791C2867}"/>
                </a:ext>
              </a:extLst>
            </p:cNvPr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34E6596-F33A-83BF-C500-90155AC75D1F}"/>
                </a:ext>
              </a:extLst>
            </p:cNvPr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C9FD8D8A-25DD-15BD-E812-61DD03DB3138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0006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2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6326A6E-BC01-46D2-9F32-039B86006A63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8B999C-4810-4415-95F6-273A0CC9F641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 err="1">
                <a:solidFill>
                  <a:srgbClr val="000000"/>
                </a:solidFill>
                <a:latin typeface="Montserrat 2 Medium"/>
                <a:cs typeface="Arial"/>
              </a:rPr>
              <a:t>Measurement</a:t>
            </a:r>
            <a:endParaRPr lang="it-IT" sz="8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BD0A14-AEBC-4E01-A0FA-ED584E416966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/>
          </a:bodyPr>
          <a:lstStyle/>
          <a:p>
            <a:pPr algn="l"/>
            <a:r>
              <a:rPr lang="en-US" sz="6924" b="1">
                <a:solidFill>
                  <a:srgbClr val="FF5A00"/>
                </a:solidFill>
                <a:latin typeface="Arial"/>
                <a:cs typeface="Arial"/>
              </a:rPr>
              <a:t>A sensor translates physics into electricity</a:t>
            </a:r>
            <a:endParaRPr lang="it-IT" sz="6924" b="1">
              <a:solidFill>
                <a:srgbClr val="FF5A00"/>
              </a:solidFill>
              <a:latin typeface="Arial"/>
              <a:cs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F8E2F0-DB3D-4C98-9C16-7BE5DD1DF2B9}"/>
              </a:ext>
            </a:extLst>
          </p:cNvPr>
          <p:cNvSpPr/>
          <p:nvPr/>
        </p:nvSpPr>
        <p:spPr>
          <a:xfrm>
            <a:off x="1143000" y="6350000"/>
            <a:ext cx="3810000" cy="1905000"/>
          </a:xfrm>
          <a:prstGeom prst="rect">
            <a:avLst/>
          </a:prstGeom>
          <a:solidFill>
            <a:srgbClr val="F4F5F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0317E6-CBF0-4438-9EDE-E789322648F9}"/>
              </a:ext>
            </a:extLst>
          </p:cNvPr>
          <p:cNvSpPr/>
          <p:nvPr/>
        </p:nvSpPr>
        <p:spPr>
          <a:xfrm>
            <a:off x="1143000" y="6350000"/>
            <a:ext cx="3810000" cy="114300"/>
          </a:xfrm>
          <a:prstGeom prst="rect">
            <a:avLst/>
          </a:prstGeom>
          <a:solidFill>
            <a:srgbClr val="1FB7C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3CADAC-F2B0-43F1-A1C2-8F130D911E26}"/>
              </a:ext>
            </a:extLst>
          </p:cNvPr>
          <p:cNvSpPr txBox="1"/>
          <p:nvPr/>
        </p:nvSpPr>
        <p:spPr>
          <a:xfrm>
            <a:off x="1285568" y="6699250"/>
            <a:ext cx="3352800" cy="1206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3600" b="1">
                <a:solidFill>
                  <a:srgbClr val="0D3048"/>
                </a:solidFill>
                <a:latin typeface="Arial"/>
                <a:cs typeface="Arial"/>
              </a:rPr>
              <a:t>PHYSICAL
STIMULUS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8BFF3DD-00C7-4A62-A3BA-D513A27D5239}"/>
              </a:ext>
            </a:extLst>
          </p:cNvPr>
          <p:cNvSpPr/>
          <p:nvPr/>
        </p:nvSpPr>
        <p:spPr>
          <a:xfrm>
            <a:off x="5397500" y="6985000"/>
            <a:ext cx="1333500" cy="6096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8F6B83-0AE3-4499-87F9-7F2D07177F5F}"/>
              </a:ext>
            </a:extLst>
          </p:cNvPr>
          <p:cNvSpPr/>
          <p:nvPr/>
        </p:nvSpPr>
        <p:spPr>
          <a:xfrm>
            <a:off x="7239000" y="6350000"/>
            <a:ext cx="3810000" cy="1905000"/>
          </a:xfrm>
          <a:prstGeom prst="rect">
            <a:avLst/>
          </a:prstGeom>
          <a:solidFill>
            <a:srgbClr val="F4F5F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8A3857-A006-47E5-8C99-CBF1D5F26704}"/>
              </a:ext>
            </a:extLst>
          </p:cNvPr>
          <p:cNvSpPr/>
          <p:nvPr/>
        </p:nvSpPr>
        <p:spPr>
          <a:xfrm>
            <a:off x="7239000" y="6350000"/>
            <a:ext cx="3810000" cy="1143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3A2901-00A0-404E-BCD0-7B2E7DCD4A36}"/>
              </a:ext>
            </a:extLst>
          </p:cNvPr>
          <p:cNvSpPr txBox="1"/>
          <p:nvPr/>
        </p:nvSpPr>
        <p:spPr>
          <a:xfrm>
            <a:off x="7467600" y="6667500"/>
            <a:ext cx="3352800" cy="1206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3600" b="1">
                <a:solidFill>
                  <a:srgbClr val="0D3048"/>
                </a:solidFill>
                <a:latin typeface="Arial"/>
                <a:cs typeface="Arial"/>
              </a:rPr>
              <a:t>SENSOR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FB372062-F9EA-4732-AC3B-329D925F7F73}"/>
              </a:ext>
            </a:extLst>
          </p:cNvPr>
          <p:cNvSpPr/>
          <p:nvPr/>
        </p:nvSpPr>
        <p:spPr>
          <a:xfrm>
            <a:off x="11493500" y="6985000"/>
            <a:ext cx="1333500" cy="6096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DD6B66-B13A-4C53-B7E6-0087B83CB822}"/>
              </a:ext>
            </a:extLst>
          </p:cNvPr>
          <p:cNvSpPr/>
          <p:nvPr/>
        </p:nvSpPr>
        <p:spPr>
          <a:xfrm>
            <a:off x="13335000" y="6350000"/>
            <a:ext cx="3810000" cy="1905000"/>
          </a:xfrm>
          <a:prstGeom prst="rect">
            <a:avLst/>
          </a:prstGeom>
          <a:solidFill>
            <a:srgbClr val="F4F5F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19F4A7-E644-4378-866D-E3099177D06D}"/>
              </a:ext>
            </a:extLst>
          </p:cNvPr>
          <p:cNvSpPr/>
          <p:nvPr/>
        </p:nvSpPr>
        <p:spPr>
          <a:xfrm>
            <a:off x="13335000" y="6350000"/>
            <a:ext cx="3810000" cy="114300"/>
          </a:xfrm>
          <a:prstGeom prst="rect">
            <a:avLst/>
          </a:prstGeom>
          <a:solidFill>
            <a:srgbClr val="9EDB5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99BA93-1824-4DC0-B299-3876D3FCC41F}"/>
              </a:ext>
            </a:extLst>
          </p:cNvPr>
          <p:cNvSpPr txBox="1"/>
          <p:nvPr/>
        </p:nvSpPr>
        <p:spPr>
          <a:xfrm>
            <a:off x="13563600" y="6667500"/>
            <a:ext cx="3352800" cy="1206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3600" b="1">
                <a:solidFill>
                  <a:srgbClr val="0D3048"/>
                </a:solidFill>
                <a:latin typeface="Arial"/>
                <a:cs typeface="Arial"/>
              </a:rPr>
              <a:t>ELECTRICAL
SIGNAL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9F5FD5-5D79-4C60-B145-1C362454B5CB}"/>
              </a:ext>
            </a:extLst>
          </p:cNvPr>
          <p:cNvSpPr txBox="1"/>
          <p:nvPr/>
        </p:nvSpPr>
        <p:spPr>
          <a:xfrm>
            <a:off x="2095500" y="3619500"/>
            <a:ext cx="14097000" cy="171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en-US" sz="3500">
                <a:solidFill>
                  <a:srgbClr val="FFFFFF"/>
                </a:solidFill>
                <a:latin typeface="Arial"/>
                <a:cs typeface="Arial"/>
              </a:rPr>
              <a:t>“A sensor is a device that receives a stimulus and responds with an electrical signal.”</a:t>
            </a:r>
            <a:endParaRPr lang="it-IT" sz="35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407436-6C7D-4CE3-95D6-83CA4A5ACC0E}"/>
              </a:ext>
            </a:extLst>
          </p:cNvPr>
          <p:cNvSpPr txBox="1"/>
          <p:nvPr/>
        </p:nvSpPr>
        <p:spPr>
          <a:xfrm>
            <a:off x="533400" y="97790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900">
                <a:solidFill>
                  <a:srgbClr val="D7E0E6"/>
                </a:solidFill>
                <a:latin typeface="Arial"/>
                <a:cs typeface="Arial"/>
              </a:rPr>
              <a:t>Academic definition: J. Fraden, Handbook of Modern Sensors.</a:t>
            </a:r>
            <a:endParaRPr lang="it-IT" sz="900">
              <a:solidFill>
                <a:srgbClr val="D7E0E6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6337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2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6326A6E-BC01-46D2-9F32-039B86006A63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8B999C-4810-4415-95F6-273A0CC9F641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BD0A14-AEBC-4E01-A0FA-ED584E416966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What is a sensor?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F8E2F0-DB3D-4C98-9C16-7BE5DD1DF2B9}"/>
              </a:ext>
            </a:extLst>
          </p:cNvPr>
          <p:cNvSpPr/>
          <p:nvPr/>
        </p:nvSpPr>
        <p:spPr>
          <a:xfrm>
            <a:off x="533400" y="3848100"/>
            <a:ext cx="2247900" cy="2095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0317E6-CBF0-4438-9EDE-E789322648F9}"/>
              </a:ext>
            </a:extLst>
          </p:cNvPr>
          <p:cNvSpPr/>
          <p:nvPr/>
        </p:nvSpPr>
        <p:spPr>
          <a:xfrm>
            <a:off x="533400" y="3848100"/>
            <a:ext cx="2247900" cy="9525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3CADAC-F2B0-43F1-A1C2-8F130D911E26}"/>
              </a:ext>
            </a:extLst>
          </p:cNvPr>
          <p:cNvSpPr txBox="1"/>
          <p:nvPr/>
        </p:nvSpPr>
        <p:spPr>
          <a:xfrm>
            <a:off x="647700" y="4152900"/>
            <a:ext cx="2019300" cy="144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PHYSICAL
QUANTITY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8BFF3DD-00C7-4A62-A3BA-D513A27D5239}"/>
              </a:ext>
            </a:extLst>
          </p:cNvPr>
          <p:cNvSpPr/>
          <p:nvPr/>
        </p:nvSpPr>
        <p:spPr>
          <a:xfrm>
            <a:off x="2857500" y="4610100"/>
            <a:ext cx="381000" cy="4953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8F6B83-0AE3-4499-87F9-7F2D07177F5F}"/>
              </a:ext>
            </a:extLst>
          </p:cNvPr>
          <p:cNvSpPr/>
          <p:nvPr/>
        </p:nvSpPr>
        <p:spPr>
          <a:xfrm>
            <a:off x="3409950" y="3848100"/>
            <a:ext cx="2247900" cy="2095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8A3857-A006-47E5-8C99-CBF1D5F26704}"/>
              </a:ext>
            </a:extLst>
          </p:cNvPr>
          <p:cNvSpPr/>
          <p:nvPr/>
        </p:nvSpPr>
        <p:spPr>
          <a:xfrm>
            <a:off x="3409950" y="3848100"/>
            <a:ext cx="2247900" cy="9525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3A2901-00A0-404E-BCD0-7B2E7DCD4A36}"/>
              </a:ext>
            </a:extLst>
          </p:cNvPr>
          <p:cNvSpPr txBox="1"/>
          <p:nvPr/>
        </p:nvSpPr>
        <p:spPr>
          <a:xfrm>
            <a:off x="3524250" y="4152900"/>
            <a:ext cx="2019300" cy="144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000" b="1">
                <a:solidFill>
                  <a:srgbClr val="08283A"/>
                </a:solidFill>
                <a:latin typeface="Arial"/>
                <a:cs typeface="Arial"/>
              </a:rPr>
              <a:t>TRANSDUCER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FB372062-F9EA-4732-AC3B-329D925F7F73}"/>
              </a:ext>
            </a:extLst>
          </p:cNvPr>
          <p:cNvSpPr/>
          <p:nvPr/>
        </p:nvSpPr>
        <p:spPr>
          <a:xfrm>
            <a:off x="5734050" y="4610100"/>
            <a:ext cx="381000" cy="4953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DD6B66-B13A-4C53-B7E6-0087B83CB822}"/>
              </a:ext>
            </a:extLst>
          </p:cNvPr>
          <p:cNvSpPr/>
          <p:nvPr/>
        </p:nvSpPr>
        <p:spPr>
          <a:xfrm>
            <a:off x="6286500" y="3848100"/>
            <a:ext cx="2247900" cy="2095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19F4A7-E644-4378-866D-E3099177D06D}"/>
              </a:ext>
            </a:extLst>
          </p:cNvPr>
          <p:cNvSpPr/>
          <p:nvPr/>
        </p:nvSpPr>
        <p:spPr>
          <a:xfrm>
            <a:off x="6286500" y="3848100"/>
            <a:ext cx="2247900" cy="9525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99BA93-1824-4DC0-B299-3876D3FCC41F}"/>
              </a:ext>
            </a:extLst>
          </p:cNvPr>
          <p:cNvSpPr txBox="1"/>
          <p:nvPr/>
        </p:nvSpPr>
        <p:spPr>
          <a:xfrm>
            <a:off x="6400800" y="4152900"/>
            <a:ext cx="2019300" cy="144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ANALOG
SIGNAL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8986ECAE-A19F-454B-ACE7-692B5CB66909}"/>
              </a:ext>
            </a:extLst>
          </p:cNvPr>
          <p:cNvSpPr/>
          <p:nvPr/>
        </p:nvSpPr>
        <p:spPr>
          <a:xfrm>
            <a:off x="8610600" y="4610100"/>
            <a:ext cx="381000" cy="4953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C709E1-2914-464F-BF28-FB2DDE70AFD2}"/>
              </a:ext>
            </a:extLst>
          </p:cNvPr>
          <p:cNvSpPr/>
          <p:nvPr/>
        </p:nvSpPr>
        <p:spPr>
          <a:xfrm>
            <a:off x="9163050" y="3848100"/>
            <a:ext cx="2247900" cy="2095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B22690-9844-446B-90F4-34BEEEE72F09}"/>
              </a:ext>
            </a:extLst>
          </p:cNvPr>
          <p:cNvSpPr/>
          <p:nvPr/>
        </p:nvSpPr>
        <p:spPr>
          <a:xfrm>
            <a:off x="9163050" y="3848100"/>
            <a:ext cx="2247900" cy="9525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C39090-7647-4D69-A4A4-66932534D0ED}"/>
              </a:ext>
            </a:extLst>
          </p:cNvPr>
          <p:cNvSpPr txBox="1"/>
          <p:nvPr/>
        </p:nvSpPr>
        <p:spPr>
          <a:xfrm>
            <a:off x="9277350" y="4152900"/>
            <a:ext cx="2019300" cy="144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b="1">
                <a:solidFill>
                  <a:srgbClr val="08283A"/>
                </a:solidFill>
                <a:latin typeface="Arial"/>
                <a:cs typeface="Arial"/>
              </a:rPr>
              <a:t>CONDITIONING
+ ANTI-ALIAS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8B22877-C00F-4730-8FC9-74E8C10A7228}"/>
              </a:ext>
            </a:extLst>
          </p:cNvPr>
          <p:cNvSpPr/>
          <p:nvPr/>
        </p:nvSpPr>
        <p:spPr>
          <a:xfrm>
            <a:off x="11487150" y="4610100"/>
            <a:ext cx="381000" cy="4953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394BAB-FEF8-4F0A-80CE-4454A88CB279}"/>
              </a:ext>
            </a:extLst>
          </p:cNvPr>
          <p:cNvSpPr/>
          <p:nvPr/>
        </p:nvSpPr>
        <p:spPr>
          <a:xfrm>
            <a:off x="12039600" y="3848100"/>
            <a:ext cx="2247900" cy="2095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C7C7053-7391-452A-A54B-CAE57059CF73}"/>
              </a:ext>
            </a:extLst>
          </p:cNvPr>
          <p:cNvSpPr/>
          <p:nvPr/>
        </p:nvSpPr>
        <p:spPr>
          <a:xfrm>
            <a:off x="12039600" y="3848100"/>
            <a:ext cx="2247900" cy="9525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7C1CFF-240B-4572-81EB-A13CC9E4E6EC}"/>
              </a:ext>
            </a:extLst>
          </p:cNvPr>
          <p:cNvSpPr txBox="1"/>
          <p:nvPr/>
        </p:nvSpPr>
        <p:spPr>
          <a:xfrm>
            <a:off x="12153900" y="4152900"/>
            <a:ext cx="2019300" cy="144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3600" b="1">
                <a:solidFill>
                  <a:srgbClr val="08283A"/>
                </a:solidFill>
                <a:latin typeface="Arial"/>
                <a:cs typeface="Arial"/>
              </a:rPr>
              <a:t>ADC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3E80B1AB-82E8-40D5-B5F0-23F300998000}"/>
              </a:ext>
            </a:extLst>
          </p:cNvPr>
          <p:cNvSpPr/>
          <p:nvPr/>
        </p:nvSpPr>
        <p:spPr>
          <a:xfrm>
            <a:off x="14363700" y="4610100"/>
            <a:ext cx="381000" cy="4953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3DF1BBF-D8DC-4672-9AE0-8A278F0B2D6A}"/>
              </a:ext>
            </a:extLst>
          </p:cNvPr>
          <p:cNvSpPr/>
          <p:nvPr/>
        </p:nvSpPr>
        <p:spPr>
          <a:xfrm>
            <a:off x="14916150" y="3848100"/>
            <a:ext cx="2247900" cy="2095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CF23FC4-FFEE-49AD-AA8B-9F04B8BE8798}"/>
              </a:ext>
            </a:extLst>
          </p:cNvPr>
          <p:cNvSpPr/>
          <p:nvPr/>
        </p:nvSpPr>
        <p:spPr>
          <a:xfrm>
            <a:off x="14916150" y="3848100"/>
            <a:ext cx="2247900" cy="9525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C69781-035F-4A6C-AE93-4EFACD6EFE96}"/>
              </a:ext>
            </a:extLst>
          </p:cNvPr>
          <p:cNvSpPr txBox="1"/>
          <p:nvPr/>
        </p:nvSpPr>
        <p:spPr>
          <a:xfrm>
            <a:off x="15030450" y="4152900"/>
            <a:ext cx="2019300" cy="144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b="1">
                <a:solidFill>
                  <a:srgbClr val="08283A"/>
                </a:solidFill>
                <a:latin typeface="Arial"/>
                <a:cs typeface="Arial"/>
              </a:rPr>
              <a:t>DIGITAL
MEASUREMENT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407436-6C7D-4CE3-95D6-83CA4A5ACC0E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800">
                <a:solidFill>
                  <a:srgbClr val="B8C6CC"/>
                </a:solidFill>
                <a:latin typeface="Arial"/>
                <a:cs typeface="Arial"/>
              </a:rPr>
              <a:t>Conceptual chain: transduction → conditioning → sampling → digital measurement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C295F-3913-2A3A-EF7E-DEA63820C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106" y="6762750"/>
            <a:ext cx="8324850" cy="2648816"/>
          </a:xfrm>
          <a:prstGeom prst="rect">
            <a:avLst/>
          </a:prstGeom>
        </p:spPr>
      </p:pic>
      <p:pic>
        <p:nvPicPr>
          <p:cNvPr id="4" name="Picture 3" descr="Simulink model of the Pitot sensor.">
            <a:extLst>
              <a:ext uri="{FF2B5EF4-FFF2-40B4-BE49-F238E27FC236}">
                <a16:creationId xmlns:a16="http://schemas.microsoft.com/office/drawing/2014/main" id="{536BCD2D-E3EE-FC30-BB8C-EDD5C25AA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350" y="6667500"/>
            <a:ext cx="6304429" cy="280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26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9F2E7-A7AF-510E-0305-066F290A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>
            <a:extLst>
              <a:ext uri="{FF2B5EF4-FFF2-40B4-BE49-F238E27FC236}">
                <a16:creationId xmlns:a16="http://schemas.microsoft.com/office/drawing/2014/main" id="{58FC5F5D-A82E-AC74-1200-4E7A8AA2115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4" name="Freeform 3">
              <a:extLst>
                <a:ext uri="{FF2B5EF4-FFF2-40B4-BE49-F238E27FC236}">
                  <a16:creationId xmlns:a16="http://schemas.microsoft.com/office/drawing/2014/main" id="{80472D69-EB67-0991-EC5F-5748694755D9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FA0F52A-C091-E675-800D-C2879A049019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7E2F77-D59C-ACEF-EC21-E5DEB1E83C55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4D0A11-E463-97E6-F5A3-6D723E48085F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How do I choose a sensor?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6BF127-F7A0-02F2-FE57-90A1D2FF3320}"/>
              </a:ext>
            </a:extLst>
          </p:cNvPr>
          <p:cNvSpPr/>
          <p:nvPr/>
        </p:nvSpPr>
        <p:spPr>
          <a:xfrm>
            <a:off x="857250" y="3848100"/>
            <a:ext cx="3238500" cy="10287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FC09EE-8675-625F-F933-6610663B0B10}"/>
              </a:ext>
            </a:extLst>
          </p:cNvPr>
          <p:cNvSpPr txBox="1"/>
          <p:nvPr/>
        </p:nvSpPr>
        <p:spPr>
          <a:xfrm>
            <a:off x="1047750" y="3962400"/>
            <a:ext cx="28575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DYNAMIC WINDOW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52FE5-7B42-4FA4-1DDA-8DCA5EE49860}"/>
              </a:ext>
            </a:extLst>
          </p:cNvPr>
          <p:cNvSpPr/>
          <p:nvPr/>
        </p:nvSpPr>
        <p:spPr>
          <a:xfrm>
            <a:off x="4476750" y="3848100"/>
            <a:ext cx="4267200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74ABBA-E18B-0A64-05E0-80E3B90CB222}"/>
              </a:ext>
            </a:extLst>
          </p:cNvPr>
          <p:cNvSpPr txBox="1"/>
          <p:nvPr/>
        </p:nvSpPr>
        <p:spPr>
          <a:xfrm>
            <a:off x="4572000" y="3962400"/>
            <a:ext cx="40767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RANGE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3B9230-213B-FF2B-DA48-BBC492EE4767}"/>
              </a:ext>
            </a:extLst>
          </p:cNvPr>
          <p:cNvSpPr/>
          <p:nvPr/>
        </p:nvSpPr>
        <p:spPr>
          <a:xfrm>
            <a:off x="8915400" y="3848100"/>
            <a:ext cx="4267200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71765F-3E17-FE7A-B499-932E6E37FDDF}"/>
              </a:ext>
            </a:extLst>
          </p:cNvPr>
          <p:cNvSpPr txBox="1"/>
          <p:nvPr/>
        </p:nvSpPr>
        <p:spPr>
          <a:xfrm>
            <a:off x="9010650" y="3962400"/>
            <a:ext cx="40767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BANDWIDTH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69F5B8-AEA2-2692-0492-6B62C33007A3}"/>
              </a:ext>
            </a:extLst>
          </p:cNvPr>
          <p:cNvSpPr/>
          <p:nvPr/>
        </p:nvSpPr>
        <p:spPr>
          <a:xfrm>
            <a:off x="13354050" y="3848100"/>
            <a:ext cx="4267200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EE3E10-D8A4-40F8-9C6C-FAC6C35FDDCD}"/>
              </a:ext>
            </a:extLst>
          </p:cNvPr>
          <p:cNvSpPr txBox="1"/>
          <p:nvPr/>
        </p:nvSpPr>
        <p:spPr>
          <a:xfrm>
            <a:off x="13449300" y="3962400"/>
            <a:ext cx="40767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ODR / SAMPLE RATE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140B7B-BC57-B74C-F5A9-F349031BC910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B8C6CC"/>
                </a:solidFill>
                <a:latin typeface="Arial"/>
                <a:cs typeface="Arial"/>
              </a:rPr>
              <a:t>Terminology aligned with PX4 v1.17 sensor and estimator integration documentation.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pic>
        <p:nvPicPr>
          <p:cNvPr id="2" name="Picture 1" descr="Technology | BRILLNICS">
            <a:extLst>
              <a:ext uri="{FF2B5EF4-FFF2-40B4-BE49-F238E27FC236}">
                <a16:creationId xmlns:a16="http://schemas.microsoft.com/office/drawing/2014/main" id="{634C38D6-6F36-7A75-88FD-1220968B1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612" y="5435413"/>
            <a:ext cx="5248275" cy="3495675"/>
          </a:xfrm>
          <a:prstGeom prst="rect">
            <a:avLst/>
          </a:prstGeom>
        </p:spPr>
      </p:pic>
      <p:pic>
        <p:nvPicPr>
          <p:cNvPr id="4" name="Picture 3" descr="Low Pass, High Pass and Band Pass Filters - Simple Explanation">
            <a:extLst>
              <a:ext uri="{FF2B5EF4-FFF2-40B4-BE49-F238E27FC236}">
                <a16:creationId xmlns:a16="http://schemas.microsoft.com/office/drawing/2014/main" id="{0D01A783-9648-906B-0944-E3BD8253C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44938"/>
            <a:ext cx="4762500" cy="3486150"/>
          </a:xfrm>
          <a:prstGeom prst="rect">
            <a:avLst/>
          </a:prstGeom>
        </p:spPr>
      </p:pic>
      <p:pic>
        <p:nvPicPr>
          <p:cNvPr id="5" name="Picture 4" descr="Zero-order hold - Wikipedia">
            <a:extLst>
              <a:ext uri="{FF2B5EF4-FFF2-40B4-BE49-F238E27FC236}">
                <a16:creationId xmlns:a16="http://schemas.microsoft.com/office/drawing/2014/main" id="{C7872F52-3398-436C-BBFE-7A8BAFDE9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2152" y="5574927"/>
            <a:ext cx="5644472" cy="326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42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4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0F8CC40-76C9-40FC-86E7-52C0A32BC526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D4907A-01FB-4F28-B600-F064289E2587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473B3C-7CF9-49AE-A265-C36A0CE65C8D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How do I choose a sensor?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41E25F-5698-4428-93F0-D8979319CE87}"/>
              </a:ext>
            </a:extLst>
          </p:cNvPr>
          <p:cNvSpPr/>
          <p:nvPr/>
        </p:nvSpPr>
        <p:spPr>
          <a:xfrm>
            <a:off x="857250" y="3848100"/>
            <a:ext cx="3238500" cy="10287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8183F1-F151-4946-9F97-1ED965CABB9F}"/>
              </a:ext>
            </a:extLst>
          </p:cNvPr>
          <p:cNvSpPr/>
          <p:nvPr/>
        </p:nvSpPr>
        <p:spPr>
          <a:xfrm>
            <a:off x="4476750" y="3848100"/>
            <a:ext cx="4267200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15A405-E49B-4503-8928-2A2ED146C859}"/>
              </a:ext>
            </a:extLst>
          </p:cNvPr>
          <p:cNvSpPr/>
          <p:nvPr/>
        </p:nvSpPr>
        <p:spPr>
          <a:xfrm>
            <a:off x="8915400" y="3848100"/>
            <a:ext cx="4267200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2C223B-93B0-41F1-BB3F-91AE793F7BDD}"/>
              </a:ext>
            </a:extLst>
          </p:cNvPr>
          <p:cNvSpPr/>
          <p:nvPr/>
        </p:nvSpPr>
        <p:spPr>
          <a:xfrm>
            <a:off x="13354050" y="3848100"/>
            <a:ext cx="4267200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9D6E32-A29A-4D3B-ACA3-57B6C214865E}"/>
              </a:ext>
            </a:extLst>
          </p:cNvPr>
          <p:cNvSpPr txBox="1"/>
          <p:nvPr/>
        </p:nvSpPr>
        <p:spPr>
          <a:xfrm>
            <a:off x="988359" y="3964641"/>
            <a:ext cx="28575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ERROR BEHAVIOUR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F62D6A-77E9-4ADE-8568-2E4AC29940F1}"/>
              </a:ext>
            </a:extLst>
          </p:cNvPr>
          <p:cNvSpPr txBox="1"/>
          <p:nvPr/>
        </p:nvSpPr>
        <p:spPr>
          <a:xfrm>
            <a:off x="4512609" y="3964641"/>
            <a:ext cx="40767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NOISE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3CAF02-FCB4-4BE2-BB8E-6AA799A171A2}"/>
              </a:ext>
            </a:extLst>
          </p:cNvPr>
          <p:cNvSpPr txBox="1"/>
          <p:nvPr/>
        </p:nvSpPr>
        <p:spPr>
          <a:xfrm>
            <a:off x="8951259" y="3964641"/>
            <a:ext cx="40767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BIAS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67583F-B3BC-4506-9544-62391FFC0D71}"/>
              </a:ext>
            </a:extLst>
          </p:cNvPr>
          <p:cNvSpPr txBox="1"/>
          <p:nvPr/>
        </p:nvSpPr>
        <p:spPr>
          <a:xfrm>
            <a:off x="13389909" y="3964641"/>
            <a:ext cx="40767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LATENCY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4D5EFF-6F97-432F-8A0D-3D7AB2DE4AF6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B8C6CC"/>
                </a:solidFill>
                <a:latin typeface="Arial"/>
                <a:cs typeface="Arial"/>
              </a:rPr>
              <a:t>Terminology aligned with PX4 v1.17 sensor and estimator integration documentation.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pic>
        <p:nvPicPr>
          <p:cNvPr id="2" name="Picture 1" descr="A cool guide to the &quot;Colors of Noise&quot; (White vs. Pink vs. Brown) and how they affect focus. : r/coolguides">
            <a:extLst>
              <a:ext uri="{FF2B5EF4-FFF2-40B4-BE49-F238E27FC236}">
                <a16:creationId xmlns:a16="http://schemas.microsoft.com/office/drawing/2014/main" id="{D3653213-F72A-4C5A-CBE4-D40FB1179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59" y="5143500"/>
            <a:ext cx="4518857" cy="4576370"/>
          </a:xfrm>
          <a:prstGeom prst="rect">
            <a:avLst/>
          </a:prstGeom>
        </p:spPr>
      </p:pic>
      <p:pic>
        <p:nvPicPr>
          <p:cNvPr id="3" name="Picture 2" descr="Bias Your Signal">
            <a:extLst>
              <a:ext uri="{FF2B5EF4-FFF2-40B4-BE49-F238E27FC236}">
                <a16:creationId xmlns:a16="http://schemas.microsoft.com/office/drawing/2014/main" id="{2810E57C-E800-CA26-24B6-DFD6DDD09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606" y="6398559"/>
            <a:ext cx="6300788" cy="2000250"/>
          </a:xfrm>
          <a:prstGeom prst="rect">
            <a:avLst/>
          </a:prstGeom>
        </p:spPr>
      </p:pic>
      <p:pic>
        <p:nvPicPr>
          <p:cNvPr id="4" name="Picture 3" descr="Electronics Glossary &gt;&gt; Latency">
            <a:extLst>
              <a:ext uri="{FF2B5EF4-FFF2-40B4-BE49-F238E27FC236}">
                <a16:creationId xmlns:a16="http://schemas.microsoft.com/office/drawing/2014/main" id="{12161C51-C281-E488-F1E2-41808191F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3196" y="5729879"/>
            <a:ext cx="4827019" cy="383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08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55119-41D6-0076-526D-331B6C697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>
            <a:extLst>
              <a:ext uri="{FF2B5EF4-FFF2-40B4-BE49-F238E27FC236}">
                <a16:creationId xmlns:a16="http://schemas.microsoft.com/office/drawing/2014/main" id="{DCBAF3FE-335C-AAC1-402B-300C096D1A2A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4" name="Freeform 3">
              <a:extLst>
                <a:ext uri="{FF2B5EF4-FFF2-40B4-BE49-F238E27FC236}">
                  <a16:creationId xmlns:a16="http://schemas.microsoft.com/office/drawing/2014/main" id="{410C3BED-6087-8416-4109-B7E42680932A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CCC6940-07DB-07A9-B40B-E00802709E93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640236-CCD0-D05A-1593-614DE8B74AF3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16B5AE-442F-ADCC-CBA7-E0CD24F9583B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How do I choose a sensor?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D38571-D7F2-EB9D-A74B-AC8834EF9415}"/>
              </a:ext>
            </a:extLst>
          </p:cNvPr>
          <p:cNvSpPr/>
          <p:nvPr/>
        </p:nvSpPr>
        <p:spPr>
          <a:xfrm>
            <a:off x="632703" y="3895725"/>
            <a:ext cx="3238500" cy="10287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9978D0-E681-A8B1-1F55-B69725DF6FE3}"/>
              </a:ext>
            </a:extLst>
          </p:cNvPr>
          <p:cNvSpPr txBox="1"/>
          <p:nvPr/>
        </p:nvSpPr>
        <p:spPr>
          <a:xfrm>
            <a:off x="823203" y="4010025"/>
            <a:ext cx="28575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A0FA25-189F-19E8-D85D-08C2D9281AD6}"/>
              </a:ext>
            </a:extLst>
          </p:cNvPr>
          <p:cNvSpPr/>
          <p:nvPr/>
        </p:nvSpPr>
        <p:spPr>
          <a:xfrm>
            <a:off x="4252203" y="3895725"/>
            <a:ext cx="3157538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9AF254-0DDB-43AC-8571-2B776AD9EB49}"/>
              </a:ext>
            </a:extLst>
          </p:cNvPr>
          <p:cNvSpPr txBox="1"/>
          <p:nvPr/>
        </p:nvSpPr>
        <p:spPr>
          <a:xfrm>
            <a:off x="4347453" y="4010025"/>
            <a:ext cx="2967038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INTERFACE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32C23B-41B3-8D4F-67D2-D4C303F44DBC}"/>
              </a:ext>
            </a:extLst>
          </p:cNvPr>
          <p:cNvSpPr/>
          <p:nvPr/>
        </p:nvSpPr>
        <p:spPr>
          <a:xfrm>
            <a:off x="7581191" y="3895725"/>
            <a:ext cx="3157538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DA7DB9-F643-DD82-BA41-230E49E83DD7}"/>
              </a:ext>
            </a:extLst>
          </p:cNvPr>
          <p:cNvSpPr txBox="1"/>
          <p:nvPr/>
        </p:nvSpPr>
        <p:spPr>
          <a:xfrm>
            <a:off x="7676441" y="4010025"/>
            <a:ext cx="2967038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POWER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58559F-BD7D-E885-56C6-16C704C04EBA}"/>
              </a:ext>
            </a:extLst>
          </p:cNvPr>
          <p:cNvSpPr/>
          <p:nvPr/>
        </p:nvSpPr>
        <p:spPr>
          <a:xfrm>
            <a:off x="10910178" y="3895725"/>
            <a:ext cx="3157538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9AAA58-99CA-25B5-ED1E-989016F175C3}"/>
              </a:ext>
            </a:extLst>
          </p:cNvPr>
          <p:cNvSpPr txBox="1"/>
          <p:nvPr/>
        </p:nvSpPr>
        <p:spPr>
          <a:xfrm>
            <a:off x="11005428" y="4010025"/>
            <a:ext cx="2967038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MASS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1EEF35-EDAD-5378-1147-1226F7C61BAE}"/>
              </a:ext>
            </a:extLst>
          </p:cNvPr>
          <p:cNvSpPr/>
          <p:nvPr/>
        </p:nvSpPr>
        <p:spPr>
          <a:xfrm>
            <a:off x="14239166" y="3895725"/>
            <a:ext cx="3157538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73BE13-428E-B7F6-D13C-BD471413EA81}"/>
              </a:ext>
            </a:extLst>
          </p:cNvPr>
          <p:cNvSpPr txBox="1"/>
          <p:nvPr/>
        </p:nvSpPr>
        <p:spPr>
          <a:xfrm>
            <a:off x="14334416" y="4010025"/>
            <a:ext cx="2967038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ENVIRONMENT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F2BB46-22DB-9788-4A92-9F6B3C1A616E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B8C6CC"/>
                </a:solidFill>
                <a:latin typeface="Arial"/>
                <a:cs typeface="Arial"/>
              </a:rPr>
              <a:t>Terminology aligned with PX4 v1.17 sensor and estimator integration documentation.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pic>
        <p:nvPicPr>
          <p:cNvPr id="2" name="Picture 1" descr="SPI vs. I2C vs. UART: Choosing the Right Communication Protocol | by Anjanashibu | Medium">
            <a:extLst>
              <a:ext uri="{FF2B5EF4-FFF2-40B4-BE49-F238E27FC236}">
                <a16:creationId xmlns:a16="http://schemas.microsoft.com/office/drawing/2014/main" id="{B83DB246-11A4-0099-A625-6C5B27462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5275026"/>
            <a:ext cx="4185528" cy="4185528"/>
          </a:xfrm>
          <a:prstGeom prst="rect">
            <a:avLst/>
          </a:prstGeom>
        </p:spPr>
      </p:pic>
      <p:pic>
        <p:nvPicPr>
          <p:cNvPr id="5" name="Picture 4" descr="How Much Weight Can a Drone Carry? Payload Guide">
            <a:extLst>
              <a:ext uri="{FF2B5EF4-FFF2-40B4-BE49-F238E27FC236}">
                <a16:creationId xmlns:a16="http://schemas.microsoft.com/office/drawing/2014/main" id="{CB110D6F-8685-AF01-2654-FB5E8EA63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2416" y="5836113"/>
            <a:ext cx="5038624" cy="2826545"/>
          </a:xfrm>
          <a:prstGeom prst="rect">
            <a:avLst/>
          </a:prstGeom>
        </p:spPr>
      </p:pic>
      <p:pic>
        <p:nvPicPr>
          <p:cNvPr id="3" name="Picture 2" descr="Understanding IP Ratings for Sensors: What IP67 Really Means - Just Measure it">
            <a:extLst>
              <a:ext uri="{FF2B5EF4-FFF2-40B4-BE49-F238E27FC236}">
                <a16:creationId xmlns:a16="http://schemas.microsoft.com/office/drawing/2014/main" id="{E31762BA-9105-1F32-2E17-5121E8E78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27931" y="5150796"/>
            <a:ext cx="3131631" cy="4697446"/>
          </a:xfrm>
          <a:prstGeom prst="rect">
            <a:avLst/>
          </a:prstGeom>
        </p:spPr>
      </p:pic>
      <p:pic>
        <p:nvPicPr>
          <p:cNvPr id="4" name="Picture 3" descr="How to connect ACS712 current sensor to 240V AC power line">
            <a:extLst>
              <a:ext uri="{FF2B5EF4-FFF2-40B4-BE49-F238E27FC236}">
                <a16:creationId xmlns:a16="http://schemas.microsoft.com/office/drawing/2014/main" id="{ABC81F69-48E2-345D-16B0-8DA1E40371C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4861" b="24699"/>
          <a:stretch>
            <a:fillRect/>
          </a:stretch>
        </p:blipFill>
        <p:spPr>
          <a:xfrm>
            <a:off x="5629275" y="5553075"/>
            <a:ext cx="428625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70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FF631-7F61-EF55-560B-EFC2E0807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2">
            <a:extLst>
              <a:ext uri="{FF2B5EF4-FFF2-40B4-BE49-F238E27FC236}">
                <a16:creationId xmlns:a16="http://schemas.microsoft.com/office/drawing/2014/main" id="{42A3504E-EB4D-8A68-4F38-2102EA26FFB7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4" name="Freeform 3">
              <a:extLst>
                <a:ext uri="{FF2B5EF4-FFF2-40B4-BE49-F238E27FC236}">
                  <a16:creationId xmlns:a16="http://schemas.microsoft.com/office/drawing/2014/main" id="{80B6C31C-3581-FA36-080E-98AEA227858A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4C96354-17B5-0936-BA4D-1F77560B81A0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25FD03-4058-4550-04F9-DA843B93B25C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0AA5BE-E736-E76F-E24D-887FD5B0DE28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How do I choose a sensor?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8FD651-41AF-BACA-6DEB-73B7E42C54B5}"/>
              </a:ext>
            </a:extLst>
          </p:cNvPr>
          <p:cNvSpPr/>
          <p:nvPr/>
        </p:nvSpPr>
        <p:spPr>
          <a:xfrm>
            <a:off x="857250" y="3848100"/>
            <a:ext cx="3238500" cy="10287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9354B0-B2FA-F3E4-EE91-893CC623E017}"/>
              </a:ext>
            </a:extLst>
          </p:cNvPr>
          <p:cNvSpPr txBox="1"/>
          <p:nvPr/>
        </p:nvSpPr>
        <p:spPr>
          <a:xfrm>
            <a:off x="1047750" y="3962400"/>
            <a:ext cx="28575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DYNAMIC WINDOW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661400-E144-6524-14B9-AABAB5645A1F}"/>
              </a:ext>
            </a:extLst>
          </p:cNvPr>
          <p:cNvSpPr/>
          <p:nvPr/>
        </p:nvSpPr>
        <p:spPr>
          <a:xfrm>
            <a:off x="4476750" y="3848100"/>
            <a:ext cx="4267200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CDBE05-8004-E623-3BF8-7E92EFFB0E60}"/>
              </a:ext>
            </a:extLst>
          </p:cNvPr>
          <p:cNvSpPr txBox="1"/>
          <p:nvPr/>
        </p:nvSpPr>
        <p:spPr>
          <a:xfrm>
            <a:off x="4572000" y="3962400"/>
            <a:ext cx="40767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RANGE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2B8007-2305-F713-EA9C-2EC0ABFAC1C1}"/>
              </a:ext>
            </a:extLst>
          </p:cNvPr>
          <p:cNvSpPr/>
          <p:nvPr/>
        </p:nvSpPr>
        <p:spPr>
          <a:xfrm>
            <a:off x="8915400" y="3848100"/>
            <a:ext cx="4267200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AAF65B-4A91-0B7B-4676-5CE6CC11141D}"/>
              </a:ext>
            </a:extLst>
          </p:cNvPr>
          <p:cNvSpPr txBox="1"/>
          <p:nvPr/>
        </p:nvSpPr>
        <p:spPr>
          <a:xfrm>
            <a:off x="9010650" y="3962400"/>
            <a:ext cx="40767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BANDWIDTH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F3F4B3-E339-5CF4-A594-B2C0D4A001B4}"/>
              </a:ext>
            </a:extLst>
          </p:cNvPr>
          <p:cNvSpPr/>
          <p:nvPr/>
        </p:nvSpPr>
        <p:spPr>
          <a:xfrm>
            <a:off x="13354050" y="3848100"/>
            <a:ext cx="4267200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EE8BC7-4F4F-9CC8-CFD4-2E9245476BC4}"/>
              </a:ext>
            </a:extLst>
          </p:cNvPr>
          <p:cNvSpPr txBox="1"/>
          <p:nvPr/>
        </p:nvSpPr>
        <p:spPr>
          <a:xfrm>
            <a:off x="13449300" y="3962400"/>
            <a:ext cx="40767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ODR / SAMPLE RATE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8B99D5-58E5-D6A1-0A4B-39144187834C}"/>
              </a:ext>
            </a:extLst>
          </p:cNvPr>
          <p:cNvSpPr/>
          <p:nvPr/>
        </p:nvSpPr>
        <p:spPr>
          <a:xfrm>
            <a:off x="857250" y="5562600"/>
            <a:ext cx="3238500" cy="10287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3BD3AE-1F0C-F305-40E3-A7A8CCC100C5}"/>
              </a:ext>
            </a:extLst>
          </p:cNvPr>
          <p:cNvSpPr txBox="1"/>
          <p:nvPr/>
        </p:nvSpPr>
        <p:spPr>
          <a:xfrm>
            <a:off x="1047750" y="5676900"/>
            <a:ext cx="28575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ERROR BEHAVIOUR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710FCD-68C4-F258-2CF1-840335C553F5}"/>
              </a:ext>
            </a:extLst>
          </p:cNvPr>
          <p:cNvSpPr/>
          <p:nvPr/>
        </p:nvSpPr>
        <p:spPr>
          <a:xfrm>
            <a:off x="4476750" y="5562600"/>
            <a:ext cx="4267200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B9CFF2-081A-FB44-1CEF-9B8771BF0AC0}"/>
              </a:ext>
            </a:extLst>
          </p:cNvPr>
          <p:cNvSpPr txBox="1"/>
          <p:nvPr/>
        </p:nvSpPr>
        <p:spPr>
          <a:xfrm>
            <a:off x="4572000" y="5676900"/>
            <a:ext cx="40767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NOISE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F380CFD-4F86-26E8-9D21-639C1B14988C}"/>
              </a:ext>
            </a:extLst>
          </p:cNvPr>
          <p:cNvSpPr/>
          <p:nvPr/>
        </p:nvSpPr>
        <p:spPr>
          <a:xfrm>
            <a:off x="8915400" y="5562600"/>
            <a:ext cx="4267200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0705E4-C2D0-AE47-0214-33B9418FE588}"/>
              </a:ext>
            </a:extLst>
          </p:cNvPr>
          <p:cNvSpPr txBox="1"/>
          <p:nvPr/>
        </p:nvSpPr>
        <p:spPr>
          <a:xfrm>
            <a:off x="9010650" y="5676900"/>
            <a:ext cx="40767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BIAS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B9919F-5C95-AE05-094E-899FFD34D66A}"/>
              </a:ext>
            </a:extLst>
          </p:cNvPr>
          <p:cNvSpPr/>
          <p:nvPr/>
        </p:nvSpPr>
        <p:spPr>
          <a:xfrm>
            <a:off x="13354050" y="5562600"/>
            <a:ext cx="4267200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9C809F-4509-8461-C9BF-BFBE91B6368D}"/>
              </a:ext>
            </a:extLst>
          </p:cNvPr>
          <p:cNvSpPr txBox="1"/>
          <p:nvPr/>
        </p:nvSpPr>
        <p:spPr>
          <a:xfrm>
            <a:off x="13449300" y="5676900"/>
            <a:ext cx="40767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LATENCY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F401A1-0935-0EF0-791F-C90B586109ED}"/>
              </a:ext>
            </a:extLst>
          </p:cNvPr>
          <p:cNvSpPr/>
          <p:nvPr/>
        </p:nvSpPr>
        <p:spPr>
          <a:xfrm>
            <a:off x="857250" y="7277100"/>
            <a:ext cx="3238500" cy="10287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B7B2D5-CE6D-2762-0487-AF06F287A413}"/>
              </a:ext>
            </a:extLst>
          </p:cNvPr>
          <p:cNvSpPr txBox="1"/>
          <p:nvPr/>
        </p:nvSpPr>
        <p:spPr>
          <a:xfrm>
            <a:off x="1047750" y="7391400"/>
            <a:ext cx="2857500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21F9508-DB65-8EB6-C1BF-8C0B6A3FE830}"/>
              </a:ext>
            </a:extLst>
          </p:cNvPr>
          <p:cNvSpPr/>
          <p:nvPr/>
        </p:nvSpPr>
        <p:spPr>
          <a:xfrm>
            <a:off x="4476750" y="7277100"/>
            <a:ext cx="3157538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690BF4-B895-4379-CB9E-33BAB3960AE6}"/>
              </a:ext>
            </a:extLst>
          </p:cNvPr>
          <p:cNvSpPr txBox="1"/>
          <p:nvPr/>
        </p:nvSpPr>
        <p:spPr>
          <a:xfrm>
            <a:off x="4572000" y="7391400"/>
            <a:ext cx="2967038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INTERFACE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FCE31C-F9B4-D83D-856C-39B262ACCB7F}"/>
              </a:ext>
            </a:extLst>
          </p:cNvPr>
          <p:cNvSpPr/>
          <p:nvPr/>
        </p:nvSpPr>
        <p:spPr>
          <a:xfrm>
            <a:off x="7805738" y="7277100"/>
            <a:ext cx="3157538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5B5A75-995F-C93D-402A-163DEA0EA703}"/>
              </a:ext>
            </a:extLst>
          </p:cNvPr>
          <p:cNvSpPr txBox="1"/>
          <p:nvPr/>
        </p:nvSpPr>
        <p:spPr>
          <a:xfrm>
            <a:off x="7900988" y="7391400"/>
            <a:ext cx="2967038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POWER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8A9C190-F6DD-DB2E-55E3-B9147F30A87E}"/>
              </a:ext>
            </a:extLst>
          </p:cNvPr>
          <p:cNvSpPr/>
          <p:nvPr/>
        </p:nvSpPr>
        <p:spPr>
          <a:xfrm>
            <a:off x="11134725" y="7277100"/>
            <a:ext cx="3157538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0316D3-60BA-5AA7-C073-C29B3FBDC149}"/>
              </a:ext>
            </a:extLst>
          </p:cNvPr>
          <p:cNvSpPr txBox="1"/>
          <p:nvPr/>
        </p:nvSpPr>
        <p:spPr>
          <a:xfrm>
            <a:off x="11229975" y="7391400"/>
            <a:ext cx="2967038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MASS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7A6109F-8E4D-AD52-D771-B9DFBB4EFD34}"/>
              </a:ext>
            </a:extLst>
          </p:cNvPr>
          <p:cNvSpPr/>
          <p:nvPr/>
        </p:nvSpPr>
        <p:spPr>
          <a:xfrm>
            <a:off x="14463713" y="7277100"/>
            <a:ext cx="3157538" cy="1028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828B39-ED7E-28E5-6C53-4B6CFACDFB87}"/>
              </a:ext>
            </a:extLst>
          </p:cNvPr>
          <p:cNvSpPr txBox="1"/>
          <p:nvPr/>
        </p:nvSpPr>
        <p:spPr>
          <a:xfrm>
            <a:off x="14558963" y="7391400"/>
            <a:ext cx="2967038" cy="800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ENVIRONMENT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F33129-65DD-0441-7CB8-7AEE71CF51F9}"/>
              </a:ext>
            </a:extLst>
          </p:cNvPr>
          <p:cNvSpPr txBox="1"/>
          <p:nvPr/>
        </p:nvSpPr>
        <p:spPr>
          <a:xfrm>
            <a:off x="1428750" y="8705850"/>
            <a:ext cx="154305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500" b="1">
                <a:solidFill>
                  <a:srgbClr val="FFFFFF"/>
                </a:solidFill>
                <a:latin typeface="Arial"/>
                <a:cs typeface="Arial"/>
              </a:rPr>
              <a:t>Which specification affects estimation quality?</a:t>
            </a:r>
            <a:endParaRPr lang="it-IT" sz="35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7A67C5-8825-A6C3-7C53-B61FEB60B9D8}"/>
              </a:ext>
            </a:extLst>
          </p:cNvPr>
          <p:cNvSpPr txBox="1"/>
          <p:nvPr/>
        </p:nvSpPr>
        <p:spPr>
          <a:xfrm>
            <a:off x="1428750" y="9220200"/>
            <a:ext cx="154305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l"/>
            <a:r>
              <a:rPr lang="en-US" sz="3500" b="1">
                <a:solidFill>
                  <a:srgbClr val="FF5A00"/>
                </a:solidFill>
                <a:latin typeface="Arial"/>
                <a:cs typeface="Arial"/>
              </a:rPr>
              <a:t>Almost all of them, but in different ways.</a:t>
            </a:r>
            <a:endParaRPr lang="it-IT" sz="3500" b="1">
              <a:solidFill>
                <a:srgbClr val="FF5A00"/>
              </a:solidFill>
              <a:latin typeface="Arial"/>
              <a:cs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05BFC4-5399-F224-9045-44DFB64A932D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B8C6CC"/>
                </a:solidFill>
                <a:latin typeface="Arial"/>
                <a:cs typeface="Arial"/>
              </a:rPr>
              <a:t>Terminology aligned with PX4 v1.17 sensor and estimator integration documentation.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905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5A078-925B-1648-7726-AF13D1ACA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54412F-E408-6F26-9E05-9BE05C19CB67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52D8F56-528D-3129-88A6-9FA73D4CDF1F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E36A998-56BC-E310-68B9-3E8A1BAEE513}"/>
              </a:ext>
            </a:extLst>
          </p:cNvPr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8E0D97A-27C0-DDD5-9FA8-50C33ECDFCAF}"/>
                </a:ext>
              </a:extLst>
            </p:cNvPr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7699DF9-D7C4-9F39-3F09-3C3D4EF2FDE4}"/>
                </a:ext>
              </a:extLst>
            </p:cNvPr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9A34722-C462-C87F-6F53-D5D772557D84}"/>
              </a:ext>
            </a:extLst>
          </p:cNvPr>
          <p:cNvSpPr txBox="1"/>
          <p:nvPr/>
        </p:nvSpPr>
        <p:spPr>
          <a:xfrm>
            <a:off x="423362" y="3451504"/>
            <a:ext cx="18552543" cy="171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MODEL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533F7F8E-8298-4A65-F839-76D1D13F4CC4}"/>
              </a:ext>
            </a:extLst>
          </p:cNvPr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79729F6-02EC-1DDB-417E-D5F7A1059BF8}"/>
                </a:ext>
              </a:extLst>
            </p:cNvPr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87FD974-4F7E-6B48-B9FB-55FEE0410238}"/>
                </a:ext>
              </a:extLst>
            </p:cNvPr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01570B8E-9911-12EC-AB28-FF7A8E405B42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5392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The minimum measurement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BCAC44-E603-4197-B92B-18514A1008AC}"/>
                  </a:ext>
                </a:extLst>
              </p:cNvPr>
              <p:cNvSpPr txBox="1"/>
              <p:nvPr/>
            </p:nvSpPr>
            <p:spPr>
              <a:xfrm>
                <a:off x="3429000" y="3429000"/>
                <a:ext cx="11430000" cy="104775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sz="4400" b="1">
                          <a:solidFill>
                            <a:srgbClr val="FFFFFF"/>
                          </a:solidFill>
                          <a:latin typeface="Cambria Math"/>
                          <a:cs typeface="Arial"/>
                        </a:rPr>
                        <m:t>z</m:t>
                      </m:r>
                      <m:r>
                        <a:rPr lang="pt-BR" sz="4400" b="1">
                          <a:solidFill>
                            <a:srgbClr val="FFFFFF"/>
                          </a:solidFill>
                          <a:latin typeface="Cambria Math"/>
                          <a:cs typeface="Arial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pt-BR" sz="4400" b="1">
                          <a:solidFill>
                            <a:srgbClr val="FFFFFF"/>
                          </a:solidFill>
                          <a:latin typeface="Cambria Math"/>
                          <a:cs typeface="Arial"/>
                        </a:rPr>
                        <m:t>h</m:t>
                      </m:r>
                      <m:r>
                        <a:rPr lang="pt-BR" sz="4400" b="1">
                          <a:solidFill>
                            <a:srgbClr val="FFFFFF"/>
                          </a:solidFill>
                          <a:latin typeface="Cambria Math"/>
                          <a:cs typeface="Arial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sz="4400" b="1">
                          <a:solidFill>
                            <a:srgbClr val="FFFFFF"/>
                          </a:solidFill>
                          <a:latin typeface="Cambria Math"/>
                          <a:cs typeface="Arial"/>
                        </a:rPr>
                        <m:t>x</m:t>
                      </m:r>
                      <m:r>
                        <a:rPr lang="pt-BR" sz="4400" b="1">
                          <a:solidFill>
                            <a:srgbClr val="FFFFFF"/>
                          </a:solidFill>
                          <a:latin typeface="Cambria Math"/>
                          <a:cs typeface="Arial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pt-BR" sz="4400" b="1">
                          <a:solidFill>
                            <a:srgbClr val="FFFFFF"/>
                          </a:solidFill>
                          <a:latin typeface="Cambria Math"/>
                          <a:cs typeface="Arial"/>
                        </a:rPr>
                        <m:t>b</m:t>
                      </m:r>
                      <m:r>
                        <a:rPr lang="pt-BR" sz="4400" b="1">
                          <a:solidFill>
                            <a:srgbClr val="FFFFFF"/>
                          </a:solidFill>
                          <a:latin typeface="Cambria Math"/>
                          <a:cs typeface="Arial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pt-BR" sz="4400" b="1">
                          <a:solidFill>
                            <a:srgbClr val="FFFFFF"/>
                          </a:solidFill>
                          <a:latin typeface="Cambria Math"/>
                          <a:cs typeface="Arial"/>
                        </a:rPr>
                        <m:t>n</m:t>
                      </m:r>
                    </m:oMath>
                  </m:oMathPara>
                </a14:m>
                <a:endParaRPr lang="it-IT" sz="4400" b="1">
                  <a:solidFill>
                    <a:srgbClr val="FFFFFF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BCAC44-E603-4197-B92B-18514A100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429000"/>
                <a:ext cx="11430000" cy="104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C40BE6A7-2483-4C41-A5DD-AFEC1A5AE6D0}"/>
              </a:ext>
            </a:extLst>
          </p:cNvPr>
          <p:cNvSpPr/>
          <p:nvPr/>
        </p:nvSpPr>
        <p:spPr>
          <a:xfrm>
            <a:off x="1047750" y="5048250"/>
            <a:ext cx="4762500" cy="276225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1E52E0-E664-4069-86DF-0801068FA921}"/>
              </a:ext>
            </a:extLst>
          </p:cNvPr>
          <p:cNvSpPr/>
          <p:nvPr/>
        </p:nvSpPr>
        <p:spPr>
          <a:xfrm>
            <a:off x="1047750" y="5048250"/>
            <a:ext cx="4762500" cy="11430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CE0A2E-1982-452B-B4B9-860761A2D3BA}"/>
              </a:ext>
            </a:extLst>
          </p:cNvPr>
          <p:cNvSpPr txBox="1"/>
          <p:nvPr/>
        </p:nvSpPr>
        <p:spPr>
          <a:xfrm>
            <a:off x="1276350" y="5334000"/>
            <a:ext cx="4305300" cy="723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3500" b="1">
                <a:solidFill>
                  <a:srgbClr val="FF5A00"/>
                </a:solidFill>
                <a:latin typeface="Arial"/>
                <a:cs typeface="Arial"/>
              </a:rPr>
              <a:t>h(x)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BDFEE3-D4B0-4D66-9929-26A82B3744A7}"/>
              </a:ext>
            </a:extLst>
          </p:cNvPr>
          <p:cNvSpPr txBox="1"/>
          <p:nvPr/>
        </p:nvSpPr>
        <p:spPr>
          <a:xfrm>
            <a:off x="1276350" y="6096000"/>
            <a:ext cx="43053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IDEAL RELATIONSHIP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C15BB3-2048-4D05-8F2D-A3C97E9CFEC7}"/>
              </a:ext>
            </a:extLst>
          </p:cNvPr>
          <p:cNvSpPr txBox="1"/>
          <p:nvPr/>
        </p:nvSpPr>
        <p:spPr>
          <a:xfrm>
            <a:off x="1352550" y="6667500"/>
            <a:ext cx="4152900" cy="8572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77500" lnSpcReduction="20000"/>
          </a:bodyPr>
          <a:lstStyle/>
          <a:p>
            <a:pPr algn="l"/>
            <a:r>
              <a:rPr lang="en-US" sz="3500">
                <a:solidFill>
                  <a:srgbClr val="08283A"/>
                </a:solidFill>
                <a:latin typeface="Arial"/>
                <a:cs typeface="Arial"/>
              </a:rPr>
              <a:t>how the hidden state
creates the measurement</a:t>
            </a:r>
            <a:endParaRPr lang="it-IT" sz="3500">
              <a:solidFill>
                <a:srgbClr val="08283A"/>
              </a:solidFill>
              <a:latin typeface="Arial"/>
              <a:cs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DB0116-5E95-4A7C-B8F9-9D90CA5BF8C5}"/>
              </a:ext>
            </a:extLst>
          </p:cNvPr>
          <p:cNvSpPr/>
          <p:nvPr/>
        </p:nvSpPr>
        <p:spPr>
          <a:xfrm>
            <a:off x="6762750" y="5048250"/>
            <a:ext cx="4762500" cy="276225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B4ED68-014C-4A99-BA69-1757950D311C}"/>
              </a:ext>
            </a:extLst>
          </p:cNvPr>
          <p:cNvSpPr/>
          <p:nvPr/>
        </p:nvSpPr>
        <p:spPr>
          <a:xfrm>
            <a:off x="6762750" y="5048250"/>
            <a:ext cx="4762500" cy="11430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C56CB0-C0BE-4E58-865E-E15E31015DCE}"/>
              </a:ext>
            </a:extLst>
          </p:cNvPr>
          <p:cNvSpPr txBox="1"/>
          <p:nvPr/>
        </p:nvSpPr>
        <p:spPr>
          <a:xfrm>
            <a:off x="6991350" y="5334000"/>
            <a:ext cx="4305300" cy="723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3500" b="1">
                <a:solidFill>
                  <a:srgbClr val="FF5A00"/>
                </a:solidFill>
                <a:latin typeface="Arial"/>
                <a:cs typeface="Arial"/>
              </a:rPr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B3DE74-3B74-4C13-AEF4-2B9A65E80339}"/>
              </a:ext>
            </a:extLst>
          </p:cNvPr>
          <p:cNvSpPr txBox="1"/>
          <p:nvPr/>
        </p:nvSpPr>
        <p:spPr>
          <a:xfrm>
            <a:off x="6991350" y="6096000"/>
            <a:ext cx="43053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BIAS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B9E221-7748-46BF-A3D6-9F12C6D27EEB}"/>
              </a:ext>
            </a:extLst>
          </p:cNvPr>
          <p:cNvSpPr txBox="1"/>
          <p:nvPr/>
        </p:nvSpPr>
        <p:spPr>
          <a:xfrm>
            <a:off x="7067550" y="6667500"/>
            <a:ext cx="4152900" cy="8572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en-US" sz="3500">
                <a:solidFill>
                  <a:srgbClr val="08283A"/>
                </a:solidFill>
                <a:latin typeface="Arial"/>
                <a:cs typeface="Arial"/>
              </a:rPr>
              <a:t>a persistent offset
that looks like truth</a:t>
            </a:r>
            <a:endParaRPr lang="it-IT" sz="3500">
              <a:solidFill>
                <a:srgbClr val="08283A"/>
              </a:solidFill>
              <a:latin typeface="Arial"/>
              <a:cs typeface="Arial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D7EB6F-8C9B-40F4-AECE-986B10BD666D}"/>
              </a:ext>
            </a:extLst>
          </p:cNvPr>
          <p:cNvSpPr/>
          <p:nvPr/>
        </p:nvSpPr>
        <p:spPr>
          <a:xfrm>
            <a:off x="12477750" y="5048250"/>
            <a:ext cx="4762500" cy="276225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0042188-F22A-4001-9CD3-73FE63A79B43}"/>
              </a:ext>
            </a:extLst>
          </p:cNvPr>
          <p:cNvSpPr/>
          <p:nvPr/>
        </p:nvSpPr>
        <p:spPr>
          <a:xfrm>
            <a:off x="12477750" y="5048250"/>
            <a:ext cx="4762500" cy="11430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CB45D7-740A-4811-9E68-1D4F05228DEA}"/>
              </a:ext>
            </a:extLst>
          </p:cNvPr>
          <p:cNvSpPr txBox="1"/>
          <p:nvPr/>
        </p:nvSpPr>
        <p:spPr>
          <a:xfrm>
            <a:off x="12706350" y="5334000"/>
            <a:ext cx="4305300" cy="723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3500" b="1">
                <a:solidFill>
                  <a:srgbClr val="FF5A00"/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8A63AA-6E63-431F-82BB-7A1A8399191C}"/>
              </a:ext>
            </a:extLst>
          </p:cNvPr>
          <p:cNvSpPr txBox="1"/>
          <p:nvPr/>
        </p:nvSpPr>
        <p:spPr>
          <a:xfrm>
            <a:off x="12706350" y="6096000"/>
            <a:ext cx="43053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RANDOM NOISE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8FCA81-1DF8-4977-9963-27322A9B42CF}"/>
              </a:ext>
            </a:extLst>
          </p:cNvPr>
          <p:cNvSpPr txBox="1"/>
          <p:nvPr/>
        </p:nvSpPr>
        <p:spPr>
          <a:xfrm>
            <a:off x="12782550" y="6667500"/>
            <a:ext cx="4152900" cy="8572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77500" lnSpcReduction="20000"/>
          </a:bodyPr>
          <a:lstStyle/>
          <a:p>
            <a:pPr algn="l"/>
            <a:r>
              <a:rPr lang="en-US" sz="3500">
                <a:solidFill>
                  <a:srgbClr val="08283A"/>
                </a:solidFill>
                <a:latin typeface="Arial"/>
                <a:cs typeface="Arial"/>
              </a:rPr>
              <a:t>unpredictable variation
around the measurement</a:t>
            </a:r>
            <a:endParaRPr lang="it-IT" sz="3500">
              <a:solidFill>
                <a:srgbClr val="08283A"/>
              </a:solidFill>
              <a:latin typeface="Arial"/>
              <a:cs typeface="Arial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74FEEB-03E0-400F-8399-A4A91864BE07}"/>
              </a:ext>
            </a:extLst>
          </p:cNvPr>
          <p:cNvSpPr/>
          <p:nvPr/>
        </p:nvSpPr>
        <p:spPr>
          <a:xfrm>
            <a:off x="6286500" y="8439150"/>
            <a:ext cx="5715000" cy="9525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2B8C82-62E6-48BD-BEDE-A6A81755E073}"/>
              </a:ext>
            </a:extLst>
          </p:cNvPr>
          <p:cNvSpPr txBox="1"/>
          <p:nvPr/>
        </p:nvSpPr>
        <p:spPr>
          <a:xfrm>
            <a:off x="6477000" y="8553450"/>
            <a:ext cx="5334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62500" lnSpcReduction="20000"/>
          </a:bodyPr>
          <a:lstStyle/>
          <a:p>
            <a:pPr algn="l"/>
            <a:r>
              <a:rPr lang="en-US" sz="3500">
                <a:solidFill>
                  <a:srgbClr val="FFFFFF"/>
                </a:solidFill>
                <a:latin typeface="Arial"/>
                <a:cs typeface="Arial"/>
              </a:rPr>
              <a:t>reality adds more: scale factor · misalignment · saturation · latency</a:t>
            </a:r>
            <a:endParaRPr lang="it-IT" sz="35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B8C6CC"/>
                </a:solidFill>
                <a:latin typeface="Arial"/>
                <a:cs typeface="Arial"/>
              </a:rPr>
              <a:t>Notation follows standard estimation and inertial-navigation measurement models.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4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9C1AD17-0DE9-4763-9C21-8AF0772F2366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671CCB-65EF-476A-8AA4-2530D1EB0922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96A82A-4213-498D-AD4F-40FF6A49849F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Gyroscope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2AE60C-8750-4AF9-A9CA-8BF6258F68CF}"/>
                  </a:ext>
                </a:extLst>
              </p:cNvPr>
              <p:cNvSpPr txBox="1"/>
              <p:nvPr/>
            </p:nvSpPr>
            <p:spPr>
              <a:xfrm>
                <a:off x="476250" y="3605981"/>
                <a:ext cx="11239500" cy="914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t-BR" sz="4400" b="1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pt-BR" sz="4400" b="1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ₘ=</m:t>
                      </m:r>
                      <m:r>
                        <a:rPr lang="pt-BR" sz="44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pt-BR" sz="4400" b="1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44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4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t-BR" sz="44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pt-BR" sz="4400" b="1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44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44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pt-BR" sz="44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it-IT" sz="4400" b="1">
                  <a:solidFill>
                    <a:srgbClr val="FFFFFF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2AE60C-8750-4AF9-A9CA-8BF6258F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3605981"/>
                <a:ext cx="11239500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0B89E6AD-9741-401F-8392-7C133B54FEDD}"/>
              </a:ext>
            </a:extLst>
          </p:cNvPr>
          <p:cNvSpPr/>
          <p:nvPr/>
        </p:nvSpPr>
        <p:spPr>
          <a:xfrm>
            <a:off x="1047750" y="5143500"/>
            <a:ext cx="4000500" cy="200025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4AAA94-C9A1-4DB8-BBC0-86FBED8CD1C2}"/>
              </a:ext>
            </a:extLst>
          </p:cNvPr>
          <p:cNvSpPr/>
          <p:nvPr/>
        </p:nvSpPr>
        <p:spPr>
          <a:xfrm>
            <a:off x="1047750" y="5143500"/>
            <a:ext cx="4000500" cy="11430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EA02C5-F55A-460D-81EF-282540A596C8}"/>
              </a:ext>
            </a:extLst>
          </p:cNvPr>
          <p:cNvSpPr txBox="1"/>
          <p:nvPr/>
        </p:nvSpPr>
        <p:spPr>
          <a:xfrm>
            <a:off x="1295400" y="5448300"/>
            <a:ext cx="35052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TRUE ANGULAR RATE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69BD49-67A0-4B87-9DC8-8DC5E2289502}"/>
              </a:ext>
            </a:extLst>
          </p:cNvPr>
          <p:cNvSpPr txBox="1"/>
          <p:nvPr/>
        </p:nvSpPr>
        <p:spPr>
          <a:xfrm>
            <a:off x="1295400" y="6134100"/>
            <a:ext cx="35052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1600" b="1">
                <a:solidFill>
                  <a:srgbClr val="FF5A00"/>
                </a:solidFill>
                <a:latin typeface="Arial"/>
                <a:cs typeface="Arial"/>
              </a:rPr>
              <a:t>+ </a:t>
            </a:r>
            <a:r>
              <a:rPr lang="it-IT" sz="1600" b="1" err="1">
                <a:solidFill>
                  <a:srgbClr val="FF5A00"/>
                </a:solidFill>
                <a:latin typeface="Arial"/>
                <a:cs typeface="Arial"/>
              </a:rPr>
              <a:t>tiny</a:t>
            </a:r>
            <a:r>
              <a:rPr lang="it-IT" sz="1600" b="1">
                <a:solidFill>
                  <a:srgbClr val="FF5A00"/>
                </a:solidFill>
                <a:latin typeface="Arial"/>
                <a:cs typeface="Arial"/>
              </a:rPr>
              <a:t> </a:t>
            </a:r>
            <a:r>
              <a:rPr lang="it-IT" sz="1600" b="1" err="1">
                <a:solidFill>
                  <a:srgbClr val="FF5A00"/>
                </a:solidFill>
                <a:latin typeface="Arial"/>
                <a:cs typeface="Arial"/>
              </a:rPr>
              <a:t>bias</a:t>
            </a:r>
            <a:endParaRPr lang="it-IT" sz="1600" b="1">
              <a:solidFill>
                <a:srgbClr val="FF5A00"/>
              </a:solidFill>
              <a:latin typeface="Arial"/>
              <a:cs typeface="Arial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7F0052BA-F3C7-48C0-8180-54908D5A2430}"/>
              </a:ext>
            </a:extLst>
          </p:cNvPr>
          <p:cNvSpPr/>
          <p:nvPr/>
        </p:nvSpPr>
        <p:spPr>
          <a:xfrm>
            <a:off x="5429250" y="5810250"/>
            <a:ext cx="1143000" cy="5334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C9B4E8-45C8-4414-9D22-700BB9BFC179}"/>
              </a:ext>
            </a:extLst>
          </p:cNvPr>
          <p:cNvSpPr/>
          <p:nvPr/>
        </p:nvSpPr>
        <p:spPr>
          <a:xfrm>
            <a:off x="6953250" y="5143500"/>
            <a:ext cx="3238500" cy="200025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3AE087-AF00-4C0F-B158-C5DF98EDF64E}"/>
              </a:ext>
            </a:extLst>
          </p:cNvPr>
          <p:cNvSpPr txBox="1"/>
          <p:nvPr/>
        </p:nvSpPr>
        <p:spPr>
          <a:xfrm>
            <a:off x="7239000" y="5486400"/>
            <a:ext cx="26670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it-IT" sz="3200" b="1">
                <a:solidFill>
                  <a:srgbClr val="08283A"/>
                </a:solidFill>
                <a:latin typeface="Arial"/>
                <a:cs typeface="Arial"/>
              </a:rPr>
              <a:t>INTEGRATE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91C9D8-62B4-4A02-83A0-4430CD143E90}"/>
              </a:ext>
            </a:extLst>
          </p:cNvPr>
          <p:cNvSpPr txBox="1"/>
          <p:nvPr/>
        </p:nvSpPr>
        <p:spPr>
          <a:xfrm>
            <a:off x="7239000" y="6210300"/>
            <a:ext cx="26670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>
                <a:solidFill>
                  <a:srgbClr val="08283A"/>
                </a:solidFill>
                <a:latin typeface="Arial"/>
                <a:cs typeface="Arial"/>
              </a:rPr>
              <a:t>rate → </a:t>
            </a:r>
            <a:r>
              <a:rPr lang="it-IT" err="1">
                <a:solidFill>
                  <a:srgbClr val="08283A"/>
                </a:solidFill>
                <a:latin typeface="Arial"/>
                <a:cs typeface="Arial"/>
              </a:rPr>
              <a:t>attitude</a:t>
            </a:r>
            <a:endParaRPr lang="it-IT">
              <a:solidFill>
                <a:srgbClr val="08283A"/>
              </a:solidFill>
              <a:latin typeface="Arial"/>
              <a:cs typeface="Arial"/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A8B29EC5-F211-43B9-8EC8-8DE103C7F625}"/>
              </a:ext>
            </a:extLst>
          </p:cNvPr>
          <p:cNvSpPr/>
          <p:nvPr/>
        </p:nvSpPr>
        <p:spPr>
          <a:xfrm>
            <a:off x="10572750" y="5810250"/>
            <a:ext cx="1143000" cy="5334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9AD40E-E1D9-473B-9810-4B51A19CBC4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B8C6CC"/>
                </a:solidFill>
                <a:latin typeface="Arial"/>
                <a:cs typeface="Arial"/>
              </a:rPr>
              <a:t>Rate-gyro model with additive bias and noise · Markley &amp; Crassidis; Groves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pic>
        <p:nvPicPr>
          <p:cNvPr id="2" name="Picture 1" descr="Example of gyroscope drift | Download Scientific Diagram">
            <a:extLst>
              <a:ext uri="{FF2B5EF4-FFF2-40B4-BE49-F238E27FC236}">
                <a16:creationId xmlns:a16="http://schemas.microsoft.com/office/drawing/2014/main" id="{EECCFB25-DA5C-8192-2D8D-4045F1401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4148" y="4195762"/>
            <a:ext cx="5737102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6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9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8A50708-117D-4790-93EC-57C72B316FCE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34CF19-76E5-4506-A518-A79002969AA3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97AC74-6E7F-469B-957B-157A6605B614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Accelerometer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261D70-EC38-4D16-8A5C-BFC0C0BAC999}"/>
                  </a:ext>
                </a:extLst>
              </p:cNvPr>
              <p:cNvSpPr txBox="1"/>
              <p:nvPr/>
            </p:nvSpPr>
            <p:spPr>
              <a:xfrm>
                <a:off x="4000500" y="3314700"/>
                <a:ext cx="10287000" cy="914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4400" b="1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4400" b="1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ᴮ=</m:t>
                      </m:r>
                      <m:r>
                        <a:rPr lang="it-IT" sz="44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it-IT" sz="4400" b="1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4400" b="1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ᵀ</m:t>
                          </m:r>
                        </m:e>
                        <m:sub>
                          <m:r>
                            <a:rPr lang="it-IT" sz="4400" b="1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4400" b="1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  <m:r>
                            <a:rPr lang="it-IT" sz="4400" b="1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ctrlPr>
                            <a:rPr lang="it-IT" sz="44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it-IT" sz="44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44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it-IT" sz="44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</m:sSup>
                          <m:r>
                            <a:rPr lang="it-IT" sz="4400" b="1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it-IT" sz="44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44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it-IT" sz="44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</m:sSup>
                        </m:e>
                      </m:d>
                      <m:r>
                        <a:rPr lang="it-IT" sz="4400" b="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4400" b="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4400" b="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it-IT" sz="4400" b="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it-IT" sz="4400" b="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4400" b="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4400" b="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it-IT" sz="4400" b="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261D70-EC38-4D16-8A5C-BFC0C0BAC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0" y="3314700"/>
                <a:ext cx="10287000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0F50A44-C5F4-4920-A2C8-017B7B9392B2}"/>
              </a:ext>
            </a:extLst>
          </p:cNvPr>
          <p:cNvSpPr txBox="1"/>
          <p:nvPr/>
        </p:nvSpPr>
        <p:spPr>
          <a:xfrm>
            <a:off x="2286000" y="4267200"/>
            <a:ext cx="13716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en-US" sz="3500" b="1">
                <a:solidFill>
                  <a:srgbClr val="A7D86E"/>
                </a:solidFill>
                <a:latin typeface="Arial"/>
                <a:cs typeface="Arial"/>
              </a:rPr>
              <a:t>Doesn’t measures roll, pitch or attitude but a specific force.</a:t>
            </a:r>
            <a:endParaRPr lang="it-IT" sz="3500" b="1">
              <a:solidFill>
                <a:srgbClr val="A7D86E"/>
              </a:solidFill>
              <a:latin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81A110-9E14-4511-B95B-E91EA1071DA6}"/>
              </a:ext>
            </a:extLst>
          </p:cNvPr>
          <p:cNvSpPr/>
          <p:nvPr/>
        </p:nvSpPr>
        <p:spPr>
          <a:xfrm>
            <a:off x="952500" y="5429250"/>
            <a:ext cx="7334250" cy="2857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223C44-84AF-4DBF-BB1B-8BFFC181A072}"/>
              </a:ext>
            </a:extLst>
          </p:cNvPr>
          <p:cNvSpPr/>
          <p:nvPr/>
        </p:nvSpPr>
        <p:spPr>
          <a:xfrm>
            <a:off x="952500" y="5429250"/>
            <a:ext cx="7334250" cy="11430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AC9DA2-7FA5-4680-9B31-CA2E08040EDC}"/>
              </a:ext>
            </a:extLst>
          </p:cNvPr>
          <p:cNvSpPr txBox="1"/>
          <p:nvPr/>
        </p:nvSpPr>
        <p:spPr>
          <a:xfrm>
            <a:off x="1238250" y="5734050"/>
            <a:ext cx="6762750" cy="4953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it-IT" sz="2800" b="1">
                <a:solidFill>
                  <a:srgbClr val="08283A"/>
                </a:solidFill>
                <a:latin typeface="Arial"/>
                <a:cs typeface="Arial"/>
              </a:rPr>
              <a:t>LOW DYNAMIC ACCELERATION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7EE1FC6-518F-47CE-952D-9DB1384641C2}"/>
                  </a:ext>
                </a:extLst>
              </p:cNvPr>
              <p:cNvSpPr txBox="1"/>
              <p:nvPr/>
            </p:nvSpPr>
            <p:spPr>
              <a:xfrm>
                <a:off x="1238250" y="6286500"/>
                <a:ext cx="6762750" cy="533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FF5A00"/>
                          </a:solidFill>
                          <a:latin typeface="Cambria Math"/>
                          <a:cs typeface="Arial"/>
                        </a:rPr>
                        <m:t>a</m:t>
                      </m:r>
                      <m:r>
                        <a:rPr lang="it-IT" sz="4000" b="1">
                          <a:solidFill>
                            <a:srgbClr val="FF5A00"/>
                          </a:solidFill>
                          <a:latin typeface="Cambria Math"/>
                          <a:cs typeface="Arial"/>
                        </a:rPr>
                        <m:t> ≈ 0</m:t>
                      </m:r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7EE1FC6-518F-47CE-952D-9DB138464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50" y="6286500"/>
                <a:ext cx="6762750" cy="533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1319120-72D0-4E12-B97F-41F83753EE0B}"/>
              </a:ext>
            </a:extLst>
          </p:cNvPr>
          <p:cNvSpPr txBox="1"/>
          <p:nvPr/>
        </p:nvSpPr>
        <p:spPr>
          <a:xfrm>
            <a:off x="1356852" y="6980903"/>
            <a:ext cx="6496050" cy="1028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ctr"/>
            <a:r>
              <a:rPr lang="en-US" sz="3500">
                <a:solidFill>
                  <a:srgbClr val="08283A"/>
                </a:solidFill>
                <a:latin typeface="Arial"/>
                <a:cs typeface="Arial"/>
              </a:rPr>
              <a:t>gravity direction becomes useful
→ tilt can be constrained</a:t>
            </a:r>
            <a:endParaRPr lang="it-IT" sz="3500">
              <a:solidFill>
                <a:srgbClr val="08283A"/>
              </a:solidFill>
              <a:latin typeface="Arial"/>
              <a:cs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0C7FE4-6A49-448E-9028-522A7307CB42}"/>
              </a:ext>
            </a:extLst>
          </p:cNvPr>
          <p:cNvSpPr/>
          <p:nvPr/>
        </p:nvSpPr>
        <p:spPr>
          <a:xfrm>
            <a:off x="10001250" y="5429250"/>
            <a:ext cx="7334250" cy="2857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89083D-8510-4FB6-9ED9-BB882128B83D}"/>
              </a:ext>
            </a:extLst>
          </p:cNvPr>
          <p:cNvSpPr/>
          <p:nvPr/>
        </p:nvSpPr>
        <p:spPr>
          <a:xfrm>
            <a:off x="10001250" y="5429250"/>
            <a:ext cx="7334250" cy="1143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DDADE2-64E8-4F53-A5F4-556F03354F0D}"/>
              </a:ext>
            </a:extLst>
          </p:cNvPr>
          <p:cNvSpPr txBox="1"/>
          <p:nvPr/>
        </p:nvSpPr>
        <p:spPr>
          <a:xfrm>
            <a:off x="10287000" y="5695950"/>
            <a:ext cx="676275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08283A"/>
                </a:solidFill>
                <a:latin typeface="Arial"/>
                <a:cs typeface="Arial"/>
              </a:rPr>
              <a:t>WHAT IF THE DRONE ACCELERATES FORWARD?</a:t>
            </a:r>
            <a:endParaRPr lang="it-IT" sz="2400" b="1">
              <a:solidFill>
                <a:srgbClr val="08283A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F514A2-FF0F-4290-B6DB-07A5F6A1D30D}"/>
                  </a:ext>
                </a:extLst>
              </p:cNvPr>
              <p:cNvSpPr txBox="1"/>
              <p:nvPr/>
            </p:nvSpPr>
            <p:spPr>
              <a:xfrm>
                <a:off x="10287000" y="6286500"/>
                <a:ext cx="6762750" cy="533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FF5A00"/>
                          </a:solidFill>
                          <a:latin typeface="Cambria Math"/>
                          <a:cs typeface="Arial"/>
                        </a:rPr>
                        <m:t>a</m:t>
                      </m:r>
                      <m:r>
                        <a:rPr lang="it-IT" sz="4000" b="1">
                          <a:solidFill>
                            <a:srgbClr val="FF5A00"/>
                          </a:solidFill>
                          <a:latin typeface="Cambria Math"/>
                          <a:cs typeface="Arial"/>
                        </a:rPr>
                        <m:t> ≠ 0</m:t>
                      </m:r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F514A2-FF0F-4290-B6DB-07A5F6A1D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6286500"/>
                <a:ext cx="6762750" cy="53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17869964-E3EE-4BD7-AA38-FE840589D545}"/>
              </a:ext>
            </a:extLst>
          </p:cNvPr>
          <p:cNvSpPr txBox="1"/>
          <p:nvPr/>
        </p:nvSpPr>
        <p:spPr>
          <a:xfrm>
            <a:off x="10420350" y="7029450"/>
            <a:ext cx="6496050" cy="1028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800">
                <a:solidFill>
                  <a:srgbClr val="08283A"/>
                </a:solidFill>
                <a:latin typeface="Arial"/>
                <a:cs typeface="Arial"/>
              </a:rPr>
              <a:t>specific force is no longer ‘just gravity’
→ the model separates motion from gravity</a:t>
            </a:r>
            <a:endParaRPr lang="it-IT" sz="2800">
              <a:solidFill>
                <a:srgbClr val="08283A"/>
              </a:solidFill>
              <a:latin typeface="Arial"/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B4AA0C-9868-433C-95DD-ED2C79084ECA}"/>
              </a:ext>
            </a:extLst>
          </p:cNvPr>
          <p:cNvSpPr txBox="1"/>
          <p:nvPr/>
        </p:nvSpPr>
        <p:spPr>
          <a:xfrm>
            <a:off x="1333500" y="8610600"/>
            <a:ext cx="15621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77500" lnSpcReduction="20000"/>
          </a:bodyPr>
          <a:lstStyle/>
          <a:p>
            <a:pPr algn="ctr"/>
            <a:r>
              <a:rPr lang="en-US" sz="3500" b="1">
                <a:solidFill>
                  <a:srgbClr val="FFFFFF"/>
                </a:solidFill>
                <a:latin typeface="Arial"/>
                <a:cs typeface="Arial"/>
              </a:rPr>
              <a:t>Sensor fusion needs a model because the same measurement can have different causes.</a:t>
            </a:r>
            <a:endParaRPr lang="it-IT" sz="35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A554B7-347F-411C-AF5B-A125FFCF9D17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>
                <a:solidFill>
                  <a:srgbClr val="B8C6CC"/>
                </a:solidFill>
                <a:latin typeface="Arial"/>
                <a:cs typeface="Arial"/>
              </a:rPr>
              <a:t>Specific-force convention: standard strapdown inertial navigation · Groves; Markley &amp; Crassidis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71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8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ECFFFFC-086E-4596-9555-76B96E11ECA1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346D4F-60B2-4772-8544-1CE0A40AC6EE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CE8BD7-7D0B-4273-A067-DD4203DA8A37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Magnetometer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0A419C9-05EA-48AC-BB4C-94198AAD4AAB}"/>
                  </a:ext>
                </a:extLst>
              </p:cNvPr>
              <p:cNvSpPr txBox="1"/>
              <p:nvPr/>
            </p:nvSpPr>
            <p:spPr>
              <a:xfrm>
                <a:off x="3619500" y="3371850"/>
                <a:ext cx="11049000" cy="914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4400" b="1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it-IT" sz="4400" b="1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ᴮ=</m:t>
                      </m:r>
                      <m:r>
                        <a:rPr lang="it-IT" sz="44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it-IT" sz="4400" b="1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4400" b="1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ᵀ</m:t>
                          </m:r>
                        </m:e>
                        <m:sub>
                          <m:r>
                            <a:rPr lang="it-IT" sz="44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44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it-IT" sz="44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it-IT" sz="44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it-IT" sz="4400" b="1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ᴺ+</m:t>
                      </m:r>
                      <m:r>
                        <a:rPr lang="it-IT" sz="44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it-IT" sz="4400" b="1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44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0A419C9-05EA-48AC-BB4C-94198AAD4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0" y="3371850"/>
                <a:ext cx="11049000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B3157930-1263-42D8-9864-F3D6D2C2582C}"/>
              </a:ext>
            </a:extLst>
          </p:cNvPr>
          <p:cNvSpPr txBox="1"/>
          <p:nvPr/>
        </p:nvSpPr>
        <p:spPr>
          <a:xfrm>
            <a:off x="2476500" y="4376737"/>
            <a:ext cx="13335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en-US" sz="3500" b="1">
                <a:solidFill>
                  <a:srgbClr val="A7D86E"/>
                </a:solidFill>
                <a:latin typeface="Arial"/>
                <a:cs typeface="Arial"/>
              </a:rPr>
              <a:t>It measures the magnetic-field vector (not the yaw!).</a:t>
            </a:r>
            <a:endParaRPr lang="it-IT" sz="3500" b="1">
              <a:solidFill>
                <a:srgbClr val="A7D86E"/>
              </a:solidFill>
              <a:latin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603C0D-1371-4482-9241-3B15AEBC84CE}"/>
              </a:ext>
            </a:extLst>
          </p:cNvPr>
          <p:cNvSpPr/>
          <p:nvPr/>
        </p:nvSpPr>
        <p:spPr>
          <a:xfrm>
            <a:off x="1143000" y="5619750"/>
            <a:ext cx="7048500" cy="257175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84674A-4C43-4F6F-84DC-5D0E4E13207F}"/>
              </a:ext>
            </a:extLst>
          </p:cNvPr>
          <p:cNvSpPr/>
          <p:nvPr/>
        </p:nvSpPr>
        <p:spPr>
          <a:xfrm>
            <a:off x="1143000" y="5619750"/>
            <a:ext cx="7048500" cy="11430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E087D9-CA0C-408F-BD1E-AE3FD6A13164}"/>
              </a:ext>
            </a:extLst>
          </p:cNvPr>
          <p:cNvSpPr txBox="1"/>
          <p:nvPr/>
        </p:nvSpPr>
        <p:spPr>
          <a:xfrm>
            <a:off x="1428750" y="5943600"/>
            <a:ext cx="6477000" cy="5143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REFERENCE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F14C60-4B98-4D2C-B629-94CD1AF7F240}"/>
              </a:ext>
            </a:extLst>
          </p:cNvPr>
          <p:cNvSpPr txBox="1"/>
          <p:nvPr/>
        </p:nvSpPr>
        <p:spPr>
          <a:xfrm>
            <a:off x="1524000" y="6667500"/>
            <a:ext cx="6286500" cy="952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20000"/>
          </a:bodyPr>
          <a:lstStyle/>
          <a:p>
            <a:pPr algn="l"/>
            <a:r>
              <a:rPr lang="en-US" sz="3500">
                <a:solidFill>
                  <a:srgbClr val="08283A"/>
                </a:solidFill>
                <a:latin typeface="Arial"/>
                <a:cs typeface="Arial"/>
              </a:rPr>
              <a:t>field direction may constrain heading</a:t>
            </a:r>
            <a:endParaRPr lang="it-IT" sz="3500">
              <a:solidFill>
                <a:srgbClr val="08283A"/>
              </a:solidFill>
              <a:latin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F66FA2-E21D-4179-8913-929D9F3B4217}"/>
              </a:ext>
            </a:extLst>
          </p:cNvPr>
          <p:cNvSpPr txBox="1"/>
          <p:nvPr/>
        </p:nvSpPr>
        <p:spPr>
          <a:xfrm>
            <a:off x="10382250" y="5943600"/>
            <a:ext cx="6477000" cy="5143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endParaRPr lang="it-IT" sz="2400" b="1">
              <a:solidFill>
                <a:srgbClr val="08283A"/>
              </a:solidFill>
              <a:latin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711630-9AC4-4814-A5D9-00D0892E1792}"/>
              </a:ext>
            </a:extLst>
          </p:cNvPr>
          <p:cNvSpPr txBox="1"/>
          <p:nvPr/>
        </p:nvSpPr>
        <p:spPr>
          <a:xfrm>
            <a:off x="10477500" y="6610350"/>
            <a:ext cx="6286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endParaRPr lang="it-IT" sz="3500">
              <a:solidFill>
                <a:srgbClr val="08283A"/>
              </a:solidFill>
              <a:latin typeface="Arial"/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B4F43A-7F99-4624-A4CA-EE2A7DE10536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800">
                <a:solidFill>
                  <a:srgbClr val="B8C6CC"/>
                </a:solidFill>
                <a:latin typeface="Arial"/>
                <a:cs typeface="Arial"/>
              </a:rPr>
              <a:t>Vector observation model for attitude determination · Shuster; Markley &amp; Crassidis</a:t>
            </a:r>
          </a:p>
        </p:txBody>
      </p:sp>
      <p:pic>
        <p:nvPicPr>
          <p:cNvPr id="2" name="Picture 1" descr="New insight into the Earth's deep interior | ETH Zurich">
            <a:extLst>
              <a:ext uri="{FF2B5EF4-FFF2-40B4-BE49-F238E27FC236}">
                <a16:creationId xmlns:a16="http://schemas.microsoft.com/office/drawing/2014/main" id="{95AEA072-73C6-1479-A246-11F83F2DE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7186613"/>
            <a:ext cx="392430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1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12F7F-DFF2-EBD5-55EC-9A5CB61A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2">
            <a:extLst>
              <a:ext uri="{FF2B5EF4-FFF2-40B4-BE49-F238E27FC236}">
                <a16:creationId xmlns:a16="http://schemas.microsoft.com/office/drawing/2014/main" id="{61336DBB-39AA-644A-EAC9-4BAD159F23B4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BFBE8685-AFF3-ED86-FF1A-599FE9DF1F8E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0EE4429-600E-FEF3-52EB-193940623191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F5B72A-A298-8EE1-2853-CD3D24E57C0C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B70113-3ED6-9407-1EB1-FB60A949C295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Magnetometer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8B78A7-7D71-2D99-10C4-DDB47BD168E3}"/>
                  </a:ext>
                </a:extLst>
              </p:cNvPr>
              <p:cNvSpPr txBox="1"/>
              <p:nvPr/>
            </p:nvSpPr>
            <p:spPr>
              <a:xfrm>
                <a:off x="3619500" y="3371850"/>
                <a:ext cx="11049000" cy="914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4400" b="1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it-IT" sz="4400" b="1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ᴮ=</m:t>
                      </m:r>
                      <m:r>
                        <a:rPr lang="it-IT" sz="44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it-IT" sz="4400" b="1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4400" b="1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ᵀ</m:t>
                          </m:r>
                        </m:e>
                        <m:sub>
                          <m:r>
                            <a:rPr lang="it-IT" sz="4400" b="1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4400" b="1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  <m:r>
                            <a:rPr lang="it-IT" sz="4400" b="1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it-IT" sz="44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it-IT" sz="4400" b="1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ᴺ+</m:t>
                      </m:r>
                      <m:r>
                        <a:rPr lang="it-IT" sz="44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it-IT" sz="4400" b="1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4400" b="1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8B78A7-7D71-2D99-10C4-DDB47BD16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0" y="3371850"/>
                <a:ext cx="11049000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58C452E-8B70-B686-1CB1-9C820CE0E0D5}"/>
              </a:ext>
            </a:extLst>
          </p:cNvPr>
          <p:cNvSpPr txBox="1"/>
          <p:nvPr/>
        </p:nvSpPr>
        <p:spPr>
          <a:xfrm>
            <a:off x="2476500" y="4389723"/>
            <a:ext cx="13335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en-US" sz="3500" b="1">
                <a:solidFill>
                  <a:srgbClr val="A7D86E"/>
                </a:solidFill>
                <a:latin typeface="Arial"/>
                <a:cs typeface="Arial"/>
              </a:rPr>
              <a:t>It measures the magnetic-field vector (not the yaw!).</a:t>
            </a:r>
            <a:endParaRPr lang="it-IT" sz="3500" b="1">
              <a:solidFill>
                <a:srgbClr val="A7D86E"/>
              </a:solidFill>
              <a:latin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0DAAF-E2FC-4D5D-B132-07D3459B3D81}"/>
              </a:ext>
            </a:extLst>
          </p:cNvPr>
          <p:cNvSpPr/>
          <p:nvPr/>
        </p:nvSpPr>
        <p:spPr>
          <a:xfrm>
            <a:off x="1143000" y="5619750"/>
            <a:ext cx="7048500" cy="257175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83D57A-9A66-1E0B-6986-7CF3E7516C5D}"/>
              </a:ext>
            </a:extLst>
          </p:cNvPr>
          <p:cNvSpPr/>
          <p:nvPr/>
        </p:nvSpPr>
        <p:spPr>
          <a:xfrm>
            <a:off x="1143000" y="5619750"/>
            <a:ext cx="7048500" cy="11430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E62DA2-3003-D2DF-6844-246F1FF1806A}"/>
              </a:ext>
            </a:extLst>
          </p:cNvPr>
          <p:cNvSpPr txBox="1"/>
          <p:nvPr/>
        </p:nvSpPr>
        <p:spPr>
          <a:xfrm>
            <a:off x="1428750" y="5943600"/>
            <a:ext cx="6477000" cy="5143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REFERENCE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9A0AE9-2218-D34E-C87F-8C6F96A02E95}"/>
              </a:ext>
            </a:extLst>
          </p:cNvPr>
          <p:cNvSpPr txBox="1"/>
          <p:nvPr/>
        </p:nvSpPr>
        <p:spPr>
          <a:xfrm>
            <a:off x="1524000" y="6667500"/>
            <a:ext cx="6286500" cy="952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20000"/>
          </a:bodyPr>
          <a:lstStyle/>
          <a:p>
            <a:pPr algn="l"/>
            <a:r>
              <a:rPr lang="en-US" sz="3500">
                <a:solidFill>
                  <a:srgbClr val="08283A"/>
                </a:solidFill>
                <a:latin typeface="Arial"/>
                <a:cs typeface="Arial"/>
              </a:rPr>
              <a:t>field direction may constrain heading</a:t>
            </a:r>
            <a:endParaRPr lang="it-IT" sz="3500">
              <a:solidFill>
                <a:srgbClr val="08283A"/>
              </a:solidFill>
              <a:latin typeface="Arial"/>
              <a:cs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C6BA0F-75DA-AC01-91CF-7AC25413626E}"/>
              </a:ext>
            </a:extLst>
          </p:cNvPr>
          <p:cNvSpPr/>
          <p:nvPr/>
        </p:nvSpPr>
        <p:spPr>
          <a:xfrm>
            <a:off x="10096500" y="5619750"/>
            <a:ext cx="7048500" cy="257175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E3DA22-1F31-5911-FA3A-97A8265C30BA}"/>
              </a:ext>
            </a:extLst>
          </p:cNvPr>
          <p:cNvSpPr/>
          <p:nvPr/>
        </p:nvSpPr>
        <p:spPr>
          <a:xfrm>
            <a:off x="10096500" y="5619750"/>
            <a:ext cx="7048500" cy="1143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EFE92F-BCCE-9B86-4E38-B96751904E9F}"/>
              </a:ext>
            </a:extLst>
          </p:cNvPr>
          <p:cNvSpPr txBox="1"/>
          <p:nvPr/>
        </p:nvSpPr>
        <p:spPr>
          <a:xfrm>
            <a:off x="10382250" y="5943600"/>
            <a:ext cx="6477000" cy="51435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CORRUPTION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438FAD-E305-E732-DA56-C832F885CCA4}"/>
              </a:ext>
            </a:extLst>
          </p:cNvPr>
          <p:cNvSpPr txBox="1"/>
          <p:nvPr/>
        </p:nvSpPr>
        <p:spPr>
          <a:xfrm>
            <a:off x="10477500" y="6610350"/>
            <a:ext cx="6286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3500">
                <a:solidFill>
                  <a:srgbClr val="08283A"/>
                </a:solidFill>
                <a:latin typeface="Arial"/>
                <a:cs typeface="Arial"/>
              </a:rPr>
              <a:t>motors · current · nearby ferromagnetic material</a:t>
            </a:r>
            <a:endParaRPr lang="it-IT" sz="3500">
              <a:solidFill>
                <a:srgbClr val="08283A"/>
              </a:solidFill>
              <a:latin typeface="Arial"/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CAB4E4-73A5-B5DF-23D7-4250EE79CC13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800">
                <a:solidFill>
                  <a:srgbClr val="B8C6CC"/>
                </a:solidFill>
                <a:latin typeface="Arial"/>
                <a:cs typeface="Arial"/>
              </a:rPr>
              <a:t>Vector observation model for attitude determination · Shuster; Markley &amp; Crassidis</a:t>
            </a:r>
          </a:p>
        </p:txBody>
      </p:sp>
      <p:pic>
        <p:nvPicPr>
          <p:cNvPr id="2" name="Picture 1" descr="New insight into the Earth's deep interior | ETH Zurich">
            <a:extLst>
              <a:ext uri="{FF2B5EF4-FFF2-40B4-BE49-F238E27FC236}">
                <a16:creationId xmlns:a16="http://schemas.microsoft.com/office/drawing/2014/main" id="{5C7E4685-C378-D7DE-B587-7641D397A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7206502"/>
            <a:ext cx="3924300" cy="2943225"/>
          </a:xfrm>
          <a:prstGeom prst="rect">
            <a:avLst/>
          </a:prstGeom>
        </p:spPr>
      </p:pic>
      <p:pic>
        <p:nvPicPr>
          <p:cNvPr id="3" name="Picture 2" descr="Magnetic field round a coil of wire, illustration - Stock Image - C050/8187 - Science Photo Library">
            <a:extLst>
              <a:ext uri="{FF2B5EF4-FFF2-40B4-BE49-F238E27FC236}">
                <a16:creationId xmlns:a16="http://schemas.microsoft.com/office/drawing/2014/main" id="{58064B7D-03A4-5B48-9142-DE2E99E14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0621" y="7335931"/>
            <a:ext cx="2684369" cy="2684369"/>
          </a:xfrm>
          <a:prstGeom prst="rect">
            <a:avLst/>
          </a:prstGeom>
        </p:spPr>
      </p:pic>
      <p:pic>
        <p:nvPicPr>
          <p:cNvPr id="4" name="Picture 3" descr="DC Electric Motors">
            <a:extLst>
              <a:ext uri="{FF2B5EF4-FFF2-40B4-BE49-F238E27FC236}">
                <a16:creationId xmlns:a16="http://schemas.microsoft.com/office/drawing/2014/main" id="{8CED661C-6B02-CF70-5F95-456530F0C4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0" y="7713137"/>
            <a:ext cx="3143250" cy="249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59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9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8A50708-117D-4790-93EC-57C72B316FCE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34CF19-76E5-4506-A518-A79002969AA3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97AC74-6E7F-469B-957B-157A6605B614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5700" b="1">
                <a:solidFill>
                  <a:srgbClr val="FF5A00"/>
                </a:solidFill>
                <a:latin typeface="Arial"/>
              </a:rPr>
              <a:t>9-DoF IMU or 6-DoF + remote mag?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261D70-EC38-4D16-8A5C-BFC0C0BAC999}"/>
              </a:ext>
            </a:extLst>
          </p:cNvPr>
          <p:cNvSpPr txBox="1"/>
          <p:nvPr/>
        </p:nvSpPr>
        <p:spPr>
          <a:xfrm>
            <a:off x="4000500" y="3371850"/>
            <a:ext cx="10287000" cy="914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900" b="1">
                <a:solidFill>
                  <a:srgbClr val="FFFFFF"/>
                </a:solidFill>
                <a:latin typeface="Cambria Math"/>
              </a:rPr>
              <a:t>Both: 3 gyro + 3 accel + 3 magnetic axes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F50A44-C5F4-4920-A2C8-017B7B9392B2}"/>
              </a:ext>
            </a:extLst>
          </p:cNvPr>
          <p:cNvSpPr txBox="1"/>
          <p:nvPr/>
        </p:nvSpPr>
        <p:spPr>
          <a:xfrm>
            <a:off x="2286000" y="4267200"/>
            <a:ext cx="13716000" cy="647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3100" b="1">
                <a:solidFill>
                  <a:srgbClr val="A7D86E"/>
                </a:solidFill>
                <a:latin typeface="Arial"/>
              </a:rPr>
              <a:t>Same axes; different magnetic exposure and integration effort.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81A110-9E14-4511-B95B-E91EA1071DA6}"/>
              </a:ext>
            </a:extLst>
          </p:cNvPr>
          <p:cNvSpPr/>
          <p:nvPr/>
        </p:nvSpPr>
        <p:spPr>
          <a:xfrm>
            <a:off x="952500" y="5429250"/>
            <a:ext cx="7334250" cy="2857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223C44-84AF-4DBF-BB1B-8BFFC181A072}"/>
              </a:ext>
            </a:extLst>
          </p:cNvPr>
          <p:cNvSpPr/>
          <p:nvPr/>
        </p:nvSpPr>
        <p:spPr>
          <a:xfrm>
            <a:off x="952500" y="5429250"/>
            <a:ext cx="7334250" cy="114300"/>
          </a:xfrm>
          <a:prstGeom prst="rect">
            <a:avLst/>
          </a:prstGeom>
          <a:solidFill>
            <a:srgbClr val="00A7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AC9DA2-7FA5-4680-9B31-CA2E08040EDC}"/>
              </a:ext>
            </a:extLst>
          </p:cNvPr>
          <p:cNvSpPr txBox="1"/>
          <p:nvPr/>
        </p:nvSpPr>
        <p:spPr>
          <a:xfrm>
            <a:off x="1238250" y="5734050"/>
            <a:ext cx="6762750" cy="4953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400" b="1">
                <a:solidFill>
                  <a:srgbClr val="08283A"/>
                </a:solidFill>
                <a:latin typeface="Arial"/>
              </a:rPr>
              <a:t>9-DOF INTEGRATED MODULE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EE1FC6-518F-47CE-952D-9DB1384641C2}"/>
              </a:ext>
            </a:extLst>
          </p:cNvPr>
          <p:cNvSpPr txBox="1"/>
          <p:nvPr/>
        </p:nvSpPr>
        <p:spPr>
          <a:xfrm>
            <a:off x="1238250" y="6286500"/>
            <a:ext cx="676275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500" b="1">
                <a:solidFill>
                  <a:srgbClr val="00B050"/>
                </a:solidFill>
                <a:latin typeface="Arial"/>
              </a:rPr>
              <a:t>PRO:  Compact; fewer cables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319120-72D0-4E12-B97F-41F83753EE0B}"/>
              </a:ext>
            </a:extLst>
          </p:cNvPr>
          <p:cNvSpPr txBox="1"/>
          <p:nvPr/>
        </p:nvSpPr>
        <p:spPr>
          <a:xfrm>
            <a:off x="1238250" y="6848168"/>
            <a:ext cx="6496050" cy="1028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0000"/>
                </a:solidFill>
                <a:latin typeface="Arial"/>
              </a:rPr>
              <a:t>CON:  Fixed mag location can limit isolation from motors and power wiring.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0C7FE4-6A49-448E-9028-522A7307CB42}"/>
              </a:ext>
            </a:extLst>
          </p:cNvPr>
          <p:cNvSpPr/>
          <p:nvPr/>
        </p:nvSpPr>
        <p:spPr>
          <a:xfrm>
            <a:off x="10001250" y="5429250"/>
            <a:ext cx="7334250" cy="2857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89083D-8510-4FB6-9ED9-BB882128B83D}"/>
              </a:ext>
            </a:extLst>
          </p:cNvPr>
          <p:cNvSpPr/>
          <p:nvPr/>
        </p:nvSpPr>
        <p:spPr>
          <a:xfrm>
            <a:off x="10001250" y="5429250"/>
            <a:ext cx="7334250" cy="1143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DDADE2-64E8-4F53-A5F4-556F03354F0D}"/>
              </a:ext>
            </a:extLst>
          </p:cNvPr>
          <p:cNvSpPr txBox="1"/>
          <p:nvPr/>
        </p:nvSpPr>
        <p:spPr>
          <a:xfrm>
            <a:off x="10287000" y="5695950"/>
            <a:ext cx="676275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400" b="1">
                <a:solidFill>
                  <a:srgbClr val="08283A"/>
                </a:solidFill>
                <a:latin typeface="Arial"/>
              </a:rPr>
              <a:t>6-DOF IMU + REMOTE MAG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F514A2-FF0F-4290-B6DB-07A5F6A1D30D}"/>
              </a:ext>
            </a:extLst>
          </p:cNvPr>
          <p:cNvSpPr txBox="1"/>
          <p:nvPr/>
        </p:nvSpPr>
        <p:spPr>
          <a:xfrm>
            <a:off x="10287000" y="6286500"/>
            <a:ext cx="676275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500" b="1">
                <a:solidFill>
                  <a:srgbClr val="00B050"/>
                </a:solidFill>
                <a:latin typeface="Arial"/>
              </a:rPr>
              <a:t>PRO:  Place mag away from current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869964-E3EE-4BD7-AA38-FE840589D545}"/>
              </a:ext>
            </a:extLst>
          </p:cNvPr>
          <p:cNvSpPr txBox="1"/>
          <p:nvPr/>
        </p:nvSpPr>
        <p:spPr>
          <a:xfrm>
            <a:off x="10306050" y="6924983"/>
            <a:ext cx="6496050" cy="1028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0000"/>
                </a:solidFill>
                <a:latin typeface="Arial"/>
              </a:rPr>
              <a:t>CON:  More wiring; align frames and manage timing/calibration.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A554B7-347F-411C-AF5B-A125FFCF9D17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B8C6CC"/>
                </a:solidFill>
                <a:latin typeface="Arial"/>
              </a:rPr>
              <a:t>Sources: Bosch Sensortec, BNO055; PX4, Mounting a GPS/Compass.</a:t>
            </a:r>
          </a:p>
        </p:txBody>
      </p:sp>
      <p:pic>
        <p:nvPicPr>
          <p:cNvPr id="2" name="Picture 1" descr="STMicroelectronics Packs Some AI Smarts in Its Latest 320g-Range LSM6DSV320X IMU Sensor - Hackster.io">
            <a:extLst>
              <a:ext uri="{FF2B5EF4-FFF2-40B4-BE49-F238E27FC236}">
                <a16:creationId xmlns:a16="http://schemas.microsoft.com/office/drawing/2014/main" id="{86BF7D0D-E9C7-BDD0-87FB-4BFAD96FA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1035" y="2876550"/>
            <a:ext cx="2847975" cy="1600200"/>
          </a:xfrm>
          <a:prstGeom prst="rect">
            <a:avLst/>
          </a:prstGeom>
        </p:spPr>
      </p:pic>
      <p:pic>
        <p:nvPicPr>
          <p:cNvPr id="3" name="Picture 2" descr="HG1700 Inertial Measurement Unit | Honeywell Aerospace">
            <a:extLst>
              <a:ext uri="{FF2B5EF4-FFF2-40B4-BE49-F238E27FC236}">
                <a16:creationId xmlns:a16="http://schemas.microsoft.com/office/drawing/2014/main" id="{A04BB2B6-9055-5E95-74C7-2D79FF2A8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2771" y="1104900"/>
            <a:ext cx="377190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36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A2A94E-6EF6-9B00-683F-83DE914C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2">
            <a:extLst>
              <a:ext uri="{FF2B5EF4-FFF2-40B4-BE49-F238E27FC236}">
                <a16:creationId xmlns:a16="http://schemas.microsoft.com/office/drawing/2014/main" id="{D72017B0-EBBC-667F-AD4E-DA1F47DC9BE9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9" name="Freeform 3">
              <a:extLst>
                <a:ext uri="{FF2B5EF4-FFF2-40B4-BE49-F238E27FC236}">
                  <a16:creationId xmlns:a16="http://schemas.microsoft.com/office/drawing/2014/main" id="{47CEF701-9B8B-C6F7-F4DA-86C2A7C98F9E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2546EA4-CEF1-38CB-D03F-5D2A57ABF8BC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27A9EA-E2D3-36F0-60A2-876AD81AB933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4DE08F-18E2-81C7-EAF5-4486ADA80D5D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5500" b="1">
                <a:solidFill>
                  <a:srgbClr val="FF5A00"/>
                </a:solidFill>
                <a:latin typeface="Arial"/>
                <a:cs typeface="Arial"/>
              </a:rPr>
              <a:t>Allan variance reveals sensor noise by time scale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E4CD84-549D-4085-4B30-1E15EAF978DC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B8C6CC"/>
                </a:solidFill>
                <a:latin typeface="Arial"/>
              </a:rPr>
              <a:t>Sources: NIST, Time and Frequency from A to Z; MathWorks, Inertial Sensor Noise Analysis Using Allan Variance.</a:t>
            </a:r>
          </a:p>
        </p:txBody>
      </p:sp>
      <p:sp>
        <p:nvSpPr>
          <p:cNvPr id="3" name="Allan definition panel">
            <a:extLst>
              <a:ext uri="{FF2B5EF4-FFF2-40B4-BE49-F238E27FC236}">
                <a16:creationId xmlns:a16="http://schemas.microsoft.com/office/drawing/2014/main" id="{52F18AA0-2398-47F2-A953-9F2268786C5F}"/>
              </a:ext>
            </a:extLst>
          </p:cNvPr>
          <p:cNvSpPr/>
          <p:nvPr/>
        </p:nvSpPr>
        <p:spPr>
          <a:xfrm>
            <a:off x="762000" y="3695700"/>
            <a:ext cx="7797800" cy="5127968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" name="Allan definition accent">
            <a:extLst>
              <a:ext uri="{FF2B5EF4-FFF2-40B4-BE49-F238E27FC236}">
                <a16:creationId xmlns:a16="http://schemas.microsoft.com/office/drawing/2014/main" id="{708D145B-D451-4C5C-B264-23DF7C920004}"/>
              </a:ext>
            </a:extLst>
          </p:cNvPr>
          <p:cNvSpPr/>
          <p:nvPr/>
        </p:nvSpPr>
        <p:spPr>
          <a:xfrm>
            <a:off x="762000" y="3695700"/>
            <a:ext cx="7797800" cy="101600"/>
          </a:xfrm>
          <a:prstGeom prst="rect">
            <a:avLst/>
          </a:prstGeom>
          <a:solidFill>
            <a:srgbClr val="00B8C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" name="Allan definition heading">
            <a:extLst>
              <a:ext uri="{FF2B5EF4-FFF2-40B4-BE49-F238E27FC236}">
                <a16:creationId xmlns:a16="http://schemas.microsoft.com/office/drawing/2014/main" id="{F10806EC-55F9-4E92-BC95-2F3320D8A3BC}"/>
              </a:ext>
            </a:extLst>
          </p:cNvPr>
          <p:cNvSpPr txBox="1"/>
          <p:nvPr/>
        </p:nvSpPr>
        <p:spPr>
          <a:xfrm>
            <a:off x="1066800" y="3911600"/>
            <a:ext cx="7239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000" b="1">
                <a:solidFill>
                  <a:srgbClr val="0B2A44"/>
                </a:solidFill>
                <a:latin typeface="Arial"/>
                <a:cs typeface="Arial"/>
              </a:rPr>
              <a:t>COMPARE ADJACENT TIME WINDOWS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Allan stationary instruction">
                <a:extLst>
                  <a:ext uri="{FF2B5EF4-FFF2-40B4-BE49-F238E27FC236}">
                    <a16:creationId xmlns:a16="http://schemas.microsoft.com/office/drawing/2014/main" id="{B85BFEF5-BEF9-477C-99FC-B31DB7309D1A}"/>
                  </a:ext>
                </a:extLst>
              </p:cNvPr>
              <p:cNvSpPr txBox="1"/>
              <p:nvPr/>
            </p:nvSpPr>
            <p:spPr>
              <a:xfrm>
                <a:off x="1066800" y="4413251"/>
                <a:ext cx="7239000" cy="172685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r>
                  <a:rPr lang="en-US" sz="2300">
                    <a:solidFill>
                      <a:srgbClr val="0B2A44"/>
                    </a:solidFill>
                    <a:latin typeface="Arial"/>
                    <a:cs typeface="Arial"/>
                  </a:rPr>
                  <a:t>The Allan variance (AVAR), also known as two-sample variance, is a measure of frequency stability in clocks, oscillators and amplifiers.</a:t>
                </a:r>
                <a:br>
                  <a:rPr lang="en-US" sz="2300">
                    <a:solidFill>
                      <a:srgbClr val="0B2A44"/>
                    </a:solidFill>
                    <a:latin typeface="Arial"/>
                    <a:cs typeface="Arial"/>
                  </a:rPr>
                </a:br>
                <a:r>
                  <a:rPr lang="en-US" sz="2300">
                    <a:solidFill>
                      <a:srgbClr val="0B2A44"/>
                    </a:solidFill>
                    <a:latin typeface="Arial"/>
                    <a:cs typeface="Arial"/>
                  </a:rPr>
                  <a:t>Record a stationary gyro or accelerometer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𝑦</m:t>
                        </m:r>
                      </m:e>
                      <m:sub>
                        <m:r>
                          <a:rPr lang="en-US" sz="2300" b="0" i="1" smtClean="0">
                            <a:solidFill>
                              <a:srgbClr val="0B2A44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300">
                    <a:solidFill>
                      <a:srgbClr val="0B2A44"/>
                    </a:solidFill>
                    <a:latin typeface="Arial"/>
                    <a:cs typeface="Arial"/>
                  </a:rPr>
                  <a:t>):</a:t>
                </a:r>
                <a:endParaRPr lang="it-IT" sz="2300">
                  <a:solidFill>
                    <a:srgbClr val="0B2A44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Allan stationary instruction">
                <a:extLst>
                  <a:ext uri="{FF2B5EF4-FFF2-40B4-BE49-F238E27FC236}">
                    <a16:creationId xmlns:a16="http://schemas.microsoft.com/office/drawing/2014/main" id="{B85BFEF5-BEF9-477C-99FC-B31DB7309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413251"/>
                <a:ext cx="7239000" cy="1726856"/>
              </a:xfrm>
              <a:prstGeom prst="rect">
                <a:avLst/>
              </a:prstGeom>
              <a:blipFill>
                <a:blip r:embed="rId3"/>
                <a:stretch>
                  <a:fillRect l="-1178" r="-1599" b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Allan variance formula">
                <a:extLst>
                  <a:ext uri="{FF2B5EF4-FFF2-40B4-BE49-F238E27FC236}">
                    <a16:creationId xmlns:a16="http://schemas.microsoft.com/office/drawing/2014/main" id="{1F35CABF-0040-40BF-9588-C315AEAE1709}"/>
                  </a:ext>
                </a:extLst>
              </p:cNvPr>
              <p:cNvSpPr txBox="1"/>
              <p:nvPr/>
            </p:nvSpPr>
            <p:spPr>
              <a:xfrm>
                <a:off x="800099" y="6419850"/>
                <a:ext cx="7175500" cy="762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SupPr>
                        <m:e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𝜎</m:t>
                          </m:r>
                        </m:e>
                        <m:sub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𝑦</m:t>
                          </m:r>
                        </m:sub>
                        <m:sup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𝑀</m:t>
                          </m:r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,</m:t>
                          </m:r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𝑇</m:t>
                          </m:r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,</m:t>
                          </m:r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it-IT" sz="25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2(</m:t>
                          </m:r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𝑀</m:t>
                          </m:r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−1)</m:t>
                          </m:r>
                        </m:den>
                      </m:f>
                      <m:r>
                        <a:rPr lang="it-IT" sz="25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𝑖</m:t>
                          </m:r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𝑀</m:t>
                          </m:r>
                          <m:r>
                            <a:rPr lang="it-IT" sz="25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it-IT" sz="25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it-IT" sz="2500" b="0" i="1" smtClean="0">
                                      <a:solidFill>
                                        <a:srgbClr val="0B2A44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2500" b="0" i="1" smtClean="0">
                                          <a:solidFill>
                                            <a:srgbClr val="0B2A44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500" b="0" i="1" smtClean="0">
                                          <a:solidFill>
                                            <a:srgbClr val="0B2A44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it-IT" sz="2500" b="0" i="1" smtClean="0">
                                          <a:solidFill>
                                            <a:srgbClr val="0B2A44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𝑖</m:t>
                                      </m:r>
                                      <m:r>
                                        <a:rPr lang="it-IT" sz="2500" b="0" i="1" smtClean="0">
                                          <a:solidFill>
                                            <a:srgbClr val="0B2A44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+1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it-IT" sz="2500" b="0" i="1" smtClean="0">
                                          <a:solidFill>
                                            <a:srgbClr val="0B2A44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500" b="0" i="1" smtClean="0">
                                          <a:solidFill>
                                            <a:srgbClr val="0B2A44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𝜏</m:t>
                                      </m:r>
                                    </m:e>
                                  </m:d>
                                  <m:r>
                                    <a:rPr lang="it-IT" sz="2500" b="0" i="1" smtClean="0">
                                      <a:solidFill>
                                        <a:srgbClr val="0B2A44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it-IT" sz="2500" b="0" i="1" smtClean="0">
                                          <a:solidFill>
                                            <a:srgbClr val="0B2A44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500" b="0" i="1" smtClean="0">
                                          <a:solidFill>
                                            <a:srgbClr val="0B2A44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it-IT" sz="2500" b="0" i="1" smtClean="0">
                                          <a:solidFill>
                                            <a:srgbClr val="0B2A44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it-IT" sz="2500" b="0" i="1" smtClean="0">
                                          <a:solidFill>
                                            <a:srgbClr val="0B2A44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500" b="0" i="1" smtClean="0">
                                          <a:solidFill>
                                            <a:srgbClr val="0B2A44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it-IT" sz="25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sz="2500">
                  <a:solidFill>
                    <a:srgbClr val="0B2A44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3" name="Allan variance formula">
                <a:extLst>
                  <a:ext uri="{FF2B5EF4-FFF2-40B4-BE49-F238E27FC236}">
                    <a16:creationId xmlns:a16="http://schemas.microsoft.com/office/drawing/2014/main" id="{1F35CABF-0040-40BF-9588-C315AEAE1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99" y="6419850"/>
                <a:ext cx="7175500" cy="762000"/>
              </a:xfrm>
              <a:prstGeom prst="rect">
                <a:avLst/>
              </a:prstGeom>
              <a:blipFill>
                <a:blip r:embed="rId4"/>
                <a:stretch>
                  <a:fillRect t="-15200" b="-20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Allan mathematical caption">
                <a:extLst>
                  <a:ext uri="{FF2B5EF4-FFF2-40B4-BE49-F238E27FC236}">
                    <a16:creationId xmlns:a16="http://schemas.microsoft.com/office/drawing/2014/main" id="{0F247F29-3CC5-4C55-B2EA-1FAC418633A9}"/>
                  </a:ext>
                </a:extLst>
              </p:cNvPr>
              <p:cNvSpPr txBox="1"/>
              <p:nvPr/>
            </p:nvSpPr>
            <p:spPr>
              <a:xfrm>
                <a:off x="1066800" y="7534275"/>
                <a:ext cx="7239000" cy="100965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it-IT" sz="2300" b="0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it-IT" sz="2300" b="0" i="1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M-sample </a:t>
                </a:r>
                <a:r>
                  <a:rPr lang="it-IT" sz="2300" b="0" i="1" err="1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variance</a:t>
                </a:r>
                <a:r>
                  <a:rPr lang="it-IT" sz="2300" b="0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300" b="0" i="0" err="1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it-IT" sz="2300" b="0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it-IT" sz="2300" b="0" i="0" err="1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measure</a:t>
                </a:r>
                <a:r>
                  <a:rPr lang="it-IT" sz="2300" b="0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of frequency </a:t>
                </a:r>
                <a:r>
                  <a:rPr lang="it-IT" sz="2300" b="0" i="0" err="1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stability</a:t>
                </a:r>
                <a:r>
                  <a:rPr lang="it-IT" sz="2300" b="0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300" b="0" i="0" err="1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using</a:t>
                </a:r>
                <a:r>
                  <a:rPr lang="it-IT" sz="2300" b="0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300" b="0" i="1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it-IT" sz="2300" b="0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samples, time </a:t>
                </a:r>
                <a:r>
                  <a:rPr lang="it-IT" sz="2300" b="0" i="1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it-IT" sz="2300" b="0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300" b="0" i="0" err="1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between</a:t>
                </a:r>
                <a:r>
                  <a:rPr lang="it-IT" sz="2300" b="0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it-IT" sz="2300" b="0" i="0" err="1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measurements</a:t>
                </a:r>
                <a:r>
                  <a:rPr lang="it-IT" sz="2300" b="0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it-IT" sz="2300" b="0" i="0" err="1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observation</a:t>
                </a:r>
                <a:r>
                  <a:rPr lang="it-IT" sz="2300" b="0" i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time </a:t>
                </a:r>
                <a14:m>
                  <m:oMath xmlns:m="http://schemas.openxmlformats.org/officeDocument/2006/math">
                    <m:r>
                      <a:rPr lang="it-IT" sz="23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it-IT" sz="23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sz="2300">
                  <a:solidFill>
                    <a:srgbClr val="0B2A4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Allan mathematical caption">
                <a:extLst>
                  <a:ext uri="{FF2B5EF4-FFF2-40B4-BE49-F238E27FC236}">
                    <a16:creationId xmlns:a16="http://schemas.microsoft.com/office/drawing/2014/main" id="{0F247F29-3CC5-4C55-B2EA-1FAC41863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7534275"/>
                <a:ext cx="7239000" cy="1009650"/>
              </a:xfrm>
              <a:prstGeom prst="rect">
                <a:avLst/>
              </a:prstGeom>
              <a:blipFill>
                <a:blip r:embed="rId5"/>
                <a:stretch>
                  <a:fillRect l="-1178" t="-10843" b="-19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Graphic 24" descr="{\displaystyle \sigma _{y}^{2}(M,T,\tau )={\frac {1}{2(M-1)}}\sum _{i=1}^{M-1}[y(\tau )_{i+1}-y(\tau )_{i}]^{2}}">
            <a:extLst>
              <a:ext uri="{FF2B5EF4-FFF2-40B4-BE49-F238E27FC236}">
                <a16:creationId xmlns:a16="http://schemas.microsoft.com/office/drawing/2014/main" id="{E3935D8D-6178-6DEF-FDDF-0AF7DB39E4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0025" y="4933950"/>
            <a:ext cx="2647950" cy="419100"/>
          </a:xfrm>
          <a:prstGeom prst="rect">
            <a:avLst/>
          </a:prstGeom>
        </p:spPr>
      </p:pic>
      <p:pic>
        <p:nvPicPr>
          <p:cNvPr id="26" name="Picture 25" descr="allan deviation line">
            <a:extLst>
              <a:ext uri="{FF2B5EF4-FFF2-40B4-BE49-F238E27FC236}">
                <a16:creationId xmlns:a16="http://schemas.microsoft.com/office/drawing/2014/main" id="{66E71093-FE90-AF80-6349-DA9EED2C50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801" y="3695700"/>
            <a:ext cx="8458200" cy="512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256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8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73B3CA3-B785-4203-A60A-5F248595996C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0ECC15-0383-426D-9A5B-B667A03CCD15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12523F-E8C7-4DF6-ADF4-343DAACE3E23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One state, many sources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13BA67-01D3-478C-A926-441C576A23D1}"/>
              </a:ext>
            </a:extLst>
          </p:cNvPr>
          <p:cNvSpPr/>
          <p:nvPr/>
        </p:nvSpPr>
        <p:spPr>
          <a:xfrm>
            <a:off x="857250" y="3810000"/>
            <a:ext cx="3714750" cy="10668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B0402A-592D-4DBA-AE12-6291A82181E9}"/>
              </a:ext>
            </a:extLst>
          </p:cNvPr>
          <p:cNvSpPr txBox="1"/>
          <p:nvPr/>
        </p:nvSpPr>
        <p:spPr>
          <a:xfrm>
            <a:off x="1047750" y="3924300"/>
            <a:ext cx="33337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ATTITUDE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5AE406-00E9-4C18-82E3-116B0CAF19C4}"/>
              </a:ext>
            </a:extLst>
          </p:cNvPr>
          <p:cNvSpPr txBox="1"/>
          <p:nvPr/>
        </p:nvSpPr>
        <p:spPr>
          <a:xfrm>
            <a:off x="4705350" y="3905250"/>
            <a:ext cx="7239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200" b="1">
                <a:solidFill>
                  <a:srgbClr val="FF5A00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721D61-1C88-4B9C-95AF-DA644CECFBF3}"/>
              </a:ext>
            </a:extLst>
          </p:cNvPr>
          <p:cNvSpPr/>
          <p:nvPr/>
        </p:nvSpPr>
        <p:spPr>
          <a:xfrm>
            <a:off x="5524500" y="38100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F5CA5D-83A8-433F-9FEB-984986FDEF5E}"/>
              </a:ext>
            </a:extLst>
          </p:cNvPr>
          <p:cNvSpPr txBox="1"/>
          <p:nvPr/>
        </p:nvSpPr>
        <p:spPr>
          <a:xfrm>
            <a:off x="5600700" y="39243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GYRO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458BC0-D46F-4B2D-B5E8-4380938C1129}"/>
              </a:ext>
            </a:extLst>
          </p:cNvPr>
          <p:cNvSpPr/>
          <p:nvPr/>
        </p:nvSpPr>
        <p:spPr>
          <a:xfrm>
            <a:off x="8515350" y="38100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5E69DD-8718-4C63-8DBB-1D5B58A57B91}"/>
              </a:ext>
            </a:extLst>
          </p:cNvPr>
          <p:cNvSpPr txBox="1"/>
          <p:nvPr/>
        </p:nvSpPr>
        <p:spPr>
          <a:xfrm>
            <a:off x="8591550" y="39243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GRAVITY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F7FFB4-A976-41A2-BA18-B140068DCE20}"/>
              </a:ext>
            </a:extLst>
          </p:cNvPr>
          <p:cNvSpPr/>
          <p:nvPr/>
        </p:nvSpPr>
        <p:spPr>
          <a:xfrm>
            <a:off x="11506200" y="38100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03AE42-15EB-43E3-ACB7-A8F478A9A090}"/>
              </a:ext>
            </a:extLst>
          </p:cNvPr>
          <p:cNvSpPr txBox="1"/>
          <p:nvPr/>
        </p:nvSpPr>
        <p:spPr>
          <a:xfrm>
            <a:off x="11582400" y="39243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MAGNETIC FIELD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DDD2FC-F79B-47E9-ADCC-208A626F2465}"/>
              </a:ext>
            </a:extLst>
          </p:cNvPr>
          <p:cNvSpPr/>
          <p:nvPr/>
        </p:nvSpPr>
        <p:spPr>
          <a:xfrm>
            <a:off x="14497050" y="38100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8EE510-C2E0-4EEC-B186-662FC17F9936}"/>
              </a:ext>
            </a:extLst>
          </p:cNvPr>
          <p:cNvSpPr txBox="1"/>
          <p:nvPr/>
        </p:nvSpPr>
        <p:spPr>
          <a:xfrm>
            <a:off x="14573250" y="39243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VISION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91AA38-2C0F-40B9-9CB5-4A4BEF15B3DF}"/>
              </a:ext>
            </a:extLst>
          </p:cNvPr>
          <p:cNvSpPr/>
          <p:nvPr/>
        </p:nvSpPr>
        <p:spPr>
          <a:xfrm>
            <a:off x="857250" y="5524500"/>
            <a:ext cx="3714750" cy="10668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8F5B9D-A9B6-4129-B7CA-9CE1F5313242}"/>
              </a:ext>
            </a:extLst>
          </p:cNvPr>
          <p:cNvSpPr txBox="1"/>
          <p:nvPr/>
        </p:nvSpPr>
        <p:spPr>
          <a:xfrm>
            <a:off x="1047750" y="5638800"/>
            <a:ext cx="33337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HEIGHT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A7771D-65E4-4B7B-94D2-513577F3AFAB}"/>
              </a:ext>
            </a:extLst>
          </p:cNvPr>
          <p:cNvSpPr txBox="1"/>
          <p:nvPr/>
        </p:nvSpPr>
        <p:spPr>
          <a:xfrm>
            <a:off x="4705350" y="5619750"/>
            <a:ext cx="7239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200" b="1">
                <a:solidFill>
                  <a:srgbClr val="FF5A00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90811F-5DCF-45C3-B6D3-D8E5C9A64527}"/>
              </a:ext>
            </a:extLst>
          </p:cNvPr>
          <p:cNvSpPr/>
          <p:nvPr/>
        </p:nvSpPr>
        <p:spPr>
          <a:xfrm>
            <a:off x="5524500" y="55245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DE7730-460C-41F0-B311-623B89768110}"/>
              </a:ext>
            </a:extLst>
          </p:cNvPr>
          <p:cNvSpPr txBox="1"/>
          <p:nvPr/>
        </p:nvSpPr>
        <p:spPr>
          <a:xfrm>
            <a:off x="5600700" y="56388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BAROMETER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3DDAA5-D305-4245-B7D9-2B04724B2A1A}"/>
              </a:ext>
            </a:extLst>
          </p:cNvPr>
          <p:cNvSpPr/>
          <p:nvPr/>
        </p:nvSpPr>
        <p:spPr>
          <a:xfrm>
            <a:off x="8515350" y="55245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6C3247-8EAA-4971-A806-30EDB88FB53F}"/>
              </a:ext>
            </a:extLst>
          </p:cNvPr>
          <p:cNvSpPr txBox="1"/>
          <p:nvPr/>
        </p:nvSpPr>
        <p:spPr>
          <a:xfrm>
            <a:off x="8591550" y="56388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GNSS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9E0236-FD1E-43C0-863B-D20A1E941DA1}"/>
              </a:ext>
            </a:extLst>
          </p:cNvPr>
          <p:cNvSpPr/>
          <p:nvPr/>
        </p:nvSpPr>
        <p:spPr>
          <a:xfrm>
            <a:off x="11506200" y="55245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D551BB-60C8-43A3-BB43-B62BF625830A}"/>
              </a:ext>
            </a:extLst>
          </p:cNvPr>
          <p:cNvSpPr txBox="1"/>
          <p:nvPr/>
        </p:nvSpPr>
        <p:spPr>
          <a:xfrm>
            <a:off x="11582400" y="56388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RANGE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C51B71C-C18D-4BC1-9BED-904A551087C6}"/>
              </a:ext>
            </a:extLst>
          </p:cNvPr>
          <p:cNvSpPr/>
          <p:nvPr/>
        </p:nvSpPr>
        <p:spPr>
          <a:xfrm>
            <a:off x="14497050" y="55245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DB7340-C6DB-46D9-AFC4-7F99A55AC7F9}"/>
              </a:ext>
            </a:extLst>
          </p:cNvPr>
          <p:cNvSpPr txBox="1"/>
          <p:nvPr/>
        </p:nvSpPr>
        <p:spPr>
          <a:xfrm>
            <a:off x="14573250" y="56388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VISION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2AB69B-A77B-4159-AFC5-B33106199045}"/>
              </a:ext>
            </a:extLst>
          </p:cNvPr>
          <p:cNvSpPr/>
          <p:nvPr/>
        </p:nvSpPr>
        <p:spPr>
          <a:xfrm>
            <a:off x="857250" y="7239000"/>
            <a:ext cx="3714750" cy="10668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BCC039-BF02-4905-996D-D3C4CE61BE42}"/>
              </a:ext>
            </a:extLst>
          </p:cNvPr>
          <p:cNvSpPr txBox="1"/>
          <p:nvPr/>
        </p:nvSpPr>
        <p:spPr>
          <a:xfrm>
            <a:off x="1047750" y="7353300"/>
            <a:ext cx="33337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HORIZONTAL MOTION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704009-9778-4D56-B2EE-27293BBF47A2}"/>
              </a:ext>
            </a:extLst>
          </p:cNvPr>
          <p:cNvSpPr txBox="1"/>
          <p:nvPr/>
        </p:nvSpPr>
        <p:spPr>
          <a:xfrm>
            <a:off x="4705350" y="7334250"/>
            <a:ext cx="7239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200" b="1">
                <a:solidFill>
                  <a:srgbClr val="FF5A00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545705F-239D-4B6C-A513-C4DEC7867A8E}"/>
              </a:ext>
            </a:extLst>
          </p:cNvPr>
          <p:cNvSpPr/>
          <p:nvPr/>
        </p:nvSpPr>
        <p:spPr>
          <a:xfrm>
            <a:off x="5524500" y="7239000"/>
            <a:ext cx="383540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823DF6-884D-43FB-AEDF-8D3148F62B0A}"/>
              </a:ext>
            </a:extLst>
          </p:cNvPr>
          <p:cNvSpPr txBox="1"/>
          <p:nvPr/>
        </p:nvSpPr>
        <p:spPr>
          <a:xfrm>
            <a:off x="5600700" y="7353300"/>
            <a:ext cx="3683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GNSS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92DCA6-9016-48CA-A92E-0C7C66631372}"/>
              </a:ext>
            </a:extLst>
          </p:cNvPr>
          <p:cNvSpPr/>
          <p:nvPr/>
        </p:nvSpPr>
        <p:spPr>
          <a:xfrm>
            <a:off x="9512300" y="7239000"/>
            <a:ext cx="383540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D4F4E8-8EA9-48A1-923B-F8BAC17BB0A0}"/>
              </a:ext>
            </a:extLst>
          </p:cNvPr>
          <p:cNvSpPr txBox="1"/>
          <p:nvPr/>
        </p:nvSpPr>
        <p:spPr>
          <a:xfrm>
            <a:off x="9588500" y="7353300"/>
            <a:ext cx="3683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OPTICAL FLOW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3565CAC-68B4-47A3-A048-C3F1BBB77899}"/>
              </a:ext>
            </a:extLst>
          </p:cNvPr>
          <p:cNvSpPr/>
          <p:nvPr/>
        </p:nvSpPr>
        <p:spPr>
          <a:xfrm>
            <a:off x="13500099" y="7239000"/>
            <a:ext cx="383540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79D153-8007-4BF4-B28F-AB671106C43C}"/>
              </a:ext>
            </a:extLst>
          </p:cNvPr>
          <p:cNvSpPr txBox="1"/>
          <p:nvPr/>
        </p:nvSpPr>
        <p:spPr>
          <a:xfrm>
            <a:off x="13576299" y="7353300"/>
            <a:ext cx="3683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VIO</a:t>
            </a:r>
          </a:p>
        </p:txBody>
      </p:sp>
    </p:spTree>
    <p:extLst>
      <p:ext uri="{BB962C8B-B14F-4D97-AF65-F5344CB8AC3E}">
        <p14:creationId xmlns:p14="http://schemas.microsoft.com/office/powerpoint/2010/main" val="15126836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BA3C4-09D8-CE55-4BC7-4EC0F5053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2">
            <a:extLst>
              <a:ext uri="{FF2B5EF4-FFF2-40B4-BE49-F238E27FC236}">
                <a16:creationId xmlns:a16="http://schemas.microsoft.com/office/drawing/2014/main" id="{D0C343DA-F362-D297-71B5-273C90340B7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8" name="Freeform 3">
              <a:extLst>
                <a:ext uri="{FF2B5EF4-FFF2-40B4-BE49-F238E27FC236}">
                  <a16:creationId xmlns:a16="http://schemas.microsoft.com/office/drawing/2014/main" id="{1B4566E0-609C-D4C6-8C7E-7DC67406FC79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22CB754-4CCE-CB63-D724-F86F0043432E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D3D953-BF34-0F4D-4A1F-87C052209510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0277F7-1B1E-3E04-A81B-BECF9E0E9F14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One state, many sources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5AA257-226D-4BD8-D7AC-BC0A659B643F}"/>
              </a:ext>
            </a:extLst>
          </p:cNvPr>
          <p:cNvSpPr/>
          <p:nvPr/>
        </p:nvSpPr>
        <p:spPr>
          <a:xfrm>
            <a:off x="857250" y="3810000"/>
            <a:ext cx="3714750" cy="10668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DC11C5-9E0D-E611-E9B9-F97DDE4CAFDF}"/>
              </a:ext>
            </a:extLst>
          </p:cNvPr>
          <p:cNvSpPr txBox="1"/>
          <p:nvPr/>
        </p:nvSpPr>
        <p:spPr>
          <a:xfrm>
            <a:off x="1047750" y="3924300"/>
            <a:ext cx="33337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ATTITUDE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3CC447-A798-9191-506C-A41C93AF07CB}"/>
              </a:ext>
            </a:extLst>
          </p:cNvPr>
          <p:cNvSpPr txBox="1"/>
          <p:nvPr/>
        </p:nvSpPr>
        <p:spPr>
          <a:xfrm>
            <a:off x="4705350" y="3905250"/>
            <a:ext cx="7239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200" b="1">
                <a:solidFill>
                  <a:srgbClr val="FF5A00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7F3EBA-57F8-1F1B-8D2D-DFF9BC24432B}"/>
              </a:ext>
            </a:extLst>
          </p:cNvPr>
          <p:cNvSpPr/>
          <p:nvPr/>
        </p:nvSpPr>
        <p:spPr>
          <a:xfrm>
            <a:off x="5524500" y="38100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B06C10-91AC-DD5B-D81D-FF61350C56C2}"/>
              </a:ext>
            </a:extLst>
          </p:cNvPr>
          <p:cNvSpPr txBox="1"/>
          <p:nvPr/>
        </p:nvSpPr>
        <p:spPr>
          <a:xfrm>
            <a:off x="5600700" y="39243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GYRO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4A90A3-7EED-0505-0FC2-9C065B8DE016}"/>
              </a:ext>
            </a:extLst>
          </p:cNvPr>
          <p:cNvSpPr/>
          <p:nvPr/>
        </p:nvSpPr>
        <p:spPr>
          <a:xfrm>
            <a:off x="8515350" y="38100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A50BD2-066F-F1CE-8E24-E0E10379C9DC}"/>
              </a:ext>
            </a:extLst>
          </p:cNvPr>
          <p:cNvSpPr txBox="1"/>
          <p:nvPr/>
        </p:nvSpPr>
        <p:spPr>
          <a:xfrm>
            <a:off x="8591550" y="39243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GRAVITY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C75073-6D5E-0EE7-B1DE-A89731414CC1}"/>
              </a:ext>
            </a:extLst>
          </p:cNvPr>
          <p:cNvSpPr/>
          <p:nvPr/>
        </p:nvSpPr>
        <p:spPr>
          <a:xfrm>
            <a:off x="11506200" y="38100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E72918-E052-092D-69B5-936C4531B49C}"/>
              </a:ext>
            </a:extLst>
          </p:cNvPr>
          <p:cNvSpPr txBox="1"/>
          <p:nvPr/>
        </p:nvSpPr>
        <p:spPr>
          <a:xfrm>
            <a:off x="11582400" y="39243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MAGNETIC FIELD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B841F5-23F6-DFBB-B8A1-F33FBDF9E08D}"/>
              </a:ext>
            </a:extLst>
          </p:cNvPr>
          <p:cNvSpPr/>
          <p:nvPr/>
        </p:nvSpPr>
        <p:spPr>
          <a:xfrm>
            <a:off x="14497050" y="38100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77DBD3-2E8F-4F71-AB3D-1C8426C04810}"/>
              </a:ext>
            </a:extLst>
          </p:cNvPr>
          <p:cNvSpPr txBox="1"/>
          <p:nvPr/>
        </p:nvSpPr>
        <p:spPr>
          <a:xfrm>
            <a:off x="14573250" y="39243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VISION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BF0C29-621D-B2EE-7310-4C61178D3416}"/>
              </a:ext>
            </a:extLst>
          </p:cNvPr>
          <p:cNvSpPr/>
          <p:nvPr/>
        </p:nvSpPr>
        <p:spPr>
          <a:xfrm>
            <a:off x="857250" y="5524500"/>
            <a:ext cx="3714750" cy="10668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B44129-E036-07FB-6284-BD9B598933AA}"/>
              </a:ext>
            </a:extLst>
          </p:cNvPr>
          <p:cNvSpPr txBox="1"/>
          <p:nvPr/>
        </p:nvSpPr>
        <p:spPr>
          <a:xfrm>
            <a:off x="1047750" y="5638800"/>
            <a:ext cx="33337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HEIGHT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B4CF14-FD90-F4E4-265A-B3F4AF126DC6}"/>
              </a:ext>
            </a:extLst>
          </p:cNvPr>
          <p:cNvSpPr txBox="1"/>
          <p:nvPr/>
        </p:nvSpPr>
        <p:spPr>
          <a:xfrm>
            <a:off x="4705350" y="5619750"/>
            <a:ext cx="7239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200" b="1">
                <a:solidFill>
                  <a:srgbClr val="FF5A00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A272C4-322D-EAF7-A96D-354A967D78CA}"/>
              </a:ext>
            </a:extLst>
          </p:cNvPr>
          <p:cNvSpPr/>
          <p:nvPr/>
        </p:nvSpPr>
        <p:spPr>
          <a:xfrm>
            <a:off x="5524500" y="55245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8BE732-31C9-3CBC-6255-7070F04881A0}"/>
              </a:ext>
            </a:extLst>
          </p:cNvPr>
          <p:cNvSpPr txBox="1"/>
          <p:nvPr/>
        </p:nvSpPr>
        <p:spPr>
          <a:xfrm>
            <a:off x="5600700" y="56388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BAROMETER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F8C1605-C14A-0A4B-1BD6-09208A9FC81D}"/>
              </a:ext>
            </a:extLst>
          </p:cNvPr>
          <p:cNvSpPr/>
          <p:nvPr/>
        </p:nvSpPr>
        <p:spPr>
          <a:xfrm>
            <a:off x="8515350" y="55245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67FD7C-9759-74F3-EB97-A805D9A74A93}"/>
              </a:ext>
            </a:extLst>
          </p:cNvPr>
          <p:cNvSpPr txBox="1"/>
          <p:nvPr/>
        </p:nvSpPr>
        <p:spPr>
          <a:xfrm>
            <a:off x="8591550" y="56388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GNSS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D634C60-CEBF-D606-272E-F3FA74137AD4}"/>
              </a:ext>
            </a:extLst>
          </p:cNvPr>
          <p:cNvSpPr/>
          <p:nvPr/>
        </p:nvSpPr>
        <p:spPr>
          <a:xfrm>
            <a:off x="11506200" y="55245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100025-32F1-20C9-075D-913B3D8321B6}"/>
              </a:ext>
            </a:extLst>
          </p:cNvPr>
          <p:cNvSpPr txBox="1"/>
          <p:nvPr/>
        </p:nvSpPr>
        <p:spPr>
          <a:xfrm>
            <a:off x="11582400" y="56388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RANGE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87C5EC-2E55-3164-25FB-0C5138133365}"/>
              </a:ext>
            </a:extLst>
          </p:cNvPr>
          <p:cNvSpPr/>
          <p:nvPr/>
        </p:nvSpPr>
        <p:spPr>
          <a:xfrm>
            <a:off x="14497050" y="55245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6A0FD2-3A0B-38E9-48A5-922883415CE0}"/>
              </a:ext>
            </a:extLst>
          </p:cNvPr>
          <p:cNvSpPr txBox="1"/>
          <p:nvPr/>
        </p:nvSpPr>
        <p:spPr>
          <a:xfrm>
            <a:off x="14573250" y="56388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VISION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8EB9BD0-5466-3FA4-1F86-2CC5CD849DA1}"/>
              </a:ext>
            </a:extLst>
          </p:cNvPr>
          <p:cNvSpPr/>
          <p:nvPr/>
        </p:nvSpPr>
        <p:spPr>
          <a:xfrm>
            <a:off x="857250" y="7239000"/>
            <a:ext cx="3714750" cy="10668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72B885-420D-1E4D-7D54-5F69FB1CB899}"/>
              </a:ext>
            </a:extLst>
          </p:cNvPr>
          <p:cNvSpPr txBox="1"/>
          <p:nvPr/>
        </p:nvSpPr>
        <p:spPr>
          <a:xfrm>
            <a:off x="1047750" y="7353300"/>
            <a:ext cx="33337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HORIZONTAL MOTION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4ECEAD-F2C4-EEAE-6211-5FD7FA5F1317}"/>
              </a:ext>
            </a:extLst>
          </p:cNvPr>
          <p:cNvSpPr txBox="1"/>
          <p:nvPr/>
        </p:nvSpPr>
        <p:spPr>
          <a:xfrm>
            <a:off x="4705350" y="7334250"/>
            <a:ext cx="7239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200" b="1">
                <a:solidFill>
                  <a:srgbClr val="FF5A00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924461E-7542-21D4-9E74-5588373F823A}"/>
              </a:ext>
            </a:extLst>
          </p:cNvPr>
          <p:cNvSpPr/>
          <p:nvPr/>
        </p:nvSpPr>
        <p:spPr>
          <a:xfrm>
            <a:off x="5524500" y="7239000"/>
            <a:ext cx="383540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824626-6CBE-73D4-A708-ABBB7F8CBC91}"/>
              </a:ext>
            </a:extLst>
          </p:cNvPr>
          <p:cNvSpPr txBox="1"/>
          <p:nvPr/>
        </p:nvSpPr>
        <p:spPr>
          <a:xfrm>
            <a:off x="5600700" y="7353300"/>
            <a:ext cx="3683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GNSS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FD0694F-6AE4-CD52-5AF8-E0D4A988314F}"/>
              </a:ext>
            </a:extLst>
          </p:cNvPr>
          <p:cNvSpPr/>
          <p:nvPr/>
        </p:nvSpPr>
        <p:spPr>
          <a:xfrm>
            <a:off x="9512300" y="7239000"/>
            <a:ext cx="383540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9AB09A-31D9-0900-8310-3FE632ECF8BB}"/>
              </a:ext>
            </a:extLst>
          </p:cNvPr>
          <p:cNvSpPr txBox="1"/>
          <p:nvPr/>
        </p:nvSpPr>
        <p:spPr>
          <a:xfrm>
            <a:off x="9588500" y="7353300"/>
            <a:ext cx="3683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OPTICAL FLOW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B3F2AF7-A4A7-BD7C-A35B-2433900CE44F}"/>
              </a:ext>
            </a:extLst>
          </p:cNvPr>
          <p:cNvSpPr/>
          <p:nvPr/>
        </p:nvSpPr>
        <p:spPr>
          <a:xfrm>
            <a:off x="13500099" y="7239000"/>
            <a:ext cx="383540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C0F2BD-6DEC-870A-17B3-3A58D294B64C}"/>
              </a:ext>
            </a:extLst>
          </p:cNvPr>
          <p:cNvSpPr txBox="1"/>
          <p:nvPr/>
        </p:nvSpPr>
        <p:spPr>
          <a:xfrm>
            <a:off x="13576299" y="7353300"/>
            <a:ext cx="3683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VIO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D561F-19E5-36DB-E1A6-E5708E6D93FC}"/>
              </a:ext>
            </a:extLst>
          </p:cNvPr>
          <p:cNvSpPr txBox="1"/>
          <p:nvPr/>
        </p:nvSpPr>
        <p:spPr>
          <a:xfrm>
            <a:off x="1238250" y="8724900"/>
            <a:ext cx="158115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ctr"/>
            <a:r>
              <a:rPr lang="en-US" sz="3500" b="1">
                <a:solidFill>
                  <a:srgbClr val="FFFFFF"/>
                </a:solidFill>
                <a:latin typeface="Arial"/>
                <a:cs typeface="Arial"/>
              </a:rPr>
              <a:t>If every sensor is incomplete, maybe the information is in the combination.</a:t>
            </a:r>
            <a:endParaRPr lang="it-IT" sz="35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D0F510-2C92-2E06-3CB1-9A2FC3F7913E}"/>
              </a:ext>
            </a:extLst>
          </p:cNvPr>
          <p:cNvSpPr txBox="1"/>
          <p:nvPr/>
        </p:nvSpPr>
        <p:spPr>
          <a:xfrm>
            <a:off x="5715000" y="9410700"/>
            <a:ext cx="6858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it-IT" sz="4800" b="1">
                <a:solidFill>
                  <a:srgbClr val="FF5A00"/>
                </a:solidFill>
                <a:latin typeface="Arial"/>
                <a:cs typeface="Arial"/>
              </a:rPr>
              <a:t>SENSOR FUSION</a:t>
            </a:r>
          </a:p>
        </p:txBody>
      </p:sp>
    </p:spTree>
    <p:extLst>
      <p:ext uri="{BB962C8B-B14F-4D97-AF65-F5344CB8AC3E}">
        <p14:creationId xmlns:p14="http://schemas.microsoft.com/office/powerpoint/2010/main" val="27607448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1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2E82A2A-2AD9-45B0-88F6-41D7E145D1C8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108786-1C9A-4100-A806-BA4ADC07E545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8962EC-C0C0-4A95-8D4C-1AF208AB2F87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924" b="1">
                <a:solidFill>
                  <a:srgbClr val="FF5A00"/>
                </a:solidFill>
                <a:latin typeface="Aptos"/>
              </a:rPr>
              <a:t>WHY ONE SENSOR IS NOT ENOUGH</a:t>
            </a:r>
            <a:endParaRPr lang="it-IT" sz="6924" b="1">
              <a:solidFill>
                <a:srgbClr val="FF5A00"/>
              </a:solidFill>
              <a:latin typeface="Aptos"/>
            </a:endParaRPr>
          </a:p>
        </p:txBody>
      </p:sp>
      <p:pic>
        <p:nvPicPr>
          <p:cNvPr id="2" name="Immagine 1" descr="Whole Mars Catalog on X: &quot;I'm not sure this makes sense. Granted Elon is  much smarter than me but here's my 2 cents: I don't think sensor fusion is  impossible, it just">
            <a:extLst>
              <a:ext uri="{FF2B5EF4-FFF2-40B4-BE49-F238E27FC236}">
                <a16:creationId xmlns:a16="http://schemas.microsoft.com/office/drawing/2014/main" id="{03B3BAEA-8FFC-D0F5-F1C3-3F04BD97F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467100"/>
            <a:ext cx="6120273" cy="581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436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09C716-231C-0BAC-57D0-A2445360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2">
            <a:extLst>
              <a:ext uri="{FF2B5EF4-FFF2-40B4-BE49-F238E27FC236}">
                <a16:creationId xmlns:a16="http://schemas.microsoft.com/office/drawing/2014/main" id="{05266E8F-7601-C61B-831E-F4B711213DA4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3FD29447-8280-A2F1-4B41-B2C48F253C48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0F9A32B-BF2C-FDD1-3F75-A67EEED6D375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622132-0799-23A9-C046-771B0B0314B5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377427-805B-14CD-FA21-6FC0CB16E722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924" b="1">
                <a:solidFill>
                  <a:srgbClr val="FF5A00"/>
                </a:solidFill>
                <a:latin typeface="Aptos"/>
              </a:rPr>
              <a:t>WHY ONE SENSOR IS NOT ENOUGH</a:t>
            </a:r>
            <a:endParaRPr lang="it-IT" sz="6924" b="1">
              <a:solidFill>
                <a:srgbClr val="FF5A00"/>
              </a:solidFill>
              <a:latin typeface="Aptos"/>
            </a:endParaRPr>
          </a:p>
        </p:txBody>
      </p:sp>
      <p:pic>
        <p:nvPicPr>
          <p:cNvPr id="2" name="Immagine 1" descr="Whole Mars Catalog on X: &quot;I'm not sure this makes sense. Granted Elon is  much smarter than me but here's my 2 cents: I don't think sensor fusion is  impossible, it just">
            <a:extLst>
              <a:ext uri="{FF2B5EF4-FFF2-40B4-BE49-F238E27FC236}">
                <a16:creationId xmlns:a16="http://schemas.microsoft.com/office/drawing/2014/main" id="{7C33D367-F204-7382-D139-52DDBECD2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467100"/>
            <a:ext cx="6120273" cy="581578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8370CAA-A2D2-5707-C0BD-75CB1FE4C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9986" y="4894621"/>
            <a:ext cx="36957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03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D4866-550F-BB00-9501-B3D5D4F42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2">
            <a:extLst>
              <a:ext uri="{FF2B5EF4-FFF2-40B4-BE49-F238E27FC236}">
                <a16:creationId xmlns:a16="http://schemas.microsoft.com/office/drawing/2014/main" id="{D6EC995F-C9D2-1654-1E4C-018AA9670AF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2C7359D1-E241-FF4E-AA08-E6E0E6ADEF93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2DB7727-8DB0-6741-0AD4-8FF58E7A7C4D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57EF5D-392E-EACB-22EE-7EFC50874765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AE4D73-901E-1DAE-71C9-412274AB2C09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924" b="1">
                <a:solidFill>
                  <a:srgbClr val="FF5A00"/>
                </a:solidFill>
                <a:latin typeface="Aptos"/>
              </a:rPr>
              <a:t>WHY ONE SENSOR IS NOT ENOUGH</a:t>
            </a:r>
            <a:endParaRPr lang="it-IT" sz="6924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D35F42-0CBC-157F-41BD-17BD06839FF5}"/>
              </a:ext>
            </a:extLst>
          </p:cNvPr>
          <p:cNvSpPr/>
          <p:nvPr/>
        </p:nvSpPr>
        <p:spPr>
          <a:xfrm>
            <a:off x="952500" y="3619500"/>
            <a:ext cx="4572000" cy="45085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58695C-33CD-B96D-7C54-70229822343C}"/>
              </a:ext>
            </a:extLst>
          </p:cNvPr>
          <p:cNvSpPr/>
          <p:nvPr/>
        </p:nvSpPr>
        <p:spPr>
          <a:xfrm>
            <a:off x="952500" y="3619500"/>
            <a:ext cx="4572000" cy="1270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528271-ADAF-B5BB-B729-4A6D9110815C}"/>
              </a:ext>
            </a:extLst>
          </p:cNvPr>
          <p:cNvSpPr txBox="1"/>
          <p:nvPr/>
        </p:nvSpPr>
        <p:spPr>
          <a:xfrm>
            <a:off x="1238250" y="4127500"/>
            <a:ext cx="40005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800" b="1">
                <a:solidFill>
                  <a:srgbClr val="0B2D45"/>
                </a:solidFill>
                <a:latin typeface="Aptos"/>
              </a:rPr>
              <a:t>GYROSCOPE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0F83C0-6A63-055D-95AB-713C24D7AEEE}"/>
              </a:ext>
            </a:extLst>
          </p:cNvPr>
          <p:cNvSpPr txBox="1"/>
          <p:nvPr/>
        </p:nvSpPr>
        <p:spPr>
          <a:xfrm>
            <a:off x="1238250" y="4953000"/>
            <a:ext cx="40005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3500">
                <a:solidFill>
                  <a:srgbClr val="0B2D45"/>
                </a:solidFill>
                <a:latin typeface="Aptos"/>
              </a:rPr>
              <a:t>good short-</a:t>
            </a:r>
            <a:r>
              <a:rPr lang="it-IT" sz="3500" err="1">
                <a:solidFill>
                  <a:srgbClr val="0B2D45"/>
                </a:solidFill>
                <a:latin typeface="Aptos"/>
              </a:rPr>
              <a:t>term</a:t>
            </a:r>
            <a:r>
              <a:rPr lang="it-IT" sz="3500">
                <a:solidFill>
                  <a:srgbClr val="0B2D45"/>
                </a:solidFill>
                <a:latin typeface="Aptos"/>
              </a:rPr>
              <a:t> </a:t>
            </a:r>
            <a:r>
              <a:rPr lang="it-IT" sz="3500" err="1">
                <a:solidFill>
                  <a:srgbClr val="0B2D45"/>
                </a:solidFill>
                <a:latin typeface="Aptos"/>
              </a:rPr>
              <a:t>angular</a:t>
            </a:r>
            <a:r>
              <a:rPr lang="it-IT" sz="3500">
                <a:solidFill>
                  <a:srgbClr val="0B2D45"/>
                </a:solidFill>
                <a:latin typeface="Aptos"/>
              </a:rPr>
              <a:t> information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4AD6CF-C2D4-E46D-679A-5573527CDFD9}"/>
              </a:ext>
            </a:extLst>
          </p:cNvPr>
          <p:cNvSpPr txBox="1"/>
          <p:nvPr/>
        </p:nvSpPr>
        <p:spPr>
          <a:xfrm>
            <a:off x="1238250" y="6350000"/>
            <a:ext cx="40005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3500" b="1" err="1">
                <a:solidFill>
                  <a:srgbClr val="FF5A00"/>
                </a:solidFill>
                <a:latin typeface="Aptos"/>
              </a:rPr>
              <a:t>but</a:t>
            </a:r>
            <a:r>
              <a:rPr lang="it-IT" sz="3500" b="1">
                <a:solidFill>
                  <a:srgbClr val="FF5A00"/>
                </a:solidFill>
                <a:latin typeface="Aptos"/>
              </a:rPr>
              <a:t> </a:t>
            </a:r>
            <a:r>
              <a:rPr lang="it-IT" sz="3500" b="1" err="1">
                <a:solidFill>
                  <a:srgbClr val="FF5A00"/>
                </a:solidFill>
                <a:latin typeface="Aptos"/>
              </a:rPr>
              <a:t>bias</a:t>
            </a:r>
            <a:r>
              <a:rPr lang="it-IT" sz="3500" b="1">
                <a:solidFill>
                  <a:srgbClr val="FF5A00"/>
                </a:solidFill>
                <a:latin typeface="Aptos"/>
              </a:rPr>
              <a:t> </a:t>
            </a:r>
            <a:r>
              <a:rPr lang="it-IT" sz="3500" b="1" err="1">
                <a:solidFill>
                  <a:srgbClr val="FF5A00"/>
                </a:solidFill>
                <a:latin typeface="Aptos"/>
              </a:rPr>
              <a:t>causes</a:t>
            </a:r>
            <a:r>
              <a:rPr lang="it-IT" sz="3500" b="1">
                <a:solidFill>
                  <a:srgbClr val="FF5A00"/>
                </a:solidFill>
                <a:latin typeface="Aptos"/>
              </a:rPr>
              <a:t> drift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DBDF19-D7E3-E51D-12C0-031EA0B939A5}"/>
              </a:ext>
            </a:extLst>
          </p:cNvPr>
          <p:cNvSpPr/>
          <p:nvPr/>
        </p:nvSpPr>
        <p:spPr>
          <a:xfrm>
            <a:off x="6858000" y="3619500"/>
            <a:ext cx="4572000" cy="45085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775DB8-73A8-4D57-23CF-913450765D9C}"/>
              </a:ext>
            </a:extLst>
          </p:cNvPr>
          <p:cNvSpPr/>
          <p:nvPr/>
        </p:nvSpPr>
        <p:spPr>
          <a:xfrm>
            <a:off x="6858000" y="3619500"/>
            <a:ext cx="4572000" cy="127000"/>
          </a:xfrm>
          <a:prstGeom prst="rect">
            <a:avLst/>
          </a:prstGeom>
          <a:solidFill>
            <a:srgbClr val="78A7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52BE76-17A7-5120-7AE7-23348EAB8669}"/>
              </a:ext>
            </a:extLst>
          </p:cNvPr>
          <p:cNvSpPr txBox="1"/>
          <p:nvPr/>
        </p:nvSpPr>
        <p:spPr>
          <a:xfrm>
            <a:off x="7143750" y="4127500"/>
            <a:ext cx="4000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800" b="1">
                <a:solidFill>
                  <a:srgbClr val="0B2D45"/>
                </a:solidFill>
                <a:latin typeface="Aptos"/>
              </a:rPr>
              <a:t>ACCELEROMETER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4E7CB4-2CEB-9FE6-1396-20C1E80892CA}"/>
              </a:ext>
            </a:extLst>
          </p:cNvPr>
          <p:cNvSpPr txBox="1"/>
          <p:nvPr/>
        </p:nvSpPr>
        <p:spPr>
          <a:xfrm>
            <a:off x="7143750" y="4953000"/>
            <a:ext cx="40005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3500" err="1">
                <a:solidFill>
                  <a:srgbClr val="0B2D45"/>
                </a:solidFill>
                <a:latin typeface="Aptos"/>
              </a:rPr>
              <a:t>gravity</a:t>
            </a:r>
            <a:r>
              <a:rPr lang="it-IT" sz="3500">
                <a:solidFill>
                  <a:srgbClr val="0B2D45"/>
                </a:solidFill>
                <a:latin typeface="Aptos"/>
              </a:rPr>
              <a:t> </a:t>
            </a:r>
            <a:r>
              <a:rPr lang="it-IT" sz="3500" err="1">
                <a:solidFill>
                  <a:srgbClr val="0B2D45"/>
                </a:solidFill>
                <a:latin typeface="Aptos"/>
              </a:rPr>
              <a:t>reference</a:t>
            </a:r>
            <a:r>
              <a:rPr lang="it-IT" sz="3500">
                <a:solidFill>
                  <a:srgbClr val="0B2D45"/>
                </a:solidFill>
                <a:latin typeface="Aptos"/>
              </a:rPr>
              <a:t> for tilt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BEE74E-44D0-9142-F260-2BC2489188F0}"/>
              </a:ext>
            </a:extLst>
          </p:cNvPr>
          <p:cNvSpPr txBox="1"/>
          <p:nvPr/>
        </p:nvSpPr>
        <p:spPr>
          <a:xfrm>
            <a:off x="7143750" y="6350000"/>
            <a:ext cx="4000500" cy="17081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3500" b="1">
                <a:solidFill>
                  <a:srgbClr val="FF5A00"/>
                </a:solidFill>
                <a:latin typeface="Aptos"/>
              </a:rPr>
              <a:t>but dynamic acceleration corrupts it</a:t>
            </a:r>
            <a:endParaRPr lang="it-IT" sz="3500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88CE33-DC2F-9F48-CDE3-F1386F56F7FA}"/>
              </a:ext>
            </a:extLst>
          </p:cNvPr>
          <p:cNvSpPr/>
          <p:nvPr/>
        </p:nvSpPr>
        <p:spPr>
          <a:xfrm>
            <a:off x="12763500" y="3619500"/>
            <a:ext cx="4572000" cy="45085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D63B9F-D6F1-F384-B748-941B044E61E1}"/>
              </a:ext>
            </a:extLst>
          </p:cNvPr>
          <p:cNvSpPr/>
          <p:nvPr/>
        </p:nvSpPr>
        <p:spPr>
          <a:xfrm>
            <a:off x="12763500" y="3619500"/>
            <a:ext cx="4572000" cy="1270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F3CCCD-1D30-D363-B6E2-908BDAD20614}"/>
              </a:ext>
            </a:extLst>
          </p:cNvPr>
          <p:cNvSpPr txBox="1"/>
          <p:nvPr/>
        </p:nvSpPr>
        <p:spPr>
          <a:xfrm>
            <a:off x="13049250" y="4127500"/>
            <a:ext cx="4000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800" b="1">
                <a:solidFill>
                  <a:srgbClr val="0B2D45"/>
                </a:solidFill>
                <a:latin typeface="Aptos"/>
              </a:rPr>
              <a:t>MAGNETOMETER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C9F6C8-4B3C-5AE6-B1EB-CB76F1367638}"/>
              </a:ext>
            </a:extLst>
          </p:cNvPr>
          <p:cNvSpPr txBox="1"/>
          <p:nvPr/>
        </p:nvSpPr>
        <p:spPr>
          <a:xfrm>
            <a:off x="13049250" y="4953000"/>
            <a:ext cx="40005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3500" err="1">
                <a:solidFill>
                  <a:srgbClr val="0B2D45"/>
                </a:solidFill>
                <a:latin typeface="Aptos"/>
              </a:rPr>
              <a:t>heading</a:t>
            </a:r>
            <a:r>
              <a:rPr lang="it-IT" sz="3500">
                <a:solidFill>
                  <a:srgbClr val="0B2D45"/>
                </a:solidFill>
                <a:latin typeface="Aptos"/>
              </a:rPr>
              <a:t> information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393DCC-8757-8B47-B1B0-EA19AE4C4AF6}"/>
              </a:ext>
            </a:extLst>
          </p:cNvPr>
          <p:cNvSpPr txBox="1"/>
          <p:nvPr/>
        </p:nvSpPr>
        <p:spPr>
          <a:xfrm>
            <a:off x="13049250" y="6350000"/>
            <a:ext cx="4000500" cy="17081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3500" b="1">
                <a:solidFill>
                  <a:srgbClr val="FF5A00"/>
                </a:solidFill>
                <a:latin typeface="Aptos"/>
              </a:rPr>
              <a:t>but magnetic disturbances corrupt it</a:t>
            </a:r>
            <a:endParaRPr lang="it-IT" sz="3500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11672E-15ED-5CFF-4F9B-1DD31FAB49F5}"/>
              </a:ext>
            </a:extLst>
          </p:cNvPr>
          <p:cNvSpPr txBox="1"/>
          <p:nvPr/>
        </p:nvSpPr>
        <p:spPr>
          <a:xfrm>
            <a:off x="1333500" y="8763000"/>
            <a:ext cx="15621000" cy="63094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3500" b="1">
                <a:solidFill>
                  <a:srgbClr val="FFFFFF"/>
                </a:solidFill>
                <a:latin typeface="Aptos"/>
              </a:rPr>
              <a:t>No sensor is wrong </a:t>
            </a:r>
            <a:r>
              <a:rPr lang="en-US" sz="3500" b="1" i="1">
                <a:solidFill>
                  <a:srgbClr val="FF6301"/>
                </a:solidFill>
                <a:latin typeface="Aptos"/>
              </a:rPr>
              <a:t>BUT</a:t>
            </a:r>
            <a:r>
              <a:rPr lang="en-US" sz="3500" b="1">
                <a:solidFill>
                  <a:srgbClr val="FFFFFF"/>
                </a:solidFill>
                <a:latin typeface="Aptos"/>
              </a:rPr>
              <a:t> no sensor is enough.</a:t>
            </a:r>
            <a:endParaRPr lang="it-IT" sz="3500" b="1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68612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2C0D2-BFE3-16CD-D3AF-2997AF5D1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2E1B28-7685-92E0-0ADF-986D513710FF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0030F5A-8DF3-0813-4938-4CC2AF129C49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8443DF0-4577-1914-1082-A50F2F2BDECD}"/>
              </a:ext>
            </a:extLst>
          </p:cNvPr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68AB996-A860-FEB3-D0A8-7F4CBCF0617B}"/>
                </a:ext>
              </a:extLst>
            </p:cNvPr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664420E-1FB0-5E26-9475-A8F5A66B17A0}"/>
                </a:ext>
              </a:extLst>
            </p:cNvPr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3ACDB809-A0B8-17B8-B62F-784064245E9A}"/>
              </a:ext>
            </a:extLst>
          </p:cNvPr>
          <p:cNvSpPr txBox="1"/>
          <p:nvPr/>
        </p:nvSpPr>
        <p:spPr>
          <a:xfrm>
            <a:off x="423362" y="3451504"/>
            <a:ext cx="18552543" cy="171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ESTIMATION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89D8CC79-E5FD-7A71-44D9-4BFE5334A258}"/>
              </a:ext>
            </a:extLst>
          </p:cNvPr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13803CD-D647-BA6B-8BE0-FEC82FA36AF6}"/>
                </a:ext>
              </a:extLst>
            </p:cNvPr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79869DE-5263-04A8-471E-76FF379A58B4}"/>
                </a:ext>
              </a:extLst>
            </p:cNvPr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D3BD1AAA-98C7-CCFE-996F-A80E0FA99D9F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69392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7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ECDA148-7160-4277-BA21-10AEBEC33923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DF164-7593-4B95-B9A5-5F1BA61B0942}"/>
              </a:ext>
            </a:extLst>
          </p:cNvPr>
          <p:cNvSpPr txBox="1"/>
          <p:nvPr/>
        </p:nvSpPr>
        <p:spPr>
          <a:xfrm>
            <a:off x="228600" y="347930"/>
            <a:ext cx="16573500" cy="1323439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r>
              <a:rPr lang="it-IT" sz="8600" b="1" err="1">
                <a:solidFill>
                  <a:srgbClr val="000000"/>
                </a:solidFill>
                <a:latin typeface="Montserrat 2 Medium"/>
              </a:rPr>
              <a:t>Estimation</a:t>
            </a:r>
            <a:endParaRPr lang="it-IT" sz="8600" b="1">
              <a:solidFill>
                <a:srgbClr val="000000"/>
              </a:solidFill>
              <a:latin typeface="Montserrat 2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77B5A-B2A4-440F-8DAB-48C887513BB7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SENSOR FUSION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DBAFD-FF43-45C3-A022-69EEE716F2B3}"/>
              </a:ext>
            </a:extLst>
          </p:cNvPr>
          <p:cNvSpPr txBox="1"/>
          <p:nvPr/>
        </p:nvSpPr>
        <p:spPr>
          <a:xfrm>
            <a:off x="1333500" y="3429000"/>
            <a:ext cx="15621000" cy="63094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3500" b="1">
                <a:solidFill>
                  <a:srgbClr val="FFFFFF"/>
                </a:solidFill>
                <a:latin typeface="Aptos"/>
              </a:rPr>
              <a:t>No sensor is wrong </a:t>
            </a:r>
            <a:r>
              <a:rPr lang="en-US" sz="3500" b="1" i="1">
                <a:solidFill>
                  <a:srgbClr val="FF6301"/>
                </a:solidFill>
                <a:latin typeface="Aptos"/>
              </a:rPr>
              <a:t>BUT</a:t>
            </a:r>
            <a:r>
              <a:rPr lang="en-US" sz="3500" b="1">
                <a:solidFill>
                  <a:srgbClr val="FFFFFF"/>
                </a:solidFill>
                <a:latin typeface="Aptos"/>
              </a:rPr>
              <a:t> no sensor is enough.</a:t>
            </a:r>
            <a:endParaRPr lang="it-IT" sz="3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860B0A-C3CB-4490-9F04-F55D4253D888}"/>
              </a:ext>
            </a:extLst>
          </p:cNvPr>
          <p:cNvSpPr/>
          <p:nvPr/>
        </p:nvSpPr>
        <p:spPr>
          <a:xfrm>
            <a:off x="952500" y="4191000"/>
            <a:ext cx="4953000" cy="10668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9CB535-DFA1-4B9E-B482-2C95CBC10720}"/>
              </a:ext>
            </a:extLst>
          </p:cNvPr>
          <p:cNvSpPr/>
          <p:nvPr/>
        </p:nvSpPr>
        <p:spPr>
          <a:xfrm>
            <a:off x="952500" y="4191000"/>
            <a:ext cx="127000" cy="10668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34D21-830B-4897-8B97-7AA3BBE35774}"/>
              </a:ext>
            </a:extLst>
          </p:cNvPr>
          <p:cNvSpPr txBox="1"/>
          <p:nvPr/>
        </p:nvSpPr>
        <p:spPr>
          <a:xfrm>
            <a:off x="1290484" y="4479320"/>
            <a:ext cx="4191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800" b="1">
                <a:solidFill>
                  <a:srgbClr val="0B2D45"/>
                </a:solidFill>
                <a:latin typeface="Aptos"/>
              </a:rPr>
              <a:t>GYROSCOPE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85A60C7-26C2-4F59-A492-D2A8070B5733}"/>
              </a:ext>
            </a:extLst>
          </p:cNvPr>
          <p:cNvSpPr/>
          <p:nvPr/>
        </p:nvSpPr>
        <p:spPr>
          <a:xfrm>
            <a:off x="6191250" y="4514850"/>
            <a:ext cx="5619750" cy="4191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F5E577-601F-42AC-AE1D-67FC0043C10F}"/>
              </a:ext>
            </a:extLst>
          </p:cNvPr>
          <p:cNvSpPr/>
          <p:nvPr/>
        </p:nvSpPr>
        <p:spPr>
          <a:xfrm>
            <a:off x="952500" y="5638800"/>
            <a:ext cx="4953000" cy="10668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3739E0-F8E9-4A7F-878D-7ABC97A3994D}"/>
              </a:ext>
            </a:extLst>
          </p:cNvPr>
          <p:cNvSpPr/>
          <p:nvPr/>
        </p:nvSpPr>
        <p:spPr>
          <a:xfrm>
            <a:off x="952500" y="5638800"/>
            <a:ext cx="127000" cy="1066800"/>
          </a:xfrm>
          <a:prstGeom prst="rect">
            <a:avLst/>
          </a:prstGeom>
          <a:solidFill>
            <a:srgbClr val="78A7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05A94C-102A-4952-8D39-ACB1151287F0}"/>
              </a:ext>
            </a:extLst>
          </p:cNvPr>
          <p:cNvSpPr txBox="1"/>
          <p:nvPr/>
        </p:nvSpPr>
        <p:spPr>
          <a:xfrm>
            <a:off x="1270819" y="5927120"/>
            <a:ext cx="4191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800" b="1">
                <a:solidFill>
                  <a:srgbClr val="0B2D45"/>
                </a:solidFill>
                <a:latin typeface="Aptos"/>
              </a:rPr>
              <a:t>ACCELEROMETER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E4E37AD-64F4-4084-B2AE-B8066C053004}"/>
              </a:ext>
            </a:extLst>
          </p:cNvPr>
          <p:cNvSpPr/>
          <p:nvPr/>
        </p:nvSpPr>
        <p:spPr>
          <a:xfrm>
            <a:off x="6191250" y="5962650"/>
            <a:ext cx="5619750" cy="4191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6826DA-9F8F-42AC-B599-C4EFBDA34BA0}"/>
              </a:ext>
            </a:extLst>
          </p:cNvPr>
          <p:cNvSpPr/>
          <p:nvPr/>
        </p:nvSpPr>
        <p:spPr>
          <a:xfrm>
            <a:off x="952500" y="7086600"/>
            <a:ext cx="4953000" cy="10668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64BDA3-C0D9-4817-83B9-0B9ABC5360D0}"/>
              </a:ext>
            </a:extLst>
          </p:cNvPr>
          <p:cNvSpPr/>
          <p:nvPr/>
        </p:nvSpPr>
        <p:spPr>
          <a:xfrm>
            <a:off x="952500" y="7086600"/>
            <a:ext cx="127000" cy="10668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AF7CF5-B0A3-48B7-B3B9-C5ACFA37B43A}"/>
              </a:ext>
            </a:extLst>
          </p:cNvPr>
          <p:cNvSpPr txBox="1"/>
          <p:nvPr/>
        </p:nvSpPr>
        <p:spPr>
          <a:xfrm>
            <a:off x="1238250" y="7345690"/>
            <a:ext cx="4191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800" b="1">
                <a:solidFill>
                  <a:srgbClr val="0B2D45"/>
                </a:solidFill>
                <a:latin typeface="Aptos"/>
              </a:rPr>
              <a:t>MAGNETOMETER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8327063-19E8-4FC1-AC32-86C99FB6B8E6}"/>
              </a:ext>
            </a:extLst>
          </p:cNvPr>
          <p:cNvSpPr/>
          <p:nvPr/>
        </p:nvSpPr>
        <p:spPr>
          <a:xfrm>
            <a:off x="6191250" y="7410450"/>
            <a:ext cx="5619750" cy="4191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91121F-9BE4-4CE8-BED9-464A0E40D8B8}"/>
              </a:ext>
            </a:extLst>
          </p:cNvPr>
          <p:cNvSpPr/>
          <p:nvPr/>
        </p:nvSpPr>
        <p:spPr>
          <a:xfrm>
            <a:off x="12573000" y="4762500"/>
            <a:ext cx="4953000" cy="2897892"/>
          </a:xfrm>
          <a:prstGeom prst="rect">
            <a:avLst/>
          </a:prstGeom>
          <a:solidFill>
            <a:srgbClr val="173F5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CDA8B4B-0780-4214-9A7B-2A1A71FE7761}"/>
              </a:ext>
            </a:extLst>
          </p:cNvPr>
          <p:cNvSpPr/>
          <p:nvPr/>
        </p:nvSpPr>
        <p:spPr>
          <a:xfrm>
            <a:off x="12573000" y="4762500"/>
            <a:ext cx="4953000" cy="130536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DD6C53-5D51-4DA9-B347-B8073C736C43}"/>
              </a:ext>
            </a:extLst>
          </p:cNvPr>
          <p:cNvSpPr txBox="1"/>
          <p:nvPr/>
        </p:nvSpPr>
        <p:spPr>
          <a:xfrm>
            <a:off x="12965061" y="5289262"/>
            <a:ext cx="3810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3200" b="1">
                <a:solidFill>
                  <a:srgbClr val="FFFFFF"/>
                </a:solidFill>
                <a:latin typeface="Aptos"/>
              </a:rPr>
              <a:t>STATE ESTIMATE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88F2F9-1C3A-40B2-AF0F-3EE619BAFAEC}"/>
                  </a:ext>
                </a:extLst>
              </p:cNvPr>
              <p:cNvSpPr txBox="1"/>
              <p:nvPr/>
            </p:nvSpPr>
            <p:spPr>
              <a:xfrm>
                <a:off x="12801600" y="6295883"/>
                <a:ext cx="4953000" cy="72359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3500" b="1" i="1" dirty="0" smtClean="0">
                            <a:solidFill>
                              <a:srgbClr val="A7D8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3500" b="1" i="1" dirty="0" smtClean="0">
                            <a:solidFill>
                              <a:srgbClr val="A7D867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acc>
                    <m:r>
                      <a:rPr lang="it-IT" sz="3500" b="1" i="1" dirty="0" smtClean="0">
                        <a:solidFill>
                          <a:srgbClr val="A7D867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sSub>
                      <m:sSubPr>
                        <m:ctrlPr>
                          <a:rPr lang="it-IT" sz="3500" b="1" i="1" dirty="0" err="1">
                            <a:solidFill>
                              <a:srgbClr val="A7D8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3500" b="1" i="1" dirty="0" err="1">
                                <a:solidFill>
                                  <a:srgbClr val="A7D8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3500" b="1" i="1" dirty="0" err="1">
                                <a:solidFill>
                                  <a:srgbClr val="A7D867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</m:e>
                      <m:sub>
                        <m:r>
                          <a:rPr lang="it-IT" sz="3500" b="1" i="1" dirty="0" err="1">
                            <a:solidFill>
                              <a:srgbClr val="A7D867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sub>
                    </m:sSub>
                    <m:r>
                      <a:rPr lang="it-IT" sz="3500" b="1" i="1" dirty="0">
                        <a:solidFill>
                          <a:srgbClr val="A7D867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r>
                      <a:rPr lang="it-IT" sz="3500" b="1" i="1" dirty="0" err="1" smtClean="0">
                        <a:solidFill>
                          <a:srgbClr val="A7D867"/>
                        </a:solidFill>
                        <a:latin typeface="Cambria Math" panose="02040503050406030204" pitchFamily="18" charset="0"/>
                      </a:rPr>
                      <m:t>𝒖𝒏𝒄𝒆𝒓𝒕𝒂𝒊𝒏𝒕𝒚</m:t>
                    </m:r>
                  </m:oMath>
                </a14:m>
                <a:r>
                  <a:rPr lang="it-IT" sz="3500" b="1">
                    <a:solidFill>
                      <a:srgbClr val="A7D867"/>
                    </a:solidFill>
                    <a:latin typeface="Aptos"/>
                  </a:rPr>
                  <a:t> 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588F2F9-1C3A-40B2-AF0F-3EE619BAF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00" y="6295883"/>
                <a:ext cx="4953000" cy="7235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DB835852-C1AB-411D-B27B-CE06632A0FD7}"/>
              </a:ext>
            </a:extLst>
          </p:cNvPr>
          <p:cNvSpPr txBox="1"/>
          <p:nvPr/>
        </p:nvSpPr>
        <p:spPr>
          <a:xfrm>
            <a:off x="1714500" y="8534400"/>
            <a:ext cx="1485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 b="1">
                <a:solidFill>
                  <a:srgbClr val="FFFFFF"/>
                </a:solidFill>
                <a:latin typeface="Aptos"/>
              </a:rPr>
              <a:t>Combine complementary measurements according to their uncertainty.</a:t>
            </a:r>
            <a:endParaRPr lang="it-IT" sz="3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C874AD-EBCB-4D0B-AE0F-DC80E99DD3B6}"/>
              </a:ext>
            </a:extLst>
          </p:cNvPr>
          <p:cNvSpPr txBox="1"/>
          <p:nvPr/>
        </p:nvSpPr>
        <p:spPr>
          <a:xfrm>
            <a:off x="1714500" y="9334500"/>
            <a:ext cx="1485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 b="1">
                <a:solidFill>
                  <a:srgbClr val="FF5A00"/>
                </a:solidFill>
                <a:latin typeface="Aptos"/>
              </a:rPr>
              <a:t>When model and measurements disagree, who should we trust?</a:t>
            </a:r>
            <a:endParaRPr lang="it-IT" sz="3500" b="1">
              <a:solidFill>
                <a:srgbClr val="FF5A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23692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8C5F7FD-4CE7-46A2-AE0B-D3E9EC8A9749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144497-8634-41B8-B8A1-07AA13BF1520}"/>
              </a:ext>
            </a:extLst>
          </p:cNvPr>
          <p:cNvSpPr txBox="1"/>
          <p:nvPr/>
        </p:nvSpPr>
        <p:spPr>
          <a:xfrm>
            <a:off x="228600" y="347930"/>
            <a:ext cx="16573500" cy="1323439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r>
              <a:rPr lang="it-IT" sz="8600" b="1" err="1">
                <a:solidFill>
                  <a:srgbClr val="000000"/>
                </a:solidFill>
                <a:latin typeface="Montserrat 2 Medium"/>
              </a:rPr>
              <a:t>Estimation</a:t>
            </a:r>
            <a:endParaRPr lang="it-IT" sz="8600" b="1">
              <a:solidFill>
                <a:srgbClr val="000000"/>
              </a:solidFill>
              <a:latin typeface="Montserrat 2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9021C2-9FEC-4913-AB98-5E98B4C05573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FROM KALMAN TO FLIGHT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C88D2B-778E-4536-BADF-575E8BCE7562}"/>
              </a:ext>
            </a:extLst>
          </p:cNvPr>
          <p:cNvSpPr/>
          <p:nvPr/>
        </p:nvSpPr>
        <p:spPr>
          <a:xfrm>
            <a:off x="1143000" y="3810000"/>
            <a:ext cx="7048500" cy="32385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1F79B2-C1EB-449F-9F8B-FC7D20F47CDE}"/>
              </a:ext>
            </a:extLst>
          </p:cNvPr>
          <p:cNvSpPr/>
          <p:nvPr/>
        </p:nvSpPr>
        <p:spPr>
          <a:xfrm>
            <a:off x="1143000" y="3810000"/>
            <a:ext cx="7048500" cy="1270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50709-65A8-44FE-80AA-B6DE7F334D4B}"/>
              </a:ext>
            </a:extLst>
          </p:cNvPr>
          <p:cNvSpPr txBox="1"/>
          <p:nvPr/>
        </p:nvSpPr>
        <p:spPr>
          <a:xfrm>
            <a:off x="1524000" y="4305300"/>
            <a:ext cx="6286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000" b="1">
                <a:solidFill>
                  <a:srgbClr val="0B2D45"/>
                </a:solidFill>
                <a:latin typeface="Aptos"/>
              </a:rPr>
              <a:t>RUDOLF E. KALMAN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5C5BC4-C050-4848-A904-1D35B6E022C5}"/>
              </a:ext>
            </a:extLst>
          </p:cNvPr>
          <p:cNvSpPr txBox="1"/>
          <p:nvPr/>
        </p:nvSpPr>
        <p:spPr>
          <a:xfrm>
            <a:off x="1524000" y="5029200"/>
            <a:ext cx="6286500" cy="4953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3500" b="1">
                <a:solidFill>
                  <a:srgbClr val="FF5A00"/>
                </a:solidFill>
                <a:latin typeface="Aptos"/>
              </a:rPr>
              <a:t>1960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E6455D-0F02-4F8B-9D3F-9EE3688155F4}"/>
              </a:ext>
            </a:extLst>
          </p:cNvPr>
          <p:cNvSpPr txBox="1"/>
          <p:nvPr/>
        </p:nvSpPr>
        <p:spPr>
          <a:xfrm>
            <a:off x="1524000" y="5829300"/>
            <a:ext cx="6286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3500">
                <a:solidFill>
                  <a:srgbClr val="0B2D45"/>
                </a:solidFill>
                <a:latin typeface="Aptos"/>
              </a:rPr>
              <a:t>Recursive state-estimation framework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9E09F2E-4C21-457A-BF29-C6F1EF451E54}"/>
              </a:ext>
            </a:extLst>
          </p:cNvPr>
          <p:cNvSpPr/>
          <p:nvPr/>
        </p:nvSpPr>
        <p:spPr>
          <a:xfrm>
            <a:off x="8572500" y="5067300"/>
            <a:ext cx="1143000" cy="6096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AD1154-2AE0-40A3-8FB6-5784C2A3505E}"/>
              </a:ext>
            </a:extLst>
          </p:cNvPr>
          <p:cNvSpPr/>
          <p:nvPr/>
        </p:nvSpPr>
        <p:spPr>
          <a:xfrm>
            <a:off x="10096500" y="3810000"/>
            <a:ext cx="7048500" cy="32385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074BB0-43A7-4F06-8713-4B1902CA0F8A}"/>
              </a:ext>
            </a:extLst>
          </p:cNvPr>
          <p:cNvSpPr/>
          <p:nvPr/>
        </p:nvSpPr>
        <p:spPr>
          <a:xfrm>
            <a:off x="10096500" y="3810000"/>
            <a:ext cx="7048500" cy="1270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19048C-3D00-49D7-B376-2A48B3CE829B}"/>
              </a:ext>
            </a:extLst>
          </p:cNvPr>
          <p:cNvSpPr txBox="1"/>
          <p:nvPr/>
        </p:nvSpPr>
        <p:spPr>
          <a:xfrm>
            <a:off x="10477500" y="4305300"/>
            <a:ext cx="6286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000" b="1">
                <a:solidFill>
                  <a:srgbClr val="0B2D45"/>
                </a:solidFill>
                <a:latin typeface="Aptos"/>
              </a:rPr>
              <a:t>STANLEY F. SCHMIDT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04A46F-EC6B-4069-ADEC-D4E2F19B51F2}"/>
              </a:ext>
            </a:extLst>
          </p:cNvPr>
          <p:cNvSpPr txBox="1"/>
          <p:nvPr/>
        </p:nvSpPr>
        <p:spPr>
          <a:xfrm>
            <a:off x="10477500" y="5029200"/>
            <a:ext cx="6286500" cy="4953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600" b="1">
                <a:solidFill>
                  <a:srgbClr val="FF5A00"/>
                </a:solidFill>
                <a:latin typeface="Aptos"/>
              </a:rPr>
              <a:t>EARLY AEROSPACE APPLICATIONS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2E701-B8AE-4468-B7D9-B1197BAEA0AB}"/>
              </a:ext>
            </a:extLst>
          </p:cNvPr>
          <p:cNvSpPr txBox="1"/>
          <p:nvPr/>
        </p:nvSpPr>
        <p:spPr>
          <a:xfrm>
            <a:off x="10477500" y="5829300"/>
            <a:ext cx="62865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>
                <a:solidFill>
                  <a:srgbClr val="0B2D45"/>
                </a:solidFill>
                <a:latin typeface="Aptos"/>
              </a:rPr>
              <a:t>Implementation and practical nonlinear navigation work at NASA Ames</a:t>
            </a:r>
            <a:endParaRPr lang="it-IT" sz="3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9C2A7E-C54C-4342-93B8-E0532C8DC0AE}"/>
              </a:ext>
            </a:extLst>
          </p:cNvPr>
          <p:cNvSpPr txBox="1"/>
          <p:nvPr/>
        </p:nvSpPr>
        <p:spPr>
          <a:xfrm>
            <a:off x="1714500" y="7696200"/>
            <a:ext cx="14859000" cy="800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 b="1">
                <a:solidFill>
                  <a:srgbClr val="FFFFFF"/>
                </a:solidFill>
                <a:latin typeface="Aptos"/>
              </a:rPr>
              <a:t>A mathematical idea became an engineering tool because aerospace needed navigation in the real world.</a:t>
            </a:r>
            <a:endParaRPr lang="it-IT" sz="3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D26BE3-2AF3-4C81-9FE8-A85E62503327}"/>
              </a:ext>
            </a:extLst>
          </p:cNvPr>
          <p:cNvSpPr txBox="1"/>
          <p:nvPr/>
        </p:nvSpPr>
        <p:spPr>
          <a:xfrm>
            <a:off x="2762250" y="8953500"/>
            <a:ext cx="9334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3500" b="1">
                <a:solidFill>
                  <a:srgbClr val="A7D867"/>
                </a:solidFill>
                <a:latin typeface="Aptos"/>
              </a:rPr>
              <a:t>MODEL  +  MEASUREMENT  +  UNCERTAINTY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07FF0F6-AB43-4C37-983B-BCC472E03B3C}"/>
              </a:ext>
            </a:extLst>
          </p:cNvPr>
          <p:cNvSpPr/>
          <p:nvPr/>
        </p:nvSpPr>
        <p:spPr>
          <a:xfrm>
            <a:off x="12382500" y="8991600"/>
            <a:ext cx="1143000" cy="4572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85EF0B-202A-485C-B58A-74C6F8B6148E}"/>
              </a:ext>
            </a:extLst>
          </p:cNvPr>
          <p:cNvSpPr txBox="1"/>
          <p:nvPr/>
        </p:nvSpPr>
        <p:spPr>
          <a:xfrm>
            <a:off x="13868400" y="8953500"/>
            <a:ext cx="409575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4200" b="1">
                <a:solidFill>
                  <a:srgbClr val="FF5A00"/>
                </a:solidFill>
                <a:latin typeface="Aptos"/>
              </a:rPr>
              <a:t>KALMAN FILTER</a:t>
            </a:r>
          </a:p>
        </p:txBody>
      </p:sp>
      <p:pic>
        <p:nvPicPr>
          <p:cNvPr id="7" name="Immagine 6" descr="Honoring a legacy algorithm - Aerospace America">
            <a:extLst>
              <a:ext uri="{FF2B5EF4-FFF2-40B4-BE49-F238E27FC236}">
                <a16:creationId xmlns:a16="http://schemas.microsoft.com/office/drawing/2014/main" id="{A8CA735B-4EAF-E225-1123-EB1E1A053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021" y="3492500"/>
            <a:ext cx="3657599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785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2BAFC6-A2B8-4020-3DA2-E6A33C1C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">
            <a:extLst>
              <a:ext uri="{FF2B5EF4-FFF2-40B4-BE49-F238E27FC236}">
                <a16:creationId xmlns:a16="http://schemas.microsoft.com/office/drawing/2014/main" id="{DE23CC34-AFA9-C4E8-13A3-72AE314C2964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57099C09-2562-EE6C-667E-FD6AFEE5F23B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51D7B72-BAF2-7B86-7E6D-57E6304004C0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3FEF12-EB4B-B461-13AD-3C454187AE50}"/>
              </a:ext>
            </a:extLst>
          </p:cNvPr>
          <p:cNvSpPr txBox="1"/>
          <p:nvPr/>
        </p:nvSpPr>
        <p:spPr>
          <a:xfrm>
            <a:off x="228600" y="347930"/>
            <a:ext cx="16573500" cy="1323439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r>
              <a:rPr lang="it-IT" sz="8600" b="1" err="1">
                <a:solidFill>
                  <a:srgbClr val="000000"/>
                </a:solidFill>
                <a:latin typeface="Montserrat 2 Medium"/>
              </a:rPr>
              <a:t>Estimation</a:t>
            </a:r>
            <a:endParaRPr lang="it-IT" sz="8600" b="1">
              <a:solidFill>
                <a:srgbClr val="000000"/>
              </a:solidFill>
              <a:latin typeface="Montserrat 2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3C66E6-B820-A797-23A6-E2223F6AB7CB}"/>
              </a:ext>
            </a:extLst>
          </p:cNvPr>
          <p:cNvSpPr txBox="1"/>
          <p:nvPr/>
        </p:nvSpPr>
        <p:spPr>
          <a:xfrm>
            <a:off x="666750" y="2247900"/>
            <a:ext cx="16954500" cy="115788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APOLLO GUIDANCE COMPUTER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541373-87C9-49DA-2C40-40EE770C15FF}"/>
              </a:ext>
            </a:extLst>
          </p:cNvPr>
          <p:cNvSpPr txBox="1"/>
          <p:nvPr/>
        </p:nvSpPr>
        <p:spPr>
          <a:xfrm>
            <a:off x="381000" y="9029700"/>
            <a:ext cx="17612845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4200" b="1">
                <a:solidFill>
                  <a:srgbClr val="FFFFFF"/>
                </a:solidFill>
                <a:latin typeface="Aptos"/>
              </a:rPr>
              <a:t>CPU 2 MHz (16-bit) - RAM 4 KB - ROM 74 KB - Peso 32 kg - </a:t>
            </a:r>
            <a:r>
              <a:rPr lang="en-US" sz="4200" b="1" err="1">
                <a:solidFill>
                  <a:srgbClr val="FFFFFF"/>
                </a:solidFill>
                <a:latin typeface="Aptos"/>
              </a:rPr>
              <a:t>Consumo</a:t>
            </a:r>
            <a:r>
              <a:rPr lang="en-US" sz="4200" b="1">
                <a:solidFill>
                  <a:srgbClr val="FFFFFF"/>
                </a:solidFill>
                <a:latin typeface="Aptos"/>
              </a:rPr>
              <a:t> 55W</a:t>
            </a:r>
            <a:endParaRPr lang="it-IT" sz="4200" b="1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7" name="Picture 6" descr="Apollo Guidance Computer - Wikipedia">
            <a:extLst>
              <a:ext uri="{FF2B5EF4-FFF2-40B4-BE49-F238E27FC236}">
                <a16:creationId xmlns:a16="http://schemas.microsoft.com/office/drawing/2014/main" id="{2F155F8D-0F5F-04F8-703A-077B4D0ED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57" y="4224899"/>
            <a:ext cx="5156387" cy="3539070"/>
          </a:xfrm>
          <a:prstGeom prst="rect">
            <a:avLst/>
          </a:prstGeom>
        </p:spPr>
      </p:pic>
      <p:pic>
        <p:nvPicPr>
          <p:cNvPr id="17" name="Picture 16" descr="This Tiny Computer Took Humans to the Moon 😳🚀">
            <a:extLst>
              <a:ext uri="{FF2B5EF4-FFF2-40B4-BE49-F238E27FC236}">
                <a16:creationId xmlns:a16="http://schemas.microsoft.com/office/drawing/2014/main" id="{10348A80-E472-7574-8BE6-75B86E4175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253" b="16172"/>
          <a:stretch>
            <a:fillRect/>
          </a:stretch>
        </p:blipFill>
        <p:spPr>
          <a:xfrm>
            <a:off x="11768905" y="3882086"/>
            <a:ext cx="6224940" cy="4538014"/>
          </a:xfrm>
          <a:prstGeom prst="rect">
            <a:avLst/>
          </a:prstGeom>
        </p:spPr>
      </p:pic>
      <p:pic>
        <p:nvPicPr>
          <p:cNvPr id="24" name="Picture 23" descr="Online Apollo Guidance Computer Simulator">
            <a:extLst>
              <a:ext uri="{FF2B5EF4-FFF2-40B4-BE49-F238E27FC236}">
                <a16:creationId xmlns:a16="http://schemas.microsoft.com/office/drawing/2014/main" id="{00165843-AD9A-4805-7C27-5E6C558DF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85" y="3963457"/>
            <a:ext cx="5969492" cy="422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035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18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BD9A98C-BEA4-4C16-A34F-5112AD32EEF4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A57DF-085D-4D00-8A70-B2A963A8D62F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it-IT" sz="8600" b="1" err="1">
                <a:solidFill>
                  <a:srgbClr val="000000"/>
                </a:solidFill>
                <a:latin typeface="Montserrat 2 Medium"/>
              </a:rPr>
              <a:t>Estimation</a:t>
            </a:r>
            <a:endParaRPr lang="it-IT" sz="8600" b="1">
              <a:solidFill>
                <a:srgbClr val="000000"/>
              </a:solidFill>
              <a:latin typeface="Montserrat 2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1A31F-B3FD-4E14-9B5A-35C18947B724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924" b="1">
                <a:solidFill>
                  <a:srgbClr val="FF5A00"/>
                </a:solidFill>
                <a:latin typeface="Aptos"/>
              </a:rPr>
              <a:t>AN ESTIMATE IS NOT JUST A NUMBER</a:t>
            </a:r>
            <a:endParaRPr lang="it-IT" sz="6924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C9E14D-D039-4349-AE66-74AC196CEB68}"/>
              </a:ext>
            </a:extLst>
          </p:cNvPr>
          <p:cNvSpPr/>
          <p:nvPr/>
        </p:nvSpPr>
        <p:spPr>
          <a:xfrm>
            <a:off x="1143000" y="3810000"/>
            <a:ext cx="6477000" cy="3810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807C06-7B2A-4724-9958-C87F5DC6C46D}"/>
              </a:ext>
            </a:extLst>
          </p:cNvPr>
          <p:cNvSpPr/>
          <p:nvPr/>
        </p:nvSpPr>
        <p:spPr>
          <a:xfrm>
            <a:off x="1143000" y="3810000"/>
            <a:ext cx="6477000" cy="1270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5492D8-C037-4887-829C-43E5D9F8A8AA}"/>
                  </a:ext>
                </a:extLst>
              </p:cNvPr>
              <p:cNvSpPr txBox="1"/>
              <p:nvPr/>
            </p:nvSpPr>
            <p:spPr>
              <a:xfrm>
                <a:off x="2476500" y="4607004"/>
                <a:ext cx="3810000" cy="110799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it-IT" sz="6600" b="1">
                              <a:solidFill>
                                <a:srgbClr val="FF5A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sz="6600" b="1">
                              <a:solidFill>
                                <a:srgbClr val="FF5A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5492D8-C037-4887-829C-43E5D9F8A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0" y="4607004"/>
                <a:ext cx="3810000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3815AEB-396E-4E15-9A1E-213BC45AE8A9}"/>
              </a:ext>
            </a:extLst>
          </p:cNvPr>
          <p:cNvSpPr txBox="1"/>
          <p:nvPr/>
        </p:nvSpPr>
        <p:spPr>
          <a:xfrm>
            <a:off x="1714500" y="6286500"/>
            <a:ext cx="5334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3500" b="1">
                <a:solidFill>
                  <a:srgbClr val="0B2D45"/>
                </a:solidFill>
                <a:latin typeface="Aptos"/>
              </a:rPr>
              <a:t>best </a:t>
            </a:r>
            <a:r>
              <a:rPr lang="it-IT" sz="3500" b="1" err="1">
                <a:solidFill>
                  <a:srgbClr val="0B2D45"/>
                </a:solidFill>
                <a:latin typeface="Aptos"/>
              </a:rPr>
              <a:t>current</a:t>
            </a:r>
            <a:r>
              <a:rPr lang="it-IT" sz="3500" b="1">
                <a:solidFill>
                  <a:srgbClr val="0B2D45"/>
                </a:solidFill>
                <a:latin typeface="Aptos"/>
              </a:rPr>
              <a:t> state estimate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20EE67-BE60-4177-9667-5C70465D9C04}"/>
              </a:ext>
            </a:extLst>
          </p:cNvPr>
          <p:cNvSpPr/>
          <p:nvPr/>
        </p:nvSpPr>
        <p:spPr>
          <a:xfrm>
            <a:off x="10668000" y="3647996"/>
            <a:ext cx="6477000" cy="3810000"/>
          </a:xfrm>
          <a:prstGeom prst="rect">
            <a:avLst/>
          </a:prstGeom>
          <a:solidFill>
            <a:srgbClr val="173F5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F98BFB-4A1A-492F-ADB7-6EA6B9EC953D}"/>
              </a:ext>
            </a:extLst>
          </p:cNvPr>
          <p:cNvSpPr/>
          <p:nvPr/>
        </p:nvSpPr>
        <p:spPr>
          <a:xfrm>
            <a:off x="10668000" y="3810000"/>
            <a:ext cx="6477000" cy="1270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D4619B-4D62-436B-9992-8DE9BFA01651}"/>
              </a:ext>
            </a:extLst>
          </p:cNvPr>
          <p:cNvSpPr txBox="1"/>
          <p:nvPr/>
        </p:nvSpPr>
        <p:spPr>
          <a:xfrm>
            <a:off x="11155175" y="6132552"/>
            <a:ext cx="5715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>
                <a:solidFill>
                  <a:srgbClr val="FFFFFF"/>
                </a:solidFill>
                <a:latin typeface="Aptos"/>
              </a:rPr>
              <a:t>covariance / uncertainty associated with the estimate</a:t>
            </a:r>
            <a:endParaRPr lang="it-IT" sz="3500">
              <a:solidFill>
                <a:srgbClr val="FFFFFF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5CCF95-8E8F-8299-B217-7EF6D7649841}"/>
                  </a:ext>
                </a:extLst>
              </p:cNvPr>
              <p:cNvSpPr txBox="1"/>
              <p:nvPr/>
            </p:nvSpPr>
            <p:spPr>
              <a:xfrm>
                <a:off x="12107675" y="4617199"/>
                <a:ext cx="3810000" cy="11346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it-IT" sz="6600" b="1" i="1" smtClean="0">
                              <a:solidFill>
                                <a:srgbClr val="FF5A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6600" b="1" i="1" smtClean="0">
                              <a:solidFill>
                                <a:srgbClr val="FF5A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5CCF95-8E8F-8299-B217-7EF6D7649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7675" y="4617199"/>
                <a:ext cx="3810000" cy="11346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091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4BAD8-ADBF-52F4-5A1F-D80B85FA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>
            <a:extLst>
              <a:ext uri="{FF2B5EF4-FFF2-40B4-BE49-F238E27FC236}">
                <a16:creationId xmlns:a16="http://schemas.microsoft.com/office/drawing/2014/main" id="{E8A8AE39-D141-4330-2919-C515720AE43D}"/>
              </a:ext>
            </a:extLst>
          </p:cNvPr>
          <p:cNvGrpSpPr/>
          <p:nvPr/>
        </p:nvGrpSpPr>
        <p:grpSpPr>
          <a:xfrm>
            <a:off x="0" y="38100"/>
            <a:ext cx="18288000" cy="10287000"/>
            <a:chOff x="0" y="0"/>
            <a:chExt cx="24384000" cy="13716000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C165047A-B4B6-8091-4B34-083AADDDC26E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A893C8D-FBE7-715B-BF3C-14AAE4B7E55E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8E778-AF94-B92A-D400-E49B0F981E47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85009F-C125-5885-321A-44B1D0EA1E46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924" b="1">
                <a:solidFill>
                  <a:srgbClr val="FF5A00"/>
                </a:solidFill>
                <a:latin typeface="Aptos"/>
              </a:rPr>
              <a:t>AN ESTIMATE IS NOT JUST A NUMBER</a:t>
            </a:r>
            <a:endParaRPr lang="it-IT" sz="6924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9DD26A-287F-4C5E-A10E-6F465ECFF3D3}"/>
              </a:ext>
            </a:extLst>
          </p:cNvPr>
          <p:cNvSpPr/>
          <p:nvPr/>
        </p:nvSpPr>
        <p:spPr>
          <a:xfrm>
            <a:off x="1143000" y="3810000"/>
            <a:ext cx="6477000" cy="3810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A0CD8-956B-45CF-2997-939E55B1E6F1}"/>
              </a:ext>
            </a:extLst>
          </p:cNvPr>
          <p:cNvSpPr/>
          <p:nvPr/>
        </p:nvSpPr>
        <p:spPr>
          <a:xfrm>
            <a:off x="1143000" y="3810000"/>
            <a:ext cx="6477000" cy="1270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E360D4-6B10-11BD-C254-535A585F01CE}"/>
                  </a:ext>
                </a:extLst>
              </p:cNvPr>
              <p:cNvSpPr txBox="1"/>
              <p:nvPr/>
            </p:nvSpPr>
            <p:spPr>
              <a:xfrm>
                <a:off x="2476500" y="4607004"/>
                <a:ext cx="3810000" cy="110799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it-IT" sz="6600" b="1">
                              <a:solidFill>
                                <a:srgbClr val="FF5A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sz="6600" b="1">
                              <a:solidFill>
                                <a:srgbClr val="FF5A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E360D4-6B10-11BD-C254-535A585F0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0" y="4607004"/>
                <a:ext cx="3810000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6B1947F-68FC-0760-93E9-6B2B927385B4}"/>
              </a:ext>
            </a:extLst>
          </p:cNvPr>
          <p:cNvSpPr txBox="1"/>
          <p:nvPr/>
        </p:nvSpPr>
        <p:spPr>
          <a:xfrm>
            <a:off x="1714500" y="6286500"/>
            <a:ext cx="5334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3500" b="1">
                <a:solidFill>
                  <a:srgbClr val="0B2D45"/>
                </a:solidFill>
                <a:latin typeface="Aptos"/>
              </a:rPr>
              <a:t>best </a:t>
            </a:r>
            <a:r>
              <a:rPr lang="it-IT" sz="3500" b="1" err="1">
                <a:solidFill>
                  <a:srgbClr val="0B2D45"/>
                </a:solidFill>
                <a:latin typeface="Aptos"/>
              </a:rPr>
              <a:t>current</a:t>
            </a:r>
            <a:r>
              <a:rPr lang="it-IT" sz="3500" b="1">
                <a:solidFill>
                  <a:srgbClr val="0B2D45"/>
                </a:solidFill>
                <a:latin typeface="Aptos"/>
              </a:rPr>
              <a:t> state estimate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3081D3-D6FC-BC72-520E-FB8EFDCB8C05}"/>
              </a:ext>
            </a:extLst>
          </p:cNvPr>
          <p:cNvSpPr/>
          <p:nvPr/>
        </p:nvSpPr>
        <p:spPr>
          <a:xfrm>
            <a:off x="10668000" y="3647996"/>
            <a:ext cx="6477000" cy="3810000"/>
          </a:xfrm>
          <a:prstGeom prst="rect">
            <a:avLst/>
          </a:prstGeom>
          <a:solidFill>
            <a:srgbClr val="173F5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6ADA5-DF3E-B263-F897-DB963F5EB981}"/>
              </a:ext>
            </a:extLst>
          </p:cNvPr>
          <p:cNvSpPr/>
          <p:nvPr/>
        </p:nvSpPr>
        <p:spPr>
          <a:xfrm>
            <a:off x="10668000" y="3810000"/>
            <a:ext cx="6477000" cy="1270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0092B0-F64B-2450-204C-8CC966214193}"/>
              </a:ext>
            </a:extLst>
          </p:cNvPr>
          <p:cNvSpPr txBox="1"/>
          <p:nvPr/>
        </p:nvSpPr>
        <p:spPr>
          <a:xfrm>
            <a:off x="11155175" y="6132552"/>
            <a:ext cx="5715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>
                <a:solidFill>
                  <a:srgbClr val="FFFFFF"/>
                </a:solidFill>
                <a:latin typeface="Aptos"/>
              </a:rPr>
              <a:t>covariance / uncertainty associated with the estimate</a:t>
            </a:r>
            <a:endParaRPr lang="it-IT" sz="3500">
              <a:solidFill>
                <a:srgbClr val="FFFFFF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70B5AD-C591-45BD-EFCD-1FD46AE5D1A5}"/>
                  </a:ext>
                </a:extLst>
              </p:cNvPr>
              <p:cNvSpPr txBox="1"/>
              <p:nvPr/>
            </p:nvSpPr>
            <p:spPr>
              <a:xfrm>
                <a:off x="12107675" y="4617199"/>
                <a:ext cx="3810000" cy="11346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it-IT" sz="6600" b="1" i="1" smtClean="0">
                              <a:solidFill>
                                <a:srgbClr val="FF5A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6600" b="1" i="1" smtClean="0">
                              <a:solidFill>
                                <a:srgbClr val="FF5A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70B5AD-C591-45BD-EFCD-1FD46AE5D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7675" y="4617199"/>
                <a:ext cx="3810000" cy="11346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Orbital Prediction Error Propagation of Space Objects | Springer Nature Link">
            <a:extLst>
              <a:ext uri="{FF2B5EF4-FFF2-40B4-BE49-F238E27FC236}">
                <a16:creationId xmlns:a16="http://schemas.microsoft.com/office/drawing/2014/main" id="{C4A0E33B-E0C9-F0DC-46C0-05E95EEB98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949" y="6141091"/>
            <a:ext cx="5715000" cy="379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311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6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CC36802-9BF8-4FEE-817E-3B46C3145C33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CDCCC3-CB0A-4284-B18E-490F6410E6E6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BBE05-B07A-404E-BE01-79E4369C2F8B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924" b="1">
                <a:solidFill>
                  <a:srgbClr val="FF5A00"/>
                </a:solidFill>
                <a:latin typeface="Aptos"/>
              </a:rPr>
              <a:t>THE KALMAN FILTER IN TWO VERBS</a:t>
            </a:r>
            <a:endParaRPr lang="it-IT" sz="6924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5E00D7-25B1-4F0F-9248-F4A0D824BE77}"/>
              </a:ext>
            </a:extLst>
          </p:cNvPr>
          <p:cNvSpPr/>
          <p:nvPr/>
        </p:nvSpPr>
        <p:spPr>
          <a:xfrm>
            <a:off x="952500" y="4000500"/>
            <a:ext cx="30480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A2F2C2-387E-4640-9889-824A0AF65CA0}"/>
              </a:ext>
            </a:extLst>
          </p:cNvPr>
          <p:cNvSpPr/>
          <p:nvPr/>
        </p:nvSpPr>
        <p:spPr>
          <a:xfrm>
            <a:off x="952500" y="4000500"/>
            <a:ext cx="3048000" cy="1270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EAC74C-19B7-446C-9CD8-889C8BA7A99D}"/>
              </a:ext>
            </a:extLst>
          </p:cNvPr>
          <p:cNvSpPr txBox="1"/>
          <p:nvPr/>
        </p:nvSpPr>
        <p:spPr>
          <a:xfrm>
            <a:off x="952500" y="4419600"/>
            <a:ext cx="304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PREDICT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88AC6A-4B23-4684-BC07-14F6F25856A4}"/>
              </a:ext>
            </a:extLst>
          </p:cNvPr>
          <p:cNvSpPr txBox="1"/>
          <p:nvPr/>
        </p:nvSpPr>
        <p:spPr>
          <a:xfrm>
            <a:off x="952500" y="52197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400" b="1">
                <a:solidFill>
                  <a:srgbClr val="FF5A00"/>
                </a:solidFill>
                <a:latin typeface="Aptos"/>
              </a:rPr>
              <a:t>MODEL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88DD68B-E10E-48EB-AEF3-FA08865E2DF4}"/>
              </a:ext>
            </a:extLst>
          </p:cNvPr>
          <p:cNvSpPr/>
          <p:nvPr/>
        </p:nvSpPr>
        <p:spPr>
          <a:xfrm>
            <a:off x="4191000" y="4648200"/>
            <a:ext cx="762000" cy="5334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1D467A-2260-497A-8B97-2ABD5CF94E0A}"/>
              </a:ext>
            </a:extLst>
          </p:cNvPr>
          <p:cNvSpPr/>
          <p:nvPr/>
        </p:nvSpPr>
        <p:spPr>
          <a:xfrm>
            <a:off x="5334000" y="4000500"/>
            <a:ext cx="30480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4A8880-26EF-45FD-A3A1-4021D8C7311F}"/>
              </a:ext>
            </a:extLst>
          </p:cNvPr>
          <p:cNvSpPr/>
          <p:nvPr/>
        </p:nvSpPr>
        <p:spPr>
          <a:xfrm>
            <a:off x="5334000" y="4000500"/>
            <a:ext cx="3048000" cy="1270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823DA1-6D91-4FC3-80A4-EA6DC373F193}"/>
              </a:ext>
            </a:extLst>
          </p:cNvPr>
          <p:cNvSpPr txBox="1"/>
          <p:nvPr/>
        </p:nvSpPr>
        <p:spPr>
          <a:xfrm>
            <a:off x="5334000" y="4419600"/>
            <a:ext cx="304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CORRECT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399352-A22C-467D-A7B5-5772BF3C0BE5}"/>
              </a:ext>
            </a:extLst>
          </p:cNvPr>
          <p:cNvSpPr txBox="1"/>
          <p:nvPr/>
        </p:nvSpPr>
        <p:spPr>
          <a:xfrm>
            <a:off x="5334000" y="5219700"/>
            <a:ext cx="3048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400" b="1">
                <a:solidFill>
                  <a:srgbClr val="FF5A00"/>
                </a:solidFill>
                <a:latin typeface="Aptos"/>
              </a:rPr>
              <a:t>MEASUREMENT MODEL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FD97BBA-092C-4359-8568-8988E3E2AE83}"/>
              </a:ext>
            </a:extLst>
          </p:cNvPr>
          <p:cNvSpPr/>
          <p:nvPr/>
        </p:nvSpPr>
        <p:spPr>
          <a:xfrm>
            <a:off x="8572500" y="4648200"/>
            <a:ext cx="762000" cy="5334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1CD2BE-06DC-44DE-B56A-AF5D2604D114}"/>
              </a:ext>
            </a:extLst>
          </p:cNvPr>
          <p:cNvSpPr/>
          <p:nvPr/>
        </p:nvSpPr>
        <p:spPr>
          <a:xfrm>
            <a:off x="9715500" y="4000500"/>
            <a:ext cx="30480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16E2EA-D8B3-4B98-8D1A-4E79F3003A2E}"/>
              </a:ext>
            </a:extLst>
          </p:cNvPr>
          <p:cNvSpPr/>
          <p:nvPr/>
        </p:nvSpPr>
        <p:spPr>
          <a:xfrm>
            <a:off x="9715500" y="4000500"/>
            <a:ext cx="3048000" cy="1270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38ED6C-65D3-4F2C-9526-DB4F35EFCCA1}"/>
              </a:ext>
            </a:extLst>
          </p:cNvPr>
          <p:cNvSpPr txBox="1"/>
          <p:nvPr/>
        </p:nvSpPr>
        <p:spPr>
          <a:xfrm>
            <a:off x="9715500" y="4419600"/>
            <a:ext cx="304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PREDICT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001E07-9731-49FC-A605-30B183911FC9}"/>
              </a:ext>
            </a:extLst>
          </p:cNvPr>
          <p:cNvSpPr txBox="1"/>
          <p:nvPr/>
        </p:nvSpPr>
        <p:spPr>
          <a:xfrm>
            <a:off x="9715500" y="52197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400" b="1">
                <a:solidFill>
                  <a:srgbClr val="FF5A00"/>
                </a:solidFill>
                <a:latin typeface="Aptos"/>
              </a:rPr>
              <a:t>MODEL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98E63FE-739B-4447-88E1-4128337DE6B1}"/>
              </a:ext>
            </a:extLst>
          </p:cNvPr>
          <p:cNvSpPr/>
          <p:nvPr/>
        </p:nvSpPr>
        <p:spPr>
          <a:xfrm>
            <a:off x="12954000" y="4648200"/>
            <a:ext cx="762000" cy="5334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C40B1D-7A05-4EAE-B6B1-39FB074F58D8}"/>
              </a:ext>
            </a:extLst>
          </p:cNvPr>
          <p:cNvSpPr/>
          <p:nvPr/>
        </p:nvSpPr>
        <p:spPr>
          <a:xfrm>
            <a:off x="14097000" y="4000500"/>
            <a:ext cx="30480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E28F33E-6661-4A5A-ACA5-B916884A89D3}"/>
              </a:ext>
            </a:extLst>
          </p:cNvPr>
          <p:cNvSpPr/>
          <p:nvPr/>
        </p:nvSpPr>
        <p:spPr>
          <a:xfrm>
            <a:off x="14097000" y="4000500"/>
            <a:ext cx="3048000" cy="1270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BCE2B5-2E26-4FB7-AF9A-7021D4730B96}"/>
              </a:ext>
            </a:extLst>
          </p:cNvPr>
          <p:cNvSpPr txBox="1"/>
          <p:nvPr/>
        </p:nvSpPr>
        <p:spPr>
          <a:xfrm>
            <a:off x="14097000" y="4419600"/>
            <a:ext cx="304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CORRECT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037C1F-C40B-424C-A2F1-147FDE5A67A8}"/>
              </a:ext>
            </a:extLst>
          </p:cNvPr>
          <p:cNvSpPr txBox="1"/>
          <p:nvPr/>
        </p:nvSpPr>
        <p:spPr>
          <a:xfrm>
            <a:off x="14097000" y="5219700"/>
            <a:ext cx="3048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400" b="1">
                <a:solidFill>
                  <a:srgbClr val="FF5A00"/>
                </a:solidFill>
                <a:latin typeface="Aptos"/>
              </a:rPr>
              <a:t>MEASUREMENT MODEL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4ED01E-06C4-4FF6-BF93-5F7120598118}"/>
              </a:ext>
            </a:extLst>
          </p:cNvPr>
          <p:cNvSpPr txBox="1"/>
          <p:nvPr/>
        </p:nvSpPr>
        <p:spPr>
          <a:xfrm>
            <a:off x="1619250" y="8317024"/>
            <a:ext cx="1485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 b="1">
                <a:solidFill>
                  <a:srgbClr val="FFFFFF"/>
                </a:solidFill>
                <a:latin typeface="Aptos"/>
              </a:rPr>
              <a:t>If prediction and measurement disagree, who wins?</a:t>
            </a:r>
            <a:endParaRPr lang="it-IT" sz="3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15D114-65F6-45CD-B2F9-661E4009AAD8}"/>
              </a:ext>
            </a:extLst>
          </p:cNvPr>
          <p:cNvSpPr txBox="1"/>
          <p:nvPr/>
        </p:nvSpPr>
        <p:spPr>
          <a:xfrm>
            <a:off x="3943350" y="8899058"/>
            <a:ext cx="4572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3500" b="1">
                <a:solidFill>
                  <a:srgbClr val="FF5A00"/>
                </a:solidFill>
                <a:latin typeface="Aptos"/>
              </a:rPr>
              <a:t>Neither </a:t>
            </a:r>
            <a:r>
              <a:rPr lang="it-IT" sz="3500" b="1" err="1">
                <a:solidFill>
                  <a:srgbClr val="FF5A00"/>
                </a:solidFill>
                <a:latin typeface="Aptos"/>
              </a:rPr>
              <a:t>automatically</a:t>
            </a:r>
            <a:r>
              <a:rPr lang="it-IT" sz="3500" b="1">
                <a:solidFill>
                  <a:srgbClr val="FF5A00"/>
                </a:solidFill>
                <a:latin typeface="Aptos"/>
              </a:rPr>
              <a:t>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AEC650-2C43-4EA3-A5F7-045143667768}"/>
              </a:ext>
            </a:extLst>
          </p:cNvPr>
          <p:cNvSpPr txBox="1"/>
          <p:nvPr/>
        </p:nvSpPr>
        <p:spPr>
          <a:xfrm>
            <a:off x="8953500" y="8899058"/>
            <a:ext cx="762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 b="1">
                <a:solidFill>
                  <a:srgbClr val="A7D867"/>
                </a:solidFill>
                <a:latin typeface="Aptos"/>
              </a:rPr>
              <a:t>The less uncertain information gets more authority.</a:t>
            </a:r>
            <a:endParaRPr lang="it-IT" sz="3500" b="1">
              <a:solidFill>
                <a:srgbClr val="A7D867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332B5C-DCC7-2FBB-21E7-425202B4F40A}"/>
                  </a:ext>
                </a:extLst>
              </p:cNvPr>
              <p:cNvSpPr txBox="1"/>
              <p:nvPr/>
            </p:nvSpPr>
            <p:spPr>
              <a:xfrm>
                <a:off x="1619250" y="4988004"/>
                <a:ext cx="3810000" cy="110799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6600" b="1" i="1" smtClean="0">
                          <a:solidFill>
                            <a:srgbClr val="FF5A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1332B5C-DCC7-2FBB-21E7-425202B4F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50" y="4988004"/>
                <a:ext cx="3810000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BB0FCB-80E5-D662-AA94-C0554CE0E358}"/>
                  </a:ext>
                </a:extLst>
              </p:cNvPr>
              <p:cNvSpPr txBox="1"/>
              <p:nvPr/>
            </p:nvSpPr>
            <p:spPr>
              <a:xfrm>
                <a:off x="10287000" y="4997770"/>
                <a:ext cx="3810000" cy="110799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6600" b="1" i="1" smtClean="0">
                          <a:solidFill>
                            <a:srgbClr val="FF5A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BB0FCB-80E5-D662-AA94-C0554CE0E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4997770"/>
                <a:ext cx="3810000" cy="1107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430EDF3-3D68-3E4B-60FD-9448384A7D45}"/>
                  </a:ext>
                </a:extLst>
              </p:cNvPr>
              <p:cNvSpPr txBox="1"/>
              <p:nvPr/>
            </p:nvSpPr>
            <p:spPr>
              <a:xfrm>
                <a:off x="5953125" y="4943554"/>
                <a:ext cx="3810000" cy="110799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6600" b="1" i="1" smtClean="0">
                          <a:solidFill>
                            <a:srgbClr val="FF5A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430EDF3-3D68-3E4B-60FD-9448384A7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25" y="4943554"/>
                <a:ext cx="3810000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012D29-C754-4C9D-1C98-FAD3B0FB199E}"/>
                  </a:ext>
                </a:extLst>
              </p:cNvPr>
              <p:cNvSpPr txBox="1"/>
              <p:nvPr/>
            </p:nvSpPr>
            <p:spPr>
              <a:xfrm>
                <a:off x="14805212" y="4914900"/>
                <a:ext cx="3810000" cy="110799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6600" b="1" i="1" smtClean="0">
                          <a:solidFill>
                            <a:srgbClr val="FF5A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012D29-C754-4C9D-1C98-FAD3B0FB1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5212" y="4914900"/>
                <a:ext cx="3810000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18E3848D-2596-EADB-C1A5-DE3819008596}"/>
              </a:ext>
            </a:extLst>
          </p:cNvPr>
          <p:cNvSpPr/>
          <p:nvPr/>
        </p:nvSpPr>
        <p:spPr>
          <a:xfrm>
            <a:off x="1862488" y="6096802"/>
            <a:ext cx="30480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155F48-2627-61A0-617C-11C1208EFFCA}"/>
              </a:ext>
            </a:extLst>
          </p:cNvPr>
          <p:cNvSpPr/>
          <p:nvPr/>
        </p:nvSpPr>
        <p:spPr>
          <a:xfrm>
            <a:off x="1862488" y="6096802"/>
            <a:ext cx="3048000" cy="127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63E6DAA4-6E10-4B85-F3DF-A7CFE5C5A26F}"/>
              </a:ext>
            </a:extLst>
          </p:cNvPr>
          <p:cNvSpPr/>
          <p:nvPr/>
        </p:nvSpPr>
        <p:spPr>
          <a:xfrm rot="19745690">
            <a:off x="4463355" y="5400754"/>
            <a:ext cx="762000" cy="5334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45A7A4-CEE2-9A96-5622-717A204BBD84}"/>
              </a:ext>
            </a:extLst>
          </p:cNvPr>
          <p:cNvSpPr txBox="1"/>
          <p:nvPr/>
        </p:nvSpPr>
        <p:spPr>
          <a:xfrm>
            <a:off x="1857846" y="6415471"/>
            <a:ext cx="3048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MEASUREMENT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64713E-0331-D9C5-EC7B-53065B36943D}"/>
              </a:ext>
            </a:extLst>
          </p:cNvPr>
          <p:cNvSpPr/>
          <p:nvPr/>
        </p:nvSpPr>
        <p:spPr>
          <a:xfrm>
            <a:off x="10505657" y="6124861"/>
            <a:ext cx="30480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B92C78C-24A0-766C-3BB4-F35238A83B73}"/>
              </a:ext>
            </a:extLst>
          </p:cNvPr>
          <p:cNvSpPr/>
          <p:nvPr/>
        </p:nvSpPr>
        <p:spPr>
          <a:xfrm>
            <a:off x="10505657" y="6124861"/>
            <a:ext cx="3048000" cy="127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0CF9BA35-9F5A-052C-C805-0EEBC2EB370F}"/>
              </a:ext>
            </a:extLst>
          </p:cNvPr>
          <p:cNvSpPr/>
          <p:nvPr/>
        </p:nvSpPr>
        <p:spPr>
          <a:xfrm rot="19745690">
            <a:off x="13106524" y="5428813"/>
            <a:ext cx="762000" cy="5334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61AE46-6338-0089-E966-25642923A2AB}"/>
              </a:ext>
            </a:extLst>
          </p:cNvPr>
          <p:cNvSpPr txBox="1"/>
          <p:nvPr/>
        </p:nvSpPr>
        <p:spPr>
          <a:xfrm>
            <a:off x="10501015" y="6443530"/>
            <a:ext cx="3048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2A5CA0D-4F25-ED04-D31E-1C0407FF669E}"/>
                  </a:ext>
                </a:extLst>
              </p:cNvPr>
              <p:cNvSpPr txBox="1"/>
              <p:nvPr/>
            </p:nvSpPr>
            <p:spPr>
              <a:xfrm>
                <a:off x="2419350" y="6962478"/>
                <a:ext cx="3810000" cy="110799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6600" b="1" i="1" smtClean="0">
                          <a:solidFill>
                            <a:srgbClr val="FF5A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2A5CA0D-4F25-ED04-D31E-1C0407FF6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350" y="6962478"/>
                <a:ext cx="3810000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C989A53-F7AA-21CF-F6EB-526A095C0A45}"/>
                  </a:ext>
                </a:extLst>
              </p:cNvPr>
              <p:cNvSpPr txBox="1"/>
              <p:nvPr/>
            </p:nvSpPr>
            <p:spPr>
              <a:xfrm>
                <a:off x="11240060" y="7043867"/>
                <a:ext cx="3810000" cy="110799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6600" b="1" i="1" smtClean="0">
                          <a:solidFill>
                            <a:srgbClr val="FF5A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C989A53-F7AA-21CF-F6EB-526A095C0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0060" y="7043867"/>
                <a:ext cx="3810000" cy="11079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5236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2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42EE6B2-5174-4323-B122-2CDE7F26F190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E7097-FF38-4CD5-9C86-0544537F9DEB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B0EF1-8D9C-4580-BE0A-1E3028C4BB89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PREDICT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561CAC-F299-4845-948E-59145F9945D9}"/>
                  </a:ext>
                </a:extLst>
              </p:cNvPr>
              <p:cNvSpPr txBox="1"/>
              <p:nvPr/>
            </p:nvSpPr>
            <p:spPr>
              <a:xfrm>
                <a:off x="1524000" y="3429000"/>
                <a:ext cx="7048500" cy="8001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it-IT" sz="4400" b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sz="4400" b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x</m:t>
                          </m:r>
                        </m:e>
                      </m:acc>
                      <m: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ₖ⁻ = </m:t>
                      </m:r>
                      <m:r>
                        <m:rPr>
                          <m:sty m:val="p"/>
                        </m:rP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F</m:t>
                      </m:r>
                      <m: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it-IT" sz="4400" b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sz="4400" b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x</m:t>
                          </m:r>
                        </m:e>
                      </m:acc>
                      <m: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ₖ₋₁⁺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561CAC-F299-4845-948E-59145F994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429000"/>
                <a:ext cx="7048500" cy="800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D32D30-41A4-415C-B537-B54FFD76BF90}"/>
                  </a:ext>
                </a:extLst>
              </p:cNvPr>
              <p:cNvSpPr txBox="1"/>
              <p:nvPr/>
            </p:nvSpPr>
            <p:spPr>
              <a:xfrm>
                <a:off x="9715500" y="3429000"/>
                <a:ext cx="7048500" cy="8001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P</m:t>
                      </m:r>
                      <m: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ₖ⁻ = </m:t>
                      </m:r>
                      <m:r>
                        <m:rPr>
                          <m:sty m:val="p"/>
                        </m:rP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F</m:t>
                      </m:r>
                      <m: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P</m:t>
                      </m:r>
                      <m: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ₖ₋₁⁺ </m:t>
                      </m:r>
                      <m:r>
                        <m:rPr>
                          <m:sty m:val="p"/>
                        </m:rP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F</m:t>
                      </m:r>
                      <m: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ᵀ + </m:t>
                      </m:r>
                      <m:r>
                        <m:rPr>
                          <m:sty m:val="p"/>
                        </m:rPr>
                        <a:rPr lang="it-IT" sz="4400" b="1">
                          <a:solidFill>
                            <a:srgbClr val="FFFFFF"/>
                          </a:solidFill>
                          <a:latin typeface="Cambria Math"/>
                        </a:rPr>
                        <m:t>Q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D32D30-41A4-415C-B537-B54FFD76B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0" y="3429000"/>
                <a:ext cx="7048500" cy="800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E156A0E5-AC61-4130-96A2-DF7BB9DF69F6}"/>
              </a:ext>
            </a:extLst>
          </p:cNvPr>
          <p:cNvSpPr/>
          <p:nvPr/>
        </p:nvSpPr>
        <p:spPr>
          <a:xfrm>
            <a:off x="952500" y="4953000"/>
            <a:ext cx="4572000" cy="3556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23251C-36D0-4CB2-B398-93DD73FE5F6D}"/>
              </a:ext>
            </a:extLst>
          </p:cNvPr>
          <p:cNvSpPr/>
          <p:nvPr/>
        </p:nvSpPr>
        <p:spPr>
          <a:xfrm>
            <a:off x="952500" y="4953000"/>
            <a:ext cx="4572000" cy="1270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83909F-173F-4561-9D8A-48E54968A2D3}"/>
              </a:ext>
            </a:extLst>
          </p:cNvPr>
          <p:cNvSpPr txBox="1"/>
          <p:nvPr/>
        </p:nvSpPr>
        <p:spPr>
          <a:xfrm>
            <a:off x="1238250" y="5410200"/>
            <a:ext cx="40005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3000" b="1">
                <a:solidFill>
                  <a:srgbClr val="0B2D45"/>
                </a:solidFill>
                <a:latin typeface="Aptos"/>
              </a:rPr>
              <a:t>STATE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E8D2F5-B5F3-41FF-87F4-FE1CC98339F1}"/>
              </a:ext>
            </a:extLst>
          </p:cNvPr>
          <p:cNvSpPr txBox="1"/>
          <p:nvPr/>
        </p:nvSpPr>
        <p:spPr>
          <a:xfrm>
            <a:off x="1238250" y="6223000"/>
            <a:ext cx="4000500" cy="196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>
                <a:solidFill>
                  <a:srgbClr val="0B2D45"/>
                </a:solidFill>
                <a:latin typeface="Aptos"/>
              </a:rPr>
              <a:t>Where does the model think we moved?</a:t>
            </a:r>
            <a:endParaRPr lang="it-IT" sz="3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EA5C11-EA1A-4324-8920-75C751C486F9}"/>
              </a:ext>
            </a:extLst>
          </p:cNvPr>
          <p:cNvSpPr/>
          <p:nvPr/>
        </p:nvSpPr>
        <p:spPr>
          <a:xfrm>
            <a:off x="6858000" y="4953000"/>
            <a:ext cx="4572000" cy="3556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F5EB8C-86D2-44A3-A1EA-AFE9D8AD2358}"/>
              </a:ext>
            </a:extLst>
          </p:cNvPr>
          <p:cNvSpPr/>
          <p:nvPr/>
        </p:nvSpPr>
        <p:spPr>
          <a:xfrm>
            <a:off x="6858000" y="4953000"/>
            <a:ext cx="4572000" cy="127000"/>
          </a:xfrm>
          <a:prstGeom prst="rect">
            <a:avLst/>
          </a:prstGeom>
          <a:solidFill>
            <a:srgbClr val="78A7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A2F096-E943-4B27-9BB6-82D0CC2557DD}"/>
              </a:ext>
            </a:extLst>
          </p:cNvPr>
          <p:cNvSpPr txBox="1"/>
          <p:nvPr/>
        </p:nvSpPr>
        <p:spPr>
          <a:xfrm>
            <a:off x="7143750" y="5410200"/>
            <a:ext cx="40005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3000" b="1">
                <a:solidFill>
                  <a:srgbClr val="0B2D45"/>
                </a:solidFill>
                <a:latin typeface="Aptos"/>
              </a:rPr>
              <a:t>UNCERTAINTY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24158E-1D42-46B3-98FD-87EB908438BF}"/>
              </a:ext>
            </a:extLst>
          </p:cNvPr>
          <p:cNvSpPr txBox="1"/>
          <p:nvPr/>
        </p:nvSpPr>
        <p:spPr>
          <a:xfrm>
            <a:off x="7143750" y="6223000"/>
            <a:ext cx="4000500" cy="196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>
                <a:solidFill>
                  <a:srgbClr val="0B2D45"/>
                </a:solidFill>
                <a:latin typeface="Aptos"/>
              </a:rPr>
              <a:t>How uncertain did we become while moving?</a:t>
            </a:r>
            <a:endParaRPr lang="it-IT" sz="3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0F5899-D785-42DA-AA1F-1B59F840F2A7}"/>
              </a:ext>
            </a:extLst>
          </p:cNvPr>
          <p:cNvSpPr/>
          <p:nvPr/>
        </p:nvSpPr>
        <p:spPr>
          <a:xfrm>
            <a:off x="12763500" y="4953000"/>
            <a:ext cx="4572000" cy="3556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CA8306-8818-4398-BE60-A4AB25A7B485}"/>
              </a:ext>
            </a:extLst>
          </p:cNvPr>
          <p:cNvSpPr/>
          <p:nvPr/>
        </p:nvSpPr>
        <p:spPr>
          <a:xfrm>
            <a:off x="12763500" y="4953000"/>
            <a:ext cx="4572000" cy="1270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73D1FA-21FA-4454-AB24-7F71C3D38A13}"/>
              </a:ext>
            </a:extLst>
          </p:cNvPr>
          <p:cNvSpPr txBox="1"/>
          <p:nvPr/>
        </p:nvSpPr>
        <p:spPr>
          <a:xfrm>
            <a:off x="13049250" y="5410200"/>
            <a:ext cx="40005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3000" b="1">
                <a:solidFill>
                  <a:srgbClr val="0B2D45"/>
                </a:solidFill>
                <a:latin typeface="Aptos"/>
              </a:rPr>
              <a:t>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357F32-3715-4872-811B-8A9B4073F6B4}"/>
              </a:ext>
            </a:extLst>
          </p:cNvPr>
          <p:cNvSpPr txBox="1"/>
          <p:nvPr/>
        </p:nvSpPr>
        <p:spPr>
          <a:xfrm>
            <a:off x="13049250" y="6223000"/>
            <a:ext cx="4000500" cy="196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>
                <a:solidFill>
                  <a:srgbClr val="0B2D45"/>
                </a:solidFill>
                <a:latin typeface="Aptos"/>
              </a:rPr>
              <a:t>What uncertainty in the evolution does the model admit?</a:t>
            </a:r>
            <a:endParaRPr lang="it-IT" sz="3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A89F46-F4ED-4EDF-B527-87273198BA59}"/>
              </a:ext>
            </a:extLst>
          </p:cNvPr>
          <p:cNvSpPr txBox="1"/>
          <p:nvPr/>
        </p:nvSpPr>
        <p:spPr>
          <a:xfrm>
            <a:off x="1333500" y="8890000"/>
            <a:ext cx="156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 b="1">
                <a:solidFill>
                  <a:srgbClr val="FFFFFF"/>
                </a:solidFill>
                <a:latin typeface="Aptos"/>
              </a:rPr>
              <a:t>Prediction moves both the estimate and its uncertainty.</a:t>
            </a:r>
            <a:endParaRPr lang="it-IT" sz="3500" b="1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591837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13084AE-FB6E-4924-8F9E-47647BC5CA07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C0C4DE-F86D-46B9-BB94-B2A99F99158A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0CD789-ED42-4306-9E57-B47C1365E327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INNOVATION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5A0265C-B727-4E33-BF83-B0883C72B3C8}"/>
                  </a:ext>
                </a:extLst>
              </p:cNvPr>
              <p:cNvSpPr txBox="1"/>
              <p:nvPr/>
            </p:nvSpPr>
            <p:spPr>
              <a:xfrm>
                <a:off x="5334000" y="4152900"/>
                <a:ext cx="7620000" cy="8001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it-IT" sz="4400" b="1" smtClean="0">
                          <a:solidFill>
                            <a:srgbClr val="F5F6F7"/>
                          </a:solidFill>
                          <a:latin typeface="Cambria Math"/>
                        </a:rPr>
                        <m:t>r</m:t>
                      </m:r>
                      <m:r>
                        <a:rPr lang="it-IT" sz="4400" b="1" smtClean="0">
                          <a:solidFill>
                            <a:srgbClr val="F5F6F7"/>
                          </a:solidFill>
                          <a:latin typeface="Cambria Math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it-IT" sz="4400" b="1" smtClean="0">
                          <a:solidFill>
                            <a:srgbClr val="F5F6F7"/>
                          </a:solidFill>
                          <a:latin typeface="Cambria Math"/>
                        </a:rPr>
                        <m:t>z</m:t>
                      </m:r>
                      <m:r>
                        <a:rPr lang="it-IT" sz="4400" b="1" smtClean="0">
                          <a:solidFill>
                            <a:srgbClr val="F5F6F7"/>
                          </a:solidFill>
                          <a:latin typeface="Cambria Math"/>
                        </a:rPr>
                        <m:t> − </m:t>
                      </m:r>
                      <m:r>
                        <m:rPr>
                          <m:sty m:val="p"/>
                        </m:rPr>
                        <a:rPr lang="it-IT" sz="4400" b="1" smtClean="0">
                          <a:solidFill>
                            <a:srgbClr val="F5F6F7"/>
                          </a:solidFill>
                          <a:latin typeface="Cambria Math"/>
                        </a:rPr>
                        <m:t>h</m:t>
                      </m:r>
                      <m:r>
                        <a:rPr lang="it-IT" sz="4400" b="1" smtClean="0">
                          <a:solidFill>
                            <a:srgbClr val="F5F6F7"/>
                          </a:solidFill>
                          <a:latin typeface="Cambria Math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it-IT" sz="44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sz="44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  <m:t>x</m:t>
                          </m:r>
                        </m:e>
                      </m:acc>
                      <m:r>
                        <a:rPr lang="it-IT" sz="4400" b="1">
                          <a:solidFill>
                            <a:srgbClr val="F5F6F7"/>
                          </a:solidFill>
                          <a:latin typeface="Cambria Math"/>
                        </a:rPr>
                        <m:t>⁻)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5A0265C-B727-4E33-BF83-B0883C72B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4152900"/>
                <a:ext cx="7620000" cy="800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FCBB180-97BE-4501-B967-901AED3857CB}"/>
              </a:ext>
            </a:extLst>
          </p:cNvPr>
          <p:cNvSpPr/>
          <p:nvPr/>
        </p:nvSpPr>
        <p:spPr>
          <a:xfrm>
            <a:off x="1714500" y="6096000"/>
            <a:ext cx="6096000" cy="1524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656245-6CB9-43C9-83FA-1DD4CE4D9ABD}"/>
              </a:ext>
            </a:extLst>
          </p:cNvPr>
          <p:cNvSpPr/>
          <p:nvPr/>
        </p:nvSpPr>
        <p:spPr>
          <a:xfrm>
            <a:off x="1714500" y="6096000"/>
            <a:ext cx="6096000" cy="1143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E409F6-196F-4562-8128-245810F48ECC}"/>
              </a:ext>
            </a:extLst>
          </p:cNvPr>
          <p:cNvSpPr txBox="1"/>
          <p:nvPr/>
        </p:nvSpPr>
        <p:spPr>
          <a:xfrm>
            <a:off x="2184400" y="6502400"/>
            <a:ext cx="51562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000" b="1">
                <a:solidFill>
                  <a:srgbClr val="0B2D45"/>
                </a:solidFill>
                <a:latin typeface="Aptos"/>
              </a:rPr>
              <a:t>WHAT I MEASURED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C98702-F18A-4C45-8C35-2DBE3F4646EE}"/>
              </a:ext>
            </a:extLst>
          </p:cNvPr>
          <p:cNvSpPr txBox="1"/>
          <p:nvPr/>
        </p:nvSpPr>
        <p:spPr>
          <a:xfrm>
            <a:off x="8305800" y="6350000"/>
            <a:ext cx="16764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it-IT" sz="5000" b="1">
                <a:solidFill>
                  <a:srgbClr val="FF5A00"/>
                </a:solidFill>
                <a:latin typeface="Aptos"/>
              </a:rPr>
              <a:t>−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779752-17B6-41DD-AC91-D446E25F9710}"/>
              </a:ext>
            </a:extLst>
          </p:cNvPr>
          <p:cNvSpPr/>
          <p:nvPr/>
        </p:nvSpPr>
        <p:spPr>
          <a:xfrm>
            <a:off x="10477500" y="6096000"/>
            <a:ext cx="6096000" cy="1524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C5A73A-11A3-4CD9-9A87-A479CD74B662}"/>
              </a:ext>
            </a:extLst>
          </p:cNvPr>
          <p:cNvSpPr/>
          <p:nvPr/>
        </p:nvSpPr>
        <p:spPr>
          <a:xfrm>
            <a:off x="10477500" y="6096000"/>
            <a:ext cx="6096000" cy="1143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6F6DED-99C3-4F82-884E-163210B7E266}"/>
              </a:ext>
            </a:extLst>
          </p:cNvPr>
          <p:cNvSpPr txBox="1"/>
          <p:nvPr/>
        </p:nvSpPr>
        <p:spPr>
          <a:xfrm>
            <a:off x="10858500" y="6400800"/>
            <a:ext cx="53340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000" b="1">
                <a:solidFill>
                  <a:srgbClr val="0B2D45"/>
                </a:solidFill>
                <a:latin typeface="Aptos"/>
              </a:rPr>
              <a:t>WHAT I EXPECTED TO MEASURE</a:t>
            </a:r>
            <a:endParaRPr lang="it-IT" sz="3000" b="1">
              <a:solidFill>
                <a:srgbClr val="0B2D45"/>
              </a:solidFill>
              <a:latin typeface="Apto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102EC1-3F28-4D8D-A784-E9AD1A5C3B80}"/>
              </a:ext>
            </a:extLst>
          </p:cNvPr>
          <p:cNvSpPr txBox="1"/>
          <p:nvPr/>
        </p:nvSpPr>
        <p:spPr>
          <a:xfrm>
            <a:off x="1524000" y="8458200"/>
            <a:ext cx="15240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500" b="1">
                <a:solidFill>
                  <a:srgbClr val="F5F6F7"/>
                </a:solidFill>
                <a:latin typeface="Aptos"/>
              </a:rPr>
              <a:t>If the innovation is unexpectedly large, is the sensor wrong, the model wrong, or both?</a:t>
            </a:r>
            <a:endParaRPr lang="it-IT" sz="3500" b="1">
              <a:solidFill>
                <a:srgbClr val="F5F6F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75338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7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4AE8DD7-871A-491C-89EB-4DB7E088EDC6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3E6675-6D54-4EC2-96C6-398AA5A6B17F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0EA029-9DF2-46E9-ACFF-269914A236A6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CORRECT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BFDBFD-B502-4624-A592-A8E88023511C}"/>
                  </a:ext>
                </a:extLst>
              </p:cNvPr>
              <p:cNvSpPr txBox="1"/>
              <p:nvPr/>
            </p:nvSpPr>
            <p:spPr>
              <a:xfrm>
                <a:off x="2095500" y="3429000"/>
                <a:ext cx="14097000" cy="7239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K</m:t>
                      </m:r>
                      <m: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P</m:t>
                      </m:r>
                      <m: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⁻ </m:t>
                      </m:r>
                      <m:r>
                        <m:rPr>
                          <m:sty m:val="p"/>
                        </m:rP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H</m:t>
                      </m:r>
                      <m: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ᵀ (</m:t>
                      </m:r>
                      <m:r>
                        <m:rPr>
                          <m:sty m:val="p"/>
                        </m:rP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H</m:t>
                      </m:r>
                      <m: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P</m:t>
                      </m:r>
                      <m: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⁻ </m:t>
                      </m:r>
                      <m:r>
                        <m:rPr>
                          <m:sty m:val="p"/>
                        </m:rP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H</m:t>
                      </m:r>
                      <m: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ᵀ + </m:t>
                      </m:r>
                      <m:r>
                        <m:rPr>
                          <m:sty m:val="p"/>
                        </m:rP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R</m:t>
                      </m:r>
                      <m:r>
                        <a:rPr lang="pt-BR" sz="4400" b="1">
                          <a:solidFill>
                            <a:srgbClr val="F5F6F7"/>
                          </a:solidFill>
                          <a:latin typeface="Cambria Math"/>
                        </a:rPr>
                        <m:t>)⁻¹</m:t>
                      </m:r>
                    </m:oMath>
                  </m:oMathPara>
                </a14:m>
                <a:endParaRPr lang="it-IT" sz="4400" b="1">
                  <a:solidFill>
                    <a:srgbClr val="F5F6F7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BFDBFD-B502-4624-A592-A8E880235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3429000"/>
                <a:ext cx="14097000" cy="72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922696-91E3-4496-9FD7-BF4E731E97F5}"/>
                  </a:ext>
                </a:extLst>
              </p:cNvPr>
              <p:cNvSpPr txBox="1"/>
              <p:nvPr/>
            </p:nvSpPr>
            <p:spPr>
              <a:xfrm>
                <a:off x="4572000" y="4381500"/>
                <a:ext cx="9144000" cy="7239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it-IT" sz="44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sz="44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  <m:t>x</m:t>
                          </m:r>
                        </m:e>
                      </m:acc>
                      <m:r>
                        <a:rPr lang="it-IT" sz="4400" b="1">
                          <a:solidFill>
                            <a:srgbClr val="F5F6F7"/>
                          </a:solidFill>
                          <a:latin typeface="Cambria Math"/>
                        </a:rPr>
                        <m:t>⁺ = </m:t>
                      </m:r>
                      <m:acc>
                        <m:accPr>
                          <m:chr m:val="̂"/>
                          <m:ctrlPr>
                            <a:rPr lang="it-IT" sz="44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sz="44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  <m:t>x</m:t>
                          </m:r>
                        </m:e>
                      </m:acc>
                      <m:r>
                        <a:rPr lang="it-IT" sz="4400" b="1">
                          <a:solidFill>
                            <a:srgbClr val="F5F6F7"/>
                          </a:solidFill>
                          <a:latin typeface="Cambria Math"/>
                        </a:rPr>
                        <m:t>⁻ + </m:t>
                      </m:r>
                      <m:r>
                        <m:rPr>
                          <m:sty m:val="p"/>
                        </m:rPr>
                        <a:rPr lang="it-IT" sz="4400" b="1">
                          <a:solidFill>
                            <a:srgbClr val="F5F6F7"/>
                          </a:solidFill>
                          <a:latin typeface="Cambria Math"/>
                        </a:rPr>
                        <m:t>K</m:t>
                      </m:r>
                      <m:r>
                        <a:rPr lang="it-IT" sz="4400" b="1">
                          <a:solidFill>
                            <a:srgbClr val="F5F6F7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sz="4400" b="1">
                          <a:solidFill>
                            <a:srgbClr val="F5F6F7"/>
                          </a:solidFill>
                          <a:latin typeface="Cambria Math"/>
                        </a:rPr>
                        <m:t>r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922696-91E3-4496-9FD7-BF4E731E9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381500"/>
                <a:ext cx="9144000" cy="723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AD1655C1-74F7-43DB-859E-9669D48DE9A3}"/>
              </a:ext>
            </a:extLst>
          </p:cNvPr>
          <p:cNvSpPr/>
          <p:nvPr/>
        </p:nvSpPr>
        <p:spPr>
          <a:xfrm>
            <a:off x="1524000" y="5715000"/>
            <a:ext cx="66675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12627B-109B-4FCC-97D6-253A8C8EF04D}"/>
              </a:ext>
            </a:extLst>
          </p:cNvPr>
          <p:cNvSpPr/>
          <p:nvPr/>
        </p:nvSpPr>
        <p:spPr>
          <a:xfrm>
            <a:off x="1524000" y="5715000"/>
            <a:ext cx="6667500" cy="1143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628126-540F-4CC7-AF50-8BA7B261561B}"/>
              </a:ext>
            </a:extLst>
          </p:cNvPr>
          <p:cNvSpPr txBox="1"/>
          <p:nvPr/>
        </p:nvSpPr>
        <p:spPr>
          <a:xfrm>
            <a:off x="1905000" y="6057900"/>
            <a:ext cx="59055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200" b="1">
                <a:solidFill>
                  <a:srgbClr val="0B2D45"/>
                </a:solidFill>
                <a:latin typeface="Aptos"/>
              </a:rPr>
              <a:t>LARGE 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1B13AE-27AB-4A90-9329-D20FA0F6B1A0}"/>
              </a:ext>
            </a:extLst>
          </p:cNvPr>
          <p:cNvSpPr txBox="1"/>
          <p:nvPr/>
        </p:nvSpPr>
        <p:spPr>
          <a:xfrm>
            <a:off x="1905000" y="6743700"/>
            <a:ext cx="59055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500">
                <a:solidFill>
                  <a:srgbClr val="0B2D45"/>
                </a:solidFill>
                <a:latin typeface="Aptos"/>
              </a:rPr>
              <a:t>measurement gets less authority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19E435-FE75-44D4-BE88-5041586EA213}"/>
              </a:ext>
            </a:extLst>
          </p:cNvPr>
          <p:cNvSpPr/>
          <p:nvPr/>
        </p:nvSpPr>
        <p:spPr>
          <a:xfrm>
            <a:off x="10096500" y="5715000"/>
            <a:ext cx="66675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F58F4D-4C54-490D-A8F5-9960CABE5B68}"/>
              </a:ext>
            </a:extLst>
          </p:cNvPr>
          <p:cNvSpPr/>
          <p:nvPr/>
        </p:nvSpPr>
        <p:spPr>
          <a:xfrm>
            <a:off x="10096500" y="5715000"/>
            <a:ext cx="6667500" cy="1143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FB08D4-F98A-4D4E-9CF8-D9BED5795BCF}"/>
              </a:ext>
            </a:extLst>
          </p:cNvPr>
          <p:cNvSpPr txBox="1"/>
          <p:nvPr/>
        </p:nvSpPr>
        <p:spPr>
          <a:xfrm>
            <a:off x="10477500" y="6057900"/>
            <a:ext cx="59055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200" b="1">
                <a:solidFill>
                  <a:srgbClr val="0B2D45"/>
                </a:solidFill>
                <a:latin typeface="Aptos"/>
              </a:rPr>
              <a:t>LARGE P⁻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C356A4-848C-495A-86D7-BF2D6224B306}"/>
              </a:ext>
            </a:extLst>
          </p:cNvPr>
          <p:cNvSpPr txBox="1"/>
          <p:nvPr/>
        </p:nvSpPr>
        <p:spPr>
          <a:xfrm>
            <a:off x="10477500" y="6743700"/>
            <a:ext cx="59055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500">
                <a:solidFill>
                  <a:srgbClr val="0B2D45"/>
                </a:solidFill>
                <a:latin typeface="Aptos"/>
              </a:rPr>
              <a:t>measurement gets more authority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3E55FD-AC8D-40D8-81FE-FCAC76EE8497}"/>
              </a:ext>
            </a:extLst>
          </p:cNvPr>
          <p:cNvSpPr txBox="1"/>
          <p:nvPr/>
        </p:nvSpPr>
        <p:spPr>
          <a:xfrm>
            <a:off x="1333500" y="8610600"/>
            <a:ext cx="15621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500" b="1">
                <a:solidFill>
                  <a:srgbClr val="F5F6F7"/>
                </a:solidFill>
                <a:latin typeface="Aptos"/>
              </a:rPr>
              <a:t>Kalman filtering is uncertainty-aware feedback on information.</a:t>
            </a:r>
            <a:endParaRPr lang="it-IT" sz="3500" b="1">
              <a:solidFill>
                <a:srgbClr val="F5F6F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149844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4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5C73B44-1E03-49AB-97EF-DEA196D733C4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B2E509-CF36-4E49-BC00-5DC3BD872DF7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A2C509-1B1B-489A-9DA2-A9240D6EC086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SO WHY “EXTENDED”?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1974D6-7EB6-4083-A8A7-5A535EAD78C1}"/>
              </a:ext>
            </a:extLst>
          </p:cNvPr>
          <p:cNvSpPr/>
          <p:nvPr/>
        </p:nvSpPr>
        <p:spPr>
          <a:xfrm>
            <a:off x="952500" y="3429000"/>
            <a:ext cx="7239000" cy="36195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BFD2D6-22AE-4EB8-A9D4-C800995BF1DD}"/>
              </a:ext>
            </a:extLst>
          </p:cNvPr>
          <p:cNvSpPr/>
          <p:nvPr/>
        </p:nvSpPr>
        <p:spPr>
          <a:xfrm>
            <a:off x="952500" y="3429000"/>
            <a:ext cx="7239000" cy="1143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F34815-4262-401B-AF3D-708F525C9BDC}"/>
              </a:ext>
            </a:extLst>
          </p:cNvPr>
          <p:cNvSpPr txBox="1"/>
          <p:nvPr/>
        </p:nvSpPr>
        <p:spPr>
          <a:xfrm>
            <a:off x="1333500" y="3810000"/>
            <a:ext cx="6477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000" b="1">
                <a:solidFill>
                  <a:srgbClr val="0B2D45"/>
                </a:solidFill>
                <a:latin typeface="Aptos"/>
              </a:rPr>
              <a:t>NONLINEAR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E7D706-0F9B-4647-84EF-63975374EDC7}"/>
                  </a:ext>
                </a:extLst>
              </p:cNvPr>
              <p:cNvSpPr txBox="1"/>
              <p:nvPr/>
            </p:nvSpPr>
            <p:spPr>
              <a:xfrm>
                <a:off x="1524000" y="4572000"/>
                <a:ext cx="6096000" cy="685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x</m:t>
                      </m:r>
                      <m: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ₖ₊₁ = 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f</m:t>
                      </m:r>
                      <m: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x</m:t>
                      </m:r>
                      <m: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ₖ, 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u</m:t>
                      </m:r>
                      <m: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ₖ) + 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w</m:t>
                      </m:r>
                      <m: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ₖ</m:t>
                      </m:r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E7D706-0F9B-4647-84EF-63975374E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572000"/>
                <a:ext cx="60960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71C99A-E87F-499E-BCBA-9A30FE144C61}"/>
                  </a:ext>
                </a:extLst>
              </p:cNvPr>
              <p:cNvSpPr txBox="1"/>
              <p:nvPr/>
            </p:nvSpPr>
            <p:spPr>
              <a:xfrm>
                <a:off x="1519518" y="5751979"/>
                <a:ext cx="6096000" cy="685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z</m:t>
                      </m:r>
                      <m: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ₖ = 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h</m:t>
                      </m:r>
                      <m: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x</m:t>
                      </m:r>
                      <m: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ₖ) + 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v</m:t>
                      </m:r>
                      <m:r>
                        <a:rPr lang="it-IT" sz="4000" b="1">
                          <a:solidFill>
                            <a:srgbClr val="0B2D45"/>
                          </a:solidFill>
                          <a:latin typeface="Cambria Math"/>
                        </a:rPr>
                        <m:t>ₖ</m:t>
                      </m:r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71C99A-E87F-499E-BCBA-9A30FE144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518" y="5751979"/>
                <a:ext cx="6096000" cy="685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4A2698A6-3F50-4CD9-A592-89DE212ED145}"/>
              </a:ext>
            </a:extLst>
          </p:cNvPr>
          <p:cNvSpPr/>
          <p:nvPr/>
        </p:nvSpPr>
        <p:spPr>
          <a:xfrm>
            <a:off x="8758518" y="3429000"/>
            <a:ext cx="8576982" cy="5295900"/>
          </a:xfrm>
          <a:prstGeom prst="rect">
            <a:avLst/>
          </a:prstGeom>
          <a:solidFill>
            <a:srgbClr val="153F5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192C7C-2E1C-4466-B7E1-DF1BC5C53EF4}"/>
              </a:ext>
            </a:extLst>
          </p:cNvPr>
          <p:cNvSpPr/>
          <p:nvPr/>
        </p:nvSpPr>
        <p:spPr>
          <a:xfrm>
            <a:off x="8758518" y="3429000"/>
            <a:ext cx="8576982" cy="1143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8B5E11-907E-4D12-9FF5-6FC898167D4A}"/>
              </a:ext>
            </a:extLst>
          </p:cNvPr>
          <p:cNvSpPr txBox="1"/>
          <p:nvPr/>
        </p:nvSpPr>
        <p:spPr>
          <a:xfrm>
            <a:off x="9715500" y="3810000"/>
            <a:ext cx="7239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000" b="1">
                <a:solidFill>
                  <a:srgbClr val="F5F6F7"/>
                </a:solidFill>
                <a:latin typeface="Aptos"/>
              </a:rPr>
              <a:t>LOCAL LINEAR VIEW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0381F0-134D-4847-BBC2-4E6F71B65A70}"/>
              </a:ext>
            </a:extLst>
          </p:cNvPr>
          <p:cNvSpPr txBox="1"/>
          <p:nvPr/>
        </p:nvSpPr>
        <p:spPr>
          <a:xfrm>
            <a:off x="1333500" y="8953500"/>
            <a:ext cx="15621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500" b="1">
                <a:solidFill>
                  <a:srgbClr val="F5F6F7"/>
                </a:solidFill>
                <a:latin typeface="Aptos"/>
              </a:rPr>
              <a:t>The EKF does not make the world linear. It </a:t>
            </a:r>
            <a:r>
              <a:rPr lang="en-US" sz="3500" b="1" err="1">
                <a:solidFill>
                  <a:srgbClr val="F5F6F7"/>
                </a:solidFill>
                <a:latin typeface="Aptos"/>
              </a:rPr>
              <a:t>linearises</a:t>
            </a:r>
            <a:r>
              <a:rPr lang="en-US" sz="3500" b="1">
                <a:solidFill>
                  <a:srgbClr val="F5F6F7"/>
                </a:solidFill>
                <a:latin typeface="Aptos"/>
              </a:rPr>
              <a:t> our uncertainty locally around the current estimate.</a:t>
            </a:r>
            <a:endParaRPr lang="it-IT" sz="3500" b="1">
              <a:solidFill>
                <a:srgbClr val="F5F6F7"/>
              </a:solidFill>
              <a:latin typeface="Aptos"/>
            </a:endParaRPr>
          </a:p>
        </p:txBody>
      </p:sp>
      <p:pic>
        <p:nvPicPr>
          <p:cNvPr id="2" name="Picture 1" descr="Linearize Nonlinear Models - MATLAB &amp; Simulink">
            <a:extLst>
              <a:ext uri="{FF2B5EF4-FFF2-40B4-BE49-F238E27FC236}">
                <a16:creationId xmlns:a16="http://schemas.microsoft.com/office/drawing/2014/main" id="{617760C9-1BE4-4F44-86E0-54501479C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7246" y="4216072"/>
            <a:ext cx="5518254" cy="44434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876BBA-9CD0-8879-17EC-BF64443760E4}"/>
                  </a:ext>
                </a:extLst>
              </p:cNvPr>
              <p:cNvSpPr txBox="1"/>
              <p:nvPr/>
            </p:nvSpPr>
            <p:spPr>
              <a:xfrm>
                <a:off x="8904756" y="4734485"/>
                <a:ext cx="3458135" cy="245633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4000" b="1" smtClean="0">
                        <a:solidFill>
                          <a:srgbClr val="FF5A00"/>
                        </a:solidFill>
                        <a:latin typeface="Cambria Math"/>
                      </a:rPr>
                      <m:t>F</m:t>
                    </m:r>
                    <m:r>
                      <a:rPr lang="pt-BR" sz="4000" b="1" smtClean="0">
                        <a:solidFill>
                          <a:srgbClr val="FF5A00"/>
                        </a:solidFill>
                        <a:latin typeface="Cambria Math"/>
                      </a:rPr>
                      <m:t> =</m:t>
                    </m:r>
                    <m:f>
                      <m:fPr>
                        <m:ctrlPr>
                          <a:rPr lang="pt-BR" sz="4000" b="1">
                            <a:solidFill>
                              <a:srgbClr val="FF5A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pt-BR" sz="4000" b="1">
                            <a:solidFill>
                              <a:srgbClr val="FF5A00"/>
                            </a:solidFill>
                            <a:latin typeface="Cambria Math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pt-BR" sz="4000" b="1">
                            <a:solidFill>
                              <a:srgbClr val="FF5A00"/>
                            </a:solidFill>
                            <a:latin typeface="Cambria Math"/>
                          </a:rPr>
                          <m:t>f</m:t>
                        </m:r>
                      </m:num>
                      <m:den>
                        <m:r>
                          <a:rPr lang="pt-BR" sz="4000" b="1">
                            <a:solidFill>
                              <a:srgbClr val="FF5A00"/>
                            </a:solidFill>
                            <a:latin typeface="Cambria Math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pt-BR" sz="4000" b="1">
                            <a:solidFill>
                              <a:srgbClr val="FF5A00"/>
                            </a:solidFill>
                            <a:latin typeface="Cambria Math"/>
                          </a:rPr>
                          <m:t>x</m:t>
                        </m:r>
                      </m:den>
                    </m:f>
                    <m:r>
                      <a:rPr lang="pt-BR" sz="4000" b="1">
                        <a:solidFill>
                          <a:srgbClr val="FF5A00"/>
                        </a:solidFill>
                        <a:latin typeface="Cambria Math"/>
                      </a:rPr>
                      <m:t>  </m:t>
                    </m:r>
                  </m:oMath>
                </a14:m>
                <a:r>
                  <a:rPr lang="it-IT" sz="4000" b="1">
                    <a:solidFill>
                      <a:srgbClr val="FF5A00"/>
                    </a:solidFill>
                    <a:latin typeface="Cambria Math"/>
                  </a:rPr>
                  <a:t> </a:t>
                </a:r>
              </a:p>
              <a:p>
                <a:r>
                  <a:rPr lang="it-IT" sz="4000" b="1">
                    <a:solidFill>
                      <a:srgbClr val="FF5A00"/>
                    </a:solidFill>
                    <a:latin typeface="Cambria Math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4000" b="1">
                        <a:solidFill>
                          <a:srgbClr val="FF5A00"/>
                        </a:solidFill>
                        <a:latin typeface="Cambria Math"/>
                      </a:rPr>
                      <m:t>H</m:t>
                    </m:r>
                    <m:r>
                      <a:rPr lang="pt-BR" sz="4000" b="1">
                        <a:solidFill>
                          <a:srgbClr val="FF5A00"/>
                        </a:solidFill>
                        <a:latin typeface="Cambria Math"/>
                      </a:rPr>
                      <m:t> =</m:t>
                    </m:r>
                    <m:f>
                      <m:fPr>
                        <m:ctrlPr>
                          <a:rPr lang="pt-BR" sz="4000" b="1">
                            <a:solidFill>
                              <a:srgbClr val="FF5A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pt-BR" sz="4000" b="1">
                            <a:solidFill>
                              <a:srgbClr val="FF5A00"/>
                            </a:solidFill>
                            <a:latin typeface="Cambria Math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pt-BR" sz="4000" b="1">
                            <a:solidFill>
                              <a:srgbClr val="FF5A00"/>
                            </a:solidFill>
                            <a:latin typeface="Cambria Math"/>
                          </a:rPr>
                          <m:t>h</m:t>
                        </m:r>
                      </m:num>
                      <m:den>
                        <m:r>
                          <a:rPr lang="pt-BR" sz="4000" b="1">
                            <a:solidFill>
                              <a:srgbClr val="FF5A00"/>
                            </a:solidFill>
                            <a:latin typeface="Cambria Math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pt-BR" sz="4000" b="1">
                            <a:solidFill>
                              <a:srgbClr val="FF5A00"/>
                            </a:solidFill>
                            <a:latin typeface="Cambria Math"/>
                          </a:rPr>
                          <m:t>x</m:t>
                        </m:r>
                      </m:den>
                    </m:f>
                  </m:oMath>
                </a14:m>
                <a:r>
                  <a:rPr lang="it-IT" sz="4000" b="1">
                    <a:solidFill>
                      <a:srgbClr val="FF5A00"/>
                    </a:solidFill>
                    <a:latin typeface="Aptos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876BBA-9CD0-8879-17EC-BF6444376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756" y="4734485"/>
                <a:ext cx="3458135" cy="2456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24981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2"/>
          <p:cNvGrpSpPr/>
          <p:nvPr/>
        </p:nvGrpSpPr>
        <p:grpSpPr>
          <a:xfrm>
            <a:off x="0" y="-38100"/>
            <a:ext cx="18288000" cy="10287000"/>
            <a:chOff x="0" y="0"/>
            <a:chExt cx="24384000" cy="13716000"/>
          </a:xfrm>
        </p:grpSpPr>
        <p:sp>
          <p:nvSpPr>
            <p:cNvPr id="37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4AE8DD7-871A-491C-89EB-4DB7E088EDC6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3E6675-6D54-4EC2-96C6-398AA5A6B17F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0EA029-9DF2-46E9-ACFF-269914A236A6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FROM CONTINUOUS DYNAMICS TO 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BFDBFD-B502-4624-A592-A8E88023511C}"/>
                  </a:ext>
                </a:extLst>
              </p:cNvPr>
              <p:cNvSpPr txBox="1"/>
              <p:nvPr/>
            </p:nvSpPr>
            <p:spPr>
              <a:xfrm>
                <a:off x="2095500" y="3429000"/>
                <a:ext cx="14097000" cy="7239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pt-BR" sz="4000" b="1">
                          <a:solidFill>
                            <a:srgbClr val="F5F6F7"/>
                          </a:solidFill>
                          <a:latin typeface="Cambria Math"/>
                        </a:rPr>
                        <m:t>x</m:t>
                      </m:r>
                      <m:r>
                        <a:rPr lang="pt-BR" sz="4000" b="1">
                          <a:solidFill>
                            <a:srgbClr val="F5F6F7"/>
                          </a:solidFill>
                          <a:latin typeface="Cambria Math"/>
                        </a:rPr>
                        <m:t>̇ = </m:t>
                      </m:r>
                      <m:r>
                        <m:rPr>
                          <m:sty m:val="p"/>
                        </m:rPr>
                        <a:rPr lang="pt-BR" sz="4000" b="1">
                          <a:solidFill>
                            <a:srgbClr val="F5F6F7"/>
                          </a:solidFill>
                          <a:latin typeface="Cambria Math"/>
                        </a:rPr>
                        <m:t>Ax</m:t>
                      </m:r>
                      <m:r>
                        <a:rPr lang="pt-BR" sz="4000" b="1">
                          <a:solidFill>
                            <a:srgbClr val="F5F6F7"/>
                          </a:solidFill>
                          <a:latin typeface="Cambria Math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pt-BR" sz="4000" b="1">
                          <a:solidFill>
                            <a:srgbClr val="F5F6F7"/>
                          </a:solidFill>
                          <a:latin typeface="Cambria Math"/>
                        </a:rPr>
                        <m:t>Bu</m:t>
                      </m:r>
                    </m:oMath>
                  </m:oMathPara>
                </a14:m>
                <a:endParaRPr lang="it-IT" sz="4000" b="1">
                  <a:solidFill>
                    <a:srgbClr val="F5F6F7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BFDBFD-B502-4624-A592-A8E880235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3429000"/>
                <a:ext cx="14097000" cy="72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922696-91E3-4496-9FD7-BF4E731E97F5}"/>
                  </a:ext>
                </a:extLst>
              </p:cNvPr>
              <p:cNvSpPr txBox="1"/>
              <p:nvPr/>
            </p:nvSpPr>
            <p:spPr>
              <a:xfrm>
                <a:off x="4572000" y="4381500"/>
                <a:ext cx="9144000" cy="7239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x</m:t>
                      </m:r>
                      <m: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ₖ₊₁ − 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x</m:t>
                      </m:r>
                      <m: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ₖ)/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Δt</m:t>
                      </m:r>
                      <m: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 ≈ 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Ax</m:t>
                      </m:r>
                      <m: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ₖ + 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Bu</m:t>
                      </m:r>
                      <m: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ₖ</m:t>
                      </m:r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922696-91E3-4496-9FD7-BF4E731E9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381500"/>
                <a:ext cx="9144000" cy="723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AD1655C1-74F7-43DB-859E-9669D48DE9A3}"/>
              </a:ext>
            </a:extLst>
          </p:cNvPr>
          <p:cNvSpPr/>
          <p:nvPr/>
        </p:nvSpPr>
        <p:spPr>
          <a:xfrm>
            <a:off x="1524000" y="5715000"/>
            <a:ext cx="66675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12627B-109B-4FCC-97D6-253A8C8EF04D}"/>
              </a:ext>
            </a:extLst>
          </p:cNvPr>
          <p:cNvSpPr/>
          <p:nvPr/>
        </p:nvSpPr>
        <p:spPr>
          <a:xfrm>
            <a:off x="1524000" y="5715000"/>
            <a:ext cx="6667500" cy="1143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628126-540F-4CC7-AF50-8BA7B261561B}"/>
              </a:ext>
            </a:extLst>
          </p:cNvPr>
          <p:cNvSpPr txBox="1"/>
          <p:nvPr/>
        </p:nvSpPr>
        <p:spPr>
          <a:xfrm>
            <a:off x="1905000" y="6057900"/>
            <a:ext cx="59055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200" b="1">
                <a:solidFill>
                  <a:srgbClr val="0B2D45"/>
                </a:solidFill>
                <a:latin typeface="Aptos"/>
              </a:rPr>
              <a:t>FORWARD EULER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1B13AE-27AB-4A90-9329-D20FA0F6B1A0}"/>
                  </a:ext>
                </a:extLst>
              </p:cNvPr>
              <p:cNvSpPr txBox="1"/>
              <p:nvPr/>
            </p:nvSpPr>
            <p:spPr>
              <a:xfrm>
                <a:off x="1559859" y="6819900"/>
                <a:ext cx="64770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3500" i="1" dirty="0" smtClean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3500" i="1" dirty="0" smtClean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ₖ₊₁ ≈ (</m:t>
                      </m:r>
                      <m:r>
                        <a:rPr lang="it-IT" sz="3500" i="1" dirty="0" smtClean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it-IT" sz="3500" i="1" dirty="0" smtClean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it-IT" sz="3500" i="1" dirty="0" err="1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it-IT" sz="3500" i="0" dirty="0" err="1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it-IT" sz="3500" i="1" dirty="0" err="1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sz="3500" i="1" dirty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it-IT" sz="3500" i="1" dirty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3500" i="1" dirty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ₖ + </m:t>
                      </m:r>
                      <m:r>
                        <a:rPr lang="it-IT" sz="3500" i="1" dirty="0" err="1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sty m:val="p"/>
                        </m:rPr>
                        <a:rPr lang="it-IT" sz="3500" i="0" dirty="0" err="1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it-IT" sz="3500" i="1" dirty="0" err="1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sz="3500" i="1" dirty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500" i="1" dirty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it-IT" sz="3500" i="1" dirty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1B13AE-27AB-4A90-9329-D20FA0F6B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859" y="6819900"/>
                <a:ext cx="6477000" cy="457200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7119E435-FE75-44D4-BE88-5041586EA213}"/>
              </a:ext>
            </a:extLst>
          </p:cNvPr>
          <p:cNvSpPr/>
          <p:nvPr/>
        </p:nvSpPr>
        <p:spPr>
          <a:xfrm>
            <a:off x="10096500" y="5715000"/>
            <a:ext cx="66675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F58F4D-4C54-490D-A8F5-9960CABE5B68}"/>
              </a:ext>
            </a:extLst>
          </p:cNvPr>
          <p:cNvSpPr/>
          <p:nvPr/>
        </p:nvSpPr>
        <p:spPr>
          <a:xfrm>
            <a:off x="10096500" y="5715000"/>
            <a:ext cx="6667500" cy="1143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FB08D4-F98A-4D4E-9CF8-D9BED5795BCF}"/>
              </a:ext>
            </a:extLst>
          </p:cNvPr>
          <p:cNvSpPr txBox="1"/>
          <p:nvPr/>
        </p:nvSpPr>
        <p:spPr>
          <a:xfrm>
            <a:off x="10477500" y="6057900"/>
            <a:ext cx="59055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200" b="1">
                <a:solidFill>
                  <a:srgbClr val="0B2D45"/>
                </a:solidFill>
                <a:latin typeface="Aptos"/>
              </a:rPr>
              <a:t>IDENTIFY 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C356A4-848C-495A-86D7-BF2D6224B306}"/>
                  </a:ext>
                </a:extLst>
              </p:cNvPr>
              <p:cNvSpPr txBox="1"/>
              <p:nvPr/>
            </p:nvSpPr>
            <p:spPr>
              <a:xfrm>
                <a:off x="10477500" y="6743700"/>
                <a:ext cx="5905500" cy="5715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3500" i="1" dirty="0" smtClean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it-IT" sz="3500" i="1" dirty="0" smtClean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 ≈ </m:t>
                      </m:r>
                      <m:r>
                        <a:rPr lang="it-IT" sz="3500" i="1" dirty="0" smtClean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it-IT" sz="3500" i="1" dirty="0" smtClean="0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it-IT" sz="3500" i="1" dirty="0" err="1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it-IT" sz="3500" i="0" dirty="0" err="1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it-IT" sz="3500" i="1" dirty="0" err="1">
                          <a:solidFill>
                            <a:srgbClr val="0B2D45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C356A4-848C-495A-86D7-BF2D6224B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500" y="6743700"/>
                <a:ext cx="5905500" cy="571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FA3E55FD-AC8D-40D8-81FE-FCAC76EE8497}"/>
              </a:ext>
            </a:extLst>
          </p:cNvPr>
          <p:cNvSpPr txBox="1"/>
          <p:nvPr/>
        </p:nvSpPr>
        <p:spPr>
          <a:xfrm>
            <a:off x="1333500" y="8610600"/>
            <a:ext cx="15621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500" b="1">
                <a:solidFill>
                  <a:srgbClr val="F5F6F7"/>
                </a:solidFill>
                <a:latin typeface="Aptos"/>
              </a:rPr>
              <a:t>With constant A, the exact transition is F = exp(AΔt).</a:t>
            </a:r>
            <a:endParaRPr lang="it-IT" sz="3500" b="1">
              <a:solidFill>
                <a:srgbClr val="F5F6F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5505389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2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66276CB-1FC4-491C-8B36-9E1AB922624A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508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88968-EC21-4B2C-8272-FC57D7A6335E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F1067-99BB-4D04-9043-C86AFF362C1C}"/>
              </a:ext>
            </a:extLst>
          </p:cNvPr>
          <p:cNvSpPr txBox="1"/>
          <p:nvPr/>
        </p:nvSpPr>
        <p:spPr>
          <a:xfrm>
            <a:off x="666750" y="2247900"/>
            <a:ext cx="137160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4800" b="1">
                <a:solidFill>
                  <a:srgbClr val="FF5A00"/>
                </a:solidFill>
                <a:latin typeface="Aptos"/>
              </a:rPr>
              <a:t>DIFFERENT PHYSICS, DIFFERENT ESTIMATORS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4B31E3-B2F7-466F-AB86-47D2D941EA10}"/>
              </a:ext>
            </a:extLst>
          </p:cNvPr>
          <p:cNvSpPr/>
          <p:nvPr/>
        </p:nvSpPr>
        <p:spPr>
          <a:xfrm>
            <a:off x="14986000" y="2311400"/>
            <a:ext cx="2413000" cy="533400"/>
          </a:xfrm>
          <a:prstGeom prst="rect">
            <a:avLst/>
          </a:prstGeom>
          <a:solidFill>
            <a:srgbClr val="FF5A00"/>
          </a:solidFill>
          <a:ln w="508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A2CFF5-6B6E-42F7-B08A-656DD053A33C}"/>
              </a:ext>
            </a:extLst>
          </p:cNvPr>
          <p:cNvSpPr txBox="1"/>
          <p:nvPr/>
        </p:nvSpPr>
        <p:spPr>
          <a:xfrm>
            <a:off x="15138400" y="2387600"/>
            <a:ext cx="21082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800" b="1">
                <a:solidFill>
                  <a:srgbClr val="101820"/>
                </a:solidFill>
                <a:latin typeface="Aptos"/>
              </a:rPr>
              <a:t>BEYOND TODAY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314FDF-80F5-47FA-AA23-702FC7425F18}"/>
              </a:ext>
            </a:extLst>
          </p:cNvPr>
          <p:cNvSpPr/>
          <p:nvPr/>
        </p:nvSpPr>
        <p:spPr>
          <a:xfrm>
            <a:off x="914400" y="3352800"/>
            <a:ext cx="16459200" cy="5486400"/>
          </a:xfrm>
          <a:prstGeom prst="rect">
            <a:avLst/>
          </a:prstGeom>
          <a:solidFill>
            <a:srgbClr val="F5F6F7"/>
          </a:solidFill>
          <a:ln w="508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3C51A6-7FD9-4C08-B85D-A8DDA1909CEE}"/>
              </a:ext>
            </a:extLst>
          </p:cNvPr>
          <p:cNvSpPr/>
          <p:nvPr/>
        </p:nvSpPr>
        <p:spPr>
          <a:xfrm>
            <a:off x="1219200" y="3759200"/>
            <a:ext cx="152400" cy="558800"/>
          </a:xfrm>
          <a:prstGeom prst="rect">
            <a:avLst/>
          </a:prstGeom>
          <a:solidFill>
            <a:srgbClr val="15B9C5"/>
          </a:solidFill>
          <a:ln w="508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6B73C2-9250-485C-8801-90C758AA7A29}"/>
              </a:ext>
            </a:extLst>
          </p:cNvPr>
          <p:cNvSpPr txBox="1"/>
          <p:nvPr/>
        </p:nvSpPr>
        <p:spPr>
          <a:xfrm>
            <a:off x="1701800" y="3530600"/>
            <a:ext cx="6223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600" b="1">
                <a:solidFill>
                  <a:srgbClr val="0B2D45"/>
                </a:solidFill>
                <a:latin typeface="Aptos"/>
              </a:rPr>
              <a:t>MEKF / ERROR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BAF880-C8D7-408C-8C69-9E629AB0C9F5}"/>
              </a:ext>
            </a:extLst>
          </p:cNvPr>
          <p:cNvSpPr txBox="1"/>
          <p:nvPr/>
        </p:nvSpPr>
        <p:spPr>
          <a:xfrm>
            <a:off x="8255000" y="3530600"/>
            <a:ext cx="8509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3500">
                <a:solidFill>
                  <a:srgbClr val="0B2D45"/>
                </a:solidFill>
                <a:latin typeface="Aptos"/>
              </a:rPr>
              <a:t>local attitude-error representation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42A170-B66D-4E32-B3C8-CF22C05FACC2}"/>
              </a:ext>
            </a:extLst>
          </p:cNvPr>
          <p:cNvSpPr/>
          <p:nvPr/>
        </p:nvSpPr>
        <p:spPr>
          <a:xfrm>
            <a:off x="1701800" y="4546600"/>
            <a:ext cx="15062200" cy="17780"/>
          </a:xfrm>
          <a:prstGeom prst="rect">
            <a:avLst/>
          </a:prstGeom>
          <a:solidFill>
            <a:srgbClr val="D3DBE0"/>
          </a:solidFill>
          <a:ln w="508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C898AA-4B76-4F11-B735-FB451E165230}"/>
              </a:ext>
            </a:extLst>
          </p:cNvPr>
          <p:cNvSpPr/>
          <p:nvPr/>
        </p:nvSpPr>
        <p:spPr>
          <a:xfrm>
            <a:off x="1219200" y="4800600"/>
            <a:ext cx="152400" cy="558800"/>
          </a:xfrm>
          <a:prstGeom prst="rect">
            <a:avLst/>
          </a:prstGeom>
          <a:solidFill>
            <a:srgbClr val="A7D867"/>
          </a:solidFill>
          <a:ln w="508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236A03-1385-49AE-83F2-64404B5B8516}"/>
              </a:ext>
            </a:extLst>
          </p:cNvPr>
          <p:cNvSpPr txBox="1"/>
          <p:nvPr/>
        </p:nvSpPr>
        <p:spPr>
          <a:xfrm>
            <a:off x="1701800" y="4572000"/>
            <a:ext cx="6223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600" b="1">
                <a:solidFill>
                  <a:srgbClr val="0B2D45"/>
                </a:solidFill>
                <a:latin typeface="Aptos"/>
              </a:rPr>
              <a:t>AUGMENTED STATE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639D19-B82E-4BA0-A025-0F7659C0E6BE}"/>
              </a:ext>
            </a:extLst>
          </p:cNvPr>
          <p:cNvSpPr txBox="1"/>
          <p:nvPr/>
        </p:nvSpPr>
        <p:spPr>
          <a:xfrm>
            <a:off x="8255000" y="4572000"/>
            <a:ext cx="8509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3500">
                <a:solidFill>
                  <a:srgbClr val="0B2D45"/>
                </a:solidFill>
                <a:latin typeface="Aptos"/>
              </a:rPr>
              <a:t>biases / coloured stochastic processes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859A7C-2CD3-4387-9872-058C0B6C967F}"/>
              </a:ext>
            </a:extLst>
          </p:cNvPr>
          <p:cNvSpPr/>
          <p:nvPr/>
        </p:nvSpPr>
        <p:spPr>
          <a:xfrm>
            <a:off x="1701800" y="5588000"/>
            <a:ext cx="15062200" cy="17780"/>
          </a:xfrm>
          <a:prstGeom prst="rect">
            <a:avLst/>
          </a:prstGeom>
          <a:solidFill>
            <a:srgbClr val="D3DBE0"/>
          </a:solidFill>
          <a:ln w="508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42EE94-0E7D-40D7-AC7D-8FD583CE1248}"/>
              </a:ext>
            </a:extLst>
          </p:cNvPr>
          <p:cNvSpPr/>
          <p:nvPr/>
        </p:nvSpPr>
        <p:spPr>
          <a:xfrm>
            <a:off x="1219200" y="5842000"/>
            <a:ext cx="152400" cy="558800"/>
          </a:xfrm>
          <a:prstGeom prst="rect">
            <a:avLst/>
          </a:prstGeom>
          <a:solidFill>
            <a:srgbClr val="78A7FF"/>
          </a:solidFill>
          <a:ln w="508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87A6D0-9969-4E12-81B7-C2D8D5C96ADD}"/>
              </a:ext>
            </a:extLst>
          </p:cNvPr>
          <p:cNvSpPr txBox="1"/>
          <p:nvPr/>
        </p:nvSpPr>
        <p:spPr>
          <a:xfrm>
            <a:off x="1701800" y="5613400"/>
            <a:ext cx="6223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600" b="1">
                <a:solidFill>
                  <a:srgbClr val="0B2D45"/>
                </a:solidFill>
                <a:latin typeface="Aptos"/>
              </a:rPr>
              <a:t>UKF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C0877C-5F00-4B0A-9239-8C012157D829}"/>
              </a:ext>
            </a:extLst>
          </p:cNvPr>
          <p:cNvSpPr txBox="1"/>
          <p:nvPr/>
        </p:nvSpPr>
        <p:spPr>
          <a:xfrm>
            <a:off x="8255000" y="5613400"/>
            <a:ext cx="8509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l"/>
            <a:r>
              <a:rPr lang="en-US" sz="3500">
                <a:solidFill>
                  <a:srgbClr val="0B2D45"/>
                </a:solidFill>
                <a:latin typeface="Aptos"/>
              </a:rPr>
              <a:t>sigma-point propagation through nonlinear mappings</a:t>
            </a:r>
            <a:endParaRPr lang="it-IT" sz="3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EC5AE8-3994-4A44-86A4-0D1CBC54D680}"/>
              </a:ext>
            </a:extLst>
          </p:cNvPr>
          <p:cNvSpPr/>
          <p:nvPr/>
        </p:nvSpPr>
        <p:spPr>
          <a:xfrm>
            <a:off x="1701800" y="6629400"/>
            <a:ext cx="15062200" cy="17780"/>
          </a:xfrm>
          <a:prstGeom prst="rect">
            <a:avLst/>
          </a:prstGeom>
          <a:solidFill>
            <a:srgbClr val="D3DBE0"/>
          </a:solidFill>
          <a:ln w="508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7A51FF-A61A-4C2C-9BF4-A34C21B25D9C}"/>
              </a:ext>
            </a:extLst>
          </p:cNvPr>
          <p:cNvSpPr/>
          <p:nvPr/>
        </p:nvSpPr>
        <p:spPr>
          <a:xfrm>
            <a:off x="1219200" y="6883400"/>
            <a:ext cx="152400" cy="558800"/>
          </a:xfrm>
          <a:prstGeom prst="rect">
            <a:avLst/>
          </a:prstGeom>
          <a:solidFill>
            <a:srgbClr val="FF5A00"/>
          </a:solidFill>
          <a:ln w="508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E93BD5-2634-48EC-AEF9-12BEE4E5A5B1}"/>
              </a:ext>
            </a:extLst>
          </p:cNvPr>
          <p:cNvSpPr txBox="1"/>
          <p:nvPr/>
        </p:nvSpPr>
        <p:spPr>
          <a:xfrm>
            <a:off x="1701800" y="6654800"/>
            <a:ext cx="6223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600" b="1">
                <a:solidFill>
                  <a:srgbClr val="0B2D45"/>
                </a:solidFill>
                <a:latin typeface="Aptos"/>
              </a:rPr>
              <a:t>DUAL / JOINT ESTIMATION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BAB257-8C89-447F-8920-C246FD67DF82}"/>
              </a:ext>
            </a:extLst>
          </p:cNvPr>
          <p:cNvSpPr txBox="1"/>
          <p:nvPr/>
        </p:nvSpPr>
        <p:spPr>
          <a:xfrm>
            <a:off x="8255000" y="6654800"/>
            <a:ext cx="8509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3500">
                <a:solidFill>
                  <a:srgbClr val="0B2D45"/>
                </a:solidFill>
                <a:latin typeface="Aptos"/>
              </a:rPr>
              <a:t>states + parameters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36E43ED-96A1-4161-9CAB-FEDF0125366D}"/>
              </a:ext>
            </a:extLst>
          </p:cNvPr>
          <p:cNvSpPr/>
          <p:nvPr/>
        </p:nvSpPr>
        <p:spPr>
          <a:xfrm>
            <a:off x="1701800" y="7670800"/>
            <a:ext cx="15062200" cy="17780"/>
          </a:xfrm>
          <a:prstGeom prst="rect">
            <a:avLst/>
          </a:prstGeom>
          <a:solidFill>
            <a:srgbClr val="D3DBE0"/>
          </a:solidFill>
          <a:ln w="508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54A967-285E-4987-ACE3-F94AFC4585E4}"/>
              </a:ext>
            </a:extLst>
          </p:cNvPr>
          <p:cNvSpPr/>
          <p:nvPr/>
        </p:nvSpPr>
        <p:spPr>
          <a:xfrm>
            <a:off x="1219200" y="7924800"/>
            <a:ext cx="152400" cy="558800"/>
          </a:xfrm>
          <a:prstGeom prst="rect">
            <a:avLst/>
          </a:prstGeom>
          <a:solidFill>
            <a:srgbClr val="15B9C5"/>
          </a:solidFill>
          <a:ln w="508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C1C904-ED5F-4F41-A972-5CEFB37155C1}"/>
              </a:ext>
            </a:extLst>
          </p:cNvPr>
          <p:cNvSpPr txBox="1"/>
          <p:nvPr/>
        </p:nvSpPr>
        <p:spPr>
          <a:xfrm>
            <a:off x="1701800" y="7696200"/>
            <a:ext cx="6223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600" b="1">
                <a:solidFill>
                  <a:srgbClr val="0B2D45"/>
                </a:solidFill>
                <a:latin typeface="Aptos"/>
              </a:rPr>
              <a:t>TOBIT / CENSORED FILTERING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FD2A8D-D1D2-49FA-A579-C952241C1971}"/>
              </a:ext>
            </a:extLst>
          </p:cNvPr>
          <p:cNvSpPr txBox="1"/>
          <p:nvPr/>
        </p:nvSpPr>
        <p:spPr>
          <a:xfrm>
            <a:off x="8255000" y="7696200"/>
            <a:ext cx="8509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3500">
                <a:solidFill>
                  <a:srgbClr val="0B2D45"/>
                </a:solidFill>
                <a:latin typeface="Aptos"/>
              </a:rPr>
              <a:t>censored or saturated measurements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BC9468-35C6-470F-A5EC-8E3F924A95FA}"/>
              </a:ext>
            </a:extLst>
          </p:cNvPr>
          <p:cNvSpPr txBox="1"/>
          <p:nvPr/>
        </p:nvSpPr>
        <p:spPr>
          <a:xfrm>
            <a:off x="1320800" y="8940800"/>
            <a:ext cx="15646400" cy="914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>
                <a:solidFill>
                  <a:srgbClr val="F5F6F7"/>
                </a:solidFill>
                <a:latin typeface="Aptos"/>
              </a:rPr>
              <a:t>Different physics can require different states, stochastic models and approximations.</a:t>
            </a:r>
            <a:endParaRPr lang="it-IT" sz="2800">
              <a:solidFill>
                <a:srgbClr val="F5F6F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24876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B3068-5B51-0E90-66D9-1CF722F2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9868C0-DAF7-86A6-653C-A677217EEAA4}"/>
              </a:ext>
            </a:extLst>
          </p:cNvPr>
          <p:cNvGrpSpPr/>
          <p:nvPr/>
        </p:nvGrpSpPr>
        <p:grpSpPr>
          <a:xfrm>
            <a:off x="-1650873" y="-3314700"/>
            <a:ext cx="21593175" cy="16192500"/>
            <a:chOff x="0" y="0"/>
            <a:chExt cx="28790900" cy="2159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41DBD70-5A25-3508-BCA8-718C73BC9296}"/>
                </a:ext>
              </a:extLst>
            </p:cNvPr>
            <p:cNvSpPr/>
            <p:nvPr/>
          </p:nvSpPr>
          <p:spPr>
            <a:xfrm>
              <a:off x="0" y="0"/>
              <a:ext cx="28790900" cy="21590000"/>
            </a:xfrm>
            <a:custGeom>
              <a:avLst/>
              <a:gdLst/>
              <a:ahLst/>
              <a:cxnLst/>
              <a:rect l="l" t="t" r="r" b="b"/>
              <a:pathLst>
                <a:path w="28790900" h="21590000">
                  <a:moveTo>
                    <a:pt x="0" y="0"/>
                  </a:moveTo>
                  <a:lnTo>
                    <a:pt x="28790900" y="0"/>
                  </a:lnTo>
                  <a:lnTo>
                    <a:pt x="28790900" y="21590000"/>
                  </a:lnTo>
                  <a:lnTo>
                    <a:pt x="0" y="2159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D0ED3CB-1794-A219-E234-CF515E4E8610}"/>
              </a:ext>
            </a:extLst>
          </p:cNvPr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8A30120-E5F0-F096-D97B-729EFD79CAD4}"/>
                </a:ext>
              </a:extLst>
            </p:cNvPr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5DA892D-4562-C811-3C9F-023D7296CC2A}"/>
              </a:ext>
            </a:extLst>
          </p:cNvPr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0F9E2F6-B116-864B-BEB1-F9D679BD1052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4E18B93-8EB5-2EE2-5288-7B3904884605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BD206D3-FA31-E83F-05C7-0FEF6E690C57}"/>
              </a:ext>
            </a:extLst>
          </p:cNvPr>
          <p:cNvSpPr txBox="1"/>
          <p:nvPr/>
        </p:nvSpPr>
        <p:spPr>
          <a:xfrm>
            <a:off x="234867" y="225762"/>
            <a:ext cx="14729984" cy="14784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12046"/>
              </a:lnSpc>
            </a:pPr>
            <a:r>
              <a:rPr lang="en-US" sz="6924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Quaternions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5E97BE-2229-4854-8689-C636BB0A4F15}"/>
              </a:ext>
            </a:extLst>
          </p:cNvPr>
          <p:cNvSpPr/>
          <p:nvPr/>
        </p:nvSpPr>
        <p:spPr>
          <a:xfrm>
            <a:off x="736600" y="2946400"/>
            <a:ext cx="10160000" cy="3657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00BA29-B760-4CCA-A58D-56C5C24C1D5D}"/>
              </a:ext>
            </a:extLst>
          </p:cNvPr>
          <p:cNvSpPr/>
          <p:nvPr/>
        </p:nvSpPr>
        <p:spPr>
          <a:xfrm>
            <a:off x="736600" y="2946400"/>
            <a:ext cx="10160000" cy="101600"/>
          </a:xfrm>
          <a:prstGeom prst="rect">
            <a:avLst/>
          </a:prstGeom>
          <a:solidFill>
            <a:srgbClr val="00B8C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F0C36F-E08F-4A7C-AF37-802CCA8AB6E5}"/>
              </a:ext>
            </a:extLst>
          </p:cNvPr>
          <p:cNvSpPr txBox="1"/>
          <p:nvPr/>
        </p:nvSpPr>
        <p:spPr>
          <a:xfrm>
            <a:off x="1079500" y="3187700"/>
            <a:ext cx="161036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000" b="1">
                <a:solidFill>
                  <a:srgbClr val="0B2A44"/>
                </a:solidFill>
                <a:latin typeface="Arial"/>
                <a:cs typeface="Arial"/>
              </a:rPr>
              <a:t>DEFINITION  ·  SCALAR-FIRST CONVENTION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4A1C93-AAED-4B1F-89BC-9CF32372C118}"/>
              </a:ext>
            </a:extLst>
          </p:cNvPr>
          <p:cNvSpPr txBox="1"/>
          <p:nvPr/>
        </p:nvSpPr>
        <p:spPr>
          <a:xfrm>
            <a:off x="1091692" y="3685032"/>
            <a:ext cx="67564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4300">
                <a:solidFill>
                  <a:srgbClr val="0B2A44"/>
                </a:solidFill>
                <a:latin typeface="Cambria Math"/>
                <a:ea typeface="Cambria Math"/>
              </a:rPr>
              <a:t>q = [q₀; q₁</a:t>
            </a:r>
            <a:r>
              <a:rPr lang="it-IT" sz="4000">
                <a:solidFill>
                  <a:srgbClr val="0B2A44"/>
                </a:solidFill>
                <a:latin typeface="Cambria Math"/>
                <a:ea typeface="Cambria Math"/>
              </a:rPr>
              <a:t>,</a:t>
            </a:r>
            <a:r>
              <a:rPr lang="it-IT" sz="4300">
                <a:solidFill>
                  <a:srgbClr val="0B2A44"/>
                </a:solidFill>
                <a:latin typeface="Cambria Math"/>
                <a:ea typeface="Cambria Math"/>
              </a:rPr>
              <a:t> q₂, q₃]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53A01C-4097-4574-B492-52A9F0449481}"/>
              </a:ext>
            </a:extLst>
          </p:cNvPr>
          <p:cNvSpPr txBox="1"/>
          <p:nvPr/>
        </p:nvSpPr>
        <p:spPr>
          <a:xfrm>
            <a:off x="1091692" y="4783582"/>
            <a:ext cx="33782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4000">
                <a:solidFill>
                  <a:srgbClr val="0B2A44"/>
                </a:solidFill>
                <a:latin typeface="Cambria Math"/>
                <a:ea typeface="Cambria Math"/>
              </a:rPr>
              <a:t>q₀ = cos(</a:t>
            </a:r>
            <a:r>
              <a:rPr lang="el-GR" sz="4000">
                <a:solidFill>
                  <a:srgbClr val="0B2A44"/>
                </a:solidFill>
                <a:latin typeface="Cambria Math"/>
                <a:ea typeface="Cambria Math"/>
              </a:rPr>
              <a:t>θ/2)</a:t>
            </a:r>
            <a:endParaRPr lang="it-IT" sz="4000">
              <a:solidFill>
                <a:srgbClr val="0B2A44"/>
              </a:solidFill>
              <a:latin typeface="Cambria Math"/>
              <a:ea typeface="Cambria Math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8173B1-2B59-4E22-BE68-22E5D433CB30}"/>
              </a:ext>
            </a:extLst>
          </p:cNvPr>
          <p:cNvSpPr txBox="1"/>
          <p:nvPr/>
        </p:nvSpPr>
        <p:spPr>
          <a:xfrm>
            <a:off x="5105400" y="4809817"/>
            <a:ext cx="86614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S" sz="4000">
                <a:solidFill>
                  <a:srgbClr val="0B2A44"/>
                </a:solidFill>
                <a:latin typeface="Cambria Math"/>
                <a:ea typeface="Cambria Math"/>
              </a:rPr>
              <a:t>[q₁,q₂,q₃] = u sin(θ/2)</a:t>
            </a:r>
            <a:endParaRPr lang="it-IT" sz="4000">
              <a:solidFill>
                <a:srgbClr val="0B2A44"/>
              </a:solidFill>
              <a:latin typeface="Cambria Math"/>
              <a:ea typeface="Cambria Math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A4453-5652-47A0-B115-FC5D4A04984B}"/>
              </a:ext>
            </a:extLst>
          </p:cNvPr>
          <p:cNvSpPr txBox="1"/>
          <p:nvPr/>
        </p:nvSpPr>
        <p:spPr>
          <a:xfrm>
            <a:off x="1054100" y="5892800"/>
            <a:ext cx="160020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l-GR" sz="4000">
                <a:solidFill>
                  <a:srgbClr val="0B2A44"/>
                </a:solidFill>
                <a:latin typeface="Cambria Math"/>
                <a:ea typeface="Cambria Math"/>
              </a:rPr>
              <a:t>θ = </a:t>
            </a:r>
            <a:r>
              <a:rPr lang="it-IT" sz="4000" err="1">
                <a:solidFill>
                  <a:srgbClr val="0B2A44"/>
                </a:solidFill>
                <a:latin typeface="Cambria Math"/>
                <a:ea typeface="Cambria Math"/>
              </a:rPr>
              <a:t>rotation</a:t>
            </a:r>
            <a:r>
              <a:rPr lang="it-IT" sz="4000">
                <a:solidFill>
                  <a:srgbClr val="0B2A44"/>
                </a:solidFill>
                <a:latin typeface="Cambria Math"/>
                <a:ea typeface="Cambria Math"/>
              </a:rPr>
              <a:t> angle,     ‖u‖ = 1 ,     ‖q‖ =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BB8ABE-9C99-41E6-9EC7-44C42E19972A}"/>
              </a:ext>
            </a:extLst>
          </p:cNvPr>
          <p:cNvSpPr/>
          <p:nvPr/>
        </p:nvSpPr>
        <p:spPr>
          <a:xfrm>
            <a:off x="736600" y="6870700"/>
            <a:ext cx="7950200" cy="2082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9BD65C-5BEA-4568-8611-3FD3087EC991}"/>
              </a:ext>
            </a:extLst>
          </p:cNvPr>
          <p:cNvSpPr/>
          <p:nvPr/>
        </p:nvSpPr>
        <p:spPr>
          <a:xfrm>
            <a:off x="736600" y="6870700"/>
            <a:ext cx="7950200" cy="101600"/>
          </a:xfrm>
          <a:prstGeom prst="rect">
            <a:avLst/>
          </a:prstGeom>
          <a:solidFill>
            <a:srgbClr val="A7D86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8FAC57-8D22-49E6-B749-AF51C0AB29FD}"/>
              </a:ext>
            </a:extLst>
          </p:cNvPr>
          <p:cNvSpPr txBox="1"/>
          <p:nvPr/>
        </p:nvSpPr>
        <p:spPr>
          <a:xfrm>
            <a:off x="1054100" y="7086600"/>
            <a:ext cx="7239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200" b="1">
                <a:solidFill>
                  <a:srgbClr val="0B2A44"/>
                </a:solidFill>
                <a:latin typeface="Arial"/>
                <a:cs typeface="Arial"/>
              </a:rPr>
              <a:t>PRO  /  WHY USE THEM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5EB578-2F15-4A80-9373-AE2CCA92C9BD}"/>
              </a:ext>
            </a:extLst>
          </p:cNvPr>
          <p:cNvSpPr txBox="1"/>
          <p:nvPr/>
        </p:nvSpPr>
        <p:spPr>
          <a:xfrm>
            <a:off x="1054100" y="7620000"/>
            <a:ext cx="71120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500">
                <a:solidFill>
                  <a:srgbClr val="0B2A44"/>
                </a:solidFill>
                <a:latin typeface="Arial"/>
                <a:cs typeface="Arial"/>
              </a:rPr>
              <a:t>No Euler-angle gimbal lock; small rotations compose with ⊗.</a:t>
            </a:r>
            <a:endParaRPr lang="it-IT" sz="2500">
              <a:solidFill>
                <a:srgbClr val="0B2A44"/>
              </a:solidFill>
              <a:latin typeface="Arial"/>
              <a:cs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C0D418-BF6B-4A70-8672-1284009D6987}"/>
              </a:ext>
            </a:extLst>
          </p:cNvPr>
          <p:cNvSpPr/>
          <p:nvPr/>
        </p:nvSpPr>
        <p:spPr>
          <a:xfrm>
            <a:off x="9118600" y="6870700"/>
            <a:ext cx="8432800" cy="2082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793CA7-DF23-49F3-AC68-5664F229FF3D}"/>
              </a:ext>
            </a:extLst>
          </p:cNvPr>
          <p:cNvSpPr/>
          <p:nvPr/>
        </p:nvSpPr>
        <p:spPr>
          <a:xfrm>
            <a:off x="9118600" y="6870700"/>
            <a:ext cx="8432800" cy="1016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0CEE05-FA4B-4A1E-B183-268055F53B22}"/>
              </a:ext>
            </a:extLst>
          </p:cNvPr>
          <p:cNvSpPr txBox="1"/>
          <p:nvPr/>
        </p:nvSpPr>
        <p:spPr>
          <a:xfrm>
            <a:off x="9436100" y="7086600"/>
            <a:ext cx="77724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200" b="1">
                <a:solidFill>
                  <a:srgbClr val="0B2A44"/>
                </a:solidFill>
                <a:latin typeface="Arial"/>
                <a:cs typeface="Arial"/>
              </a:rPr>
              <a:t>CONS  /  WHAT TO MANAGE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1990D6-C292-4916-BEAD-2CC8D463EEE1}"/>
              </a:ext>
            </a:extLst>
          </p:cNvPr>
          <p:cNvSpPr txBox="1"/>
          <p:nvPr/>
        </p:nvSpPr>
        <p:spPr>
          <a:xfrm>
            <a:off x="9436100" y="7620000"/>
            <a:ext cx="77724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>
                <a:solidFill>
                  <a:srgbClr val="0B2A44"/>
                </a:solidFill>
                <a:latin typeface="Arial"/>
                <a:cs typeface="Arial"/>
              </a:rPr>
              <a:t>4 values for 3 DOF; renormalize. q and −q encode the same rotation.</a:t>
            </a:r>
            <a:endParaRPr lang="it-IT" sz="2400">
              <a:solidFill>
                <a:srgbClr val="0B2A44"/>
              </a:solidFill>
              <a:latin typeface="Arial"/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1F72CB-6AB3-4060-96CC-AF3BC3E91432}"/>
              </a:ext>
            </a:extLst>
          </p:cNvPr>
          <p:cNvSpPr txBox="1"/>
          <p:nvPr/>
        </p:nvSpPr>
        <p:spPr>
          <a:xfrm>
            <a:off x="990600" y="9931400"/>
            <a:ext cx="13970000" cy="2413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B8C6CC"/>
                </a:solidFill>
                <a:latin typeface="Arial"/>
                <a:cs typeface="Arial"/>
              </a:rPr>
              <a:t>Source: J. Solà (2017), Quaternion kinematics for the error-state Kalman filter.</a:t>
            </a:r>
            <a:endParaRPr lang="it-IT" sz="10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4B0C72-B106-F9A2-23AD-D8865FAA574D}"/>
              </a:ext>
            </a:extLst>
          </p:cNvPr>
          <p:cNvSpPr/>
          <p:nvPr/>
        </p:nvSpPr>
        <p:spPr>
          <a:xfrm>
            <a:off x="12509500" y="2921000"/>
            <a:ext cx="5080000" cy="3619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66C6D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4305DF-5858-7DE0-8AC3-1C982A65F212}"/>
              </a:ext>
            </a:extLst>
          </p:cNvPr>
          <p:cNvSpPr/>
          <p:nvPr/>
        </p:nvSpPr>
        <p:spPr>
          <a:xfrm>
            <a:off x="12509500" y="2921000"/>
            <a:ext cx="5080000" cy="101600"/>
          </a:xfrm>
          <a:prstGeom prst="rect">
            <a:avLst/>
          </a:prstGeom>
          <a:solidFill>
            <a:srgbClr val="FFDE5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2A6379-E4C2-CC4E-9DED-0CA9CB381373}"/>
              </a:ext>
            </a:extLst>
          </p:cNvPr>
          <p:cNvSpPr txBox="1"/>
          <p:nvPr/>
        </p:nvSpPr>
        <p:spPr>
          <a:xfrm>
            <a:off x="12788900" y="3238500"/>
            <a:ext cx="45212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3500" b="1">
                <a:solidFill>
                  <a:srgbClr val="0B2A44"/>
                </a:solidFill>
                <a:latin typeface="Montserrat 1 Bold"/>
              </a:rPr>
              <a:t>STATE ESTIMATE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C908800-0E1D-EBD8-DCEC-0D8D8122E780}"/>
                  </a:ext>
                </a:extLst>
              </p:cNvPr>
              <p:cNvSpPr txBox="1"/>
              <p:nvPr/>
            </p:nvSpPr>
            <p:spPr>
              <a:xfrm>
                <a:off x="12814300" y="4423603"/>
                <a:ext cx="44704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3200">
                    <a:solidFill>
                      <a:srgbClr val="0B2A44"/>
                    </a:solidFill>
                    <a:latin typeface="Montserrat 1"/>
                  </a:rPr>
                  <a:t>Compose small rotations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it-IT" sz="32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ˆ"/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it-IT" sz="32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it-IT" sz="32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3200">
                  <a:solidFill>
                    <a:srgbClr val="0B2A44"/>
                  </a:solidFill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ˆ"/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it-IT" sz="32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ˆ"/>
                              <m:ctrlP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it-IT" sz="3200" b="0" i="1" smtClean="0">
                                      <a:solidFill>
                                        <a:srgbClr val="0B2A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sz="3200" b="0" i="1" smtClean="0">
                                      <a:solidFill>
                                        <a:srgbClr val="0B2A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  <m:sub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>
                  <a:solidFill>
                    <a:srgbClr val="0B2A44"/>
                  </a:solidFill>
                  <a:latin typeface="Cambria Math"/>
                </a:endParaRPr>
              </a:p>
              <a:p>
                <a:pPr algn="l"/>
                <a:endParaRPr lang="en-US" sz="2400">
                  <a:solidFill>
                    <a:srgbClr val="0B2A44"/>
                  </a:solidFill>
                  <a:latin typeface="Cambria Math"/>
                </a:endParaRPr>
              </a:p>
              <a:p>
                <a:pPr algn="l"/>
                <a:r>
                  <a:rPr lang="en-US" sz="2400">
                    <a:solidFill>
                      <a:srgbClr val="0B2A44"/>
                    </a:solidFill>
                    <a:latin typeface="Cambria Math"/>
                  </a:rPr>
                  <a:t>x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C908800-0E1D-EBD8-DCEC-0D8D8122E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4300" y="4423603"/>
                <a:ext cx="4470400" cy="1905000"/>
              </a:xfrm>
              <a:prstGeom prst="rect">
                <a:avLst/>
              </a:prstGeom>
              <a:blipFill>
                <a:blip r:embed="rId5"/>
                <a:stretch>
                  <a:fillRect l="-4093" t="-29167" b="-32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3968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8A86F-F190-3308-1AFC-AD8A56840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35E69C5-E2D9-6771-E83B-311A14579D85}"/>
              </a:ext>
            </a:extLst>
          </p:cNvPr>
          <p:cNvGrpSpPr/>
          <p:nvPr/>
        </p:nvGrpSpPr>
        <p:grpSpPr>
          <a:xfrm>
            <a:off x="-1650873" y="-3314700"/>
            <a:ext cx="21593175" cy="16192500"/>
            <a:chOff x="0" y="0"/>
            <a:chExt cx="28790900" cy="2159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1E3139-D78C-974B-D6F4-A72B6228444D}"/>
                </a:ext>
              </a:extLst>
            </p:cNvPr>
            <p:cNvSpPr/>
            <p:nvPr/>
          </p:nvSpPr>
          <p:spPr>
            <a:xfrm>
              <a:off x="0" y="0"/>
              <a:ext cx="28790900" cy="21590000"/>
            </a:xfrm>
            <a:custGeom>
              <a:avLst/>
              <a:gdLst/>
              <a:ahLst/>
              <a:cxnLst/>
              <a:rect l="l" t="t" r="r" b="b"/>
              <a:pathLst>
                <a:path w="28790900" h="21590000">
                  <a:moveTo>
                    <a:pt x="0" y="0"/>
                  </a:moveTo>
                  <a:lnTo>
                    <a:pt x="28790900" y="0"/>
                  </a:lnTo>
                  <a:lnTo>
                    <a:pt x="28790900" y="21590000"/>
                  </a:lnTo>
                  <a:lnTo>
                    <a:pt x="0" y="2159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240F0EB-A552-1A2C-0D94-61D67459BB3A}"/>
              </a:ext>
            </a:extLst>
          </p:cNvPr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8C1B32E-415E-9424-1CA7-A3D572A6139E}"/>
                </a:ext>
              </a:extLst>
            </p:cNvPr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118D1A3-95A3-F02D-5515-C1A012FA7C05}"/>
              </a:ext>
            </a:extLst>
          </p:cNvPr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FF5E891-A775-A04A-970E-F8157E8A8E6F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318A6DD-7C47-429B-C044-B7118DD0C85D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062532F-A4F2-BBA3-C98F-5980D1650C25}"/>
              </a:ext>
            </a:extLst>
          </p:cNvPr>
          <p:cNvSpPr txBox="1"/>
          <p:nvPr/>
        </p:nvSpPr>
        <p:spPr>
          <a:xfrm>
            <a:off x="234867" y="225762"/>
            <a:ext cx="14729984" cy="14784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12046"/>
              </a:lnSpc>
            </a:pPr>
            <a:r>
              <a:rPr lang="en-US" sz="6924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Quaternions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029EB7-5D5E-129F-400A-7E5979CB316B}"/>
              </a:ext>
            </a:extLst>
          </p:cNvPr>
          <p:cNvSpPr/>
          <p:nvPr/>
        </p:nvSpPr>
        <p:spPr>
          <a:xfrm>
            <a:off x="736600" y="2946400"/>
            <a:ext cx="10160000" cy="3657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7B10E-8344-1CD2-92D0-6C7E4A780214}"/>
              </a:ext>
            </a:extLst>
          </p:cNvPr>
          <p:cNvSpPr/>
          <p:nvPr/>
        </p:nvSpPr>
        <p:spPr>
          <a:xfrm>
            <a:off x="736600" y="2946400"/>
            <a:ext cx="10160000" cy="101600"/>
          </a:xfrm>
          <a:prstGeom prst="rect">
            <a:avLst/>
          </a:prstGeom>
          <a:solidFill>
            <a:srgbClr val="00B8C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5A2690-4583-3EBF-E107-9B2C59371449}"/>
              </a:ext>
            </a:extLst>
          </p:cNvPr>
          <p:cNvSpPr txBox="1"/>
          <p:nvPr/>
        </p:nvSpPr>
        <p:spPr>
          <a:xfrm>
            <a:off x="1079500" y="3187700"/>
            <a:ext cx="161036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000" b="1">
                <a:solidFill>
                  <a:srgbClr val="0B2A44"/>
                </a:solidFill>
                <a:latin typeface="Arial"/>
                <a:cs typeface="Arial"/>
              </a:rPr>
              <a:t>DEFINITION  ·  SCALAR-FIRST CONVENTION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C5BB60-5BA3-C54C-9CD1-41CAE3F9C8B6}"/>
              </a:ext>
            </a:extLst>
          </p:cNvPr>
          <p:cNvSpPr txBox="1"/>
          <p:nvPr/>
        </p:nvSpPr>
        <p:spPr>
          <a:xfrm>
            <a:off x="1091692" y="3685032"/>
            <a:ext cx="67564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4300">
                <a:solidFill>
                  <a:srgbClr val="0B2A44"/>
                </a:solidFill>
                <a:latin typeface="Cambria Math"/>
                <a:ea typeface="Cambria Math"/>
              </a:rPr>
              <a:t>q = [q₀; q₁</a:t>
            </a:r>
            <a:r>
              <a:rPr lang="it-IT" sz="4000">
                <a:solidFill>
                  <a:srgbClr val="0B2A44"/>
                </a:solidFill>
                <a:latin typeface="Cambria Math"/>
                <a:ea typeface="Cambria Math"/>
              </a:rPr>
              <a:t>,</a:t>
            </a:r>
            <a:r>
              <a:rPr lang="it-IT" sz="4300">
                <a:solidFill>
                  <a:srgbClr val="0B2A44"/>
                </a:solidFill>
                <a:latin typeface="Cambria Math"/>
                <a:ea typeface="Cambria Math"/>
              </a:rPr>
              <a:t> q₂, q₃]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57C763-269C-8889-0B39-429915B27043}"/>
              </a:ext>
            </a:extLst>
          </p:cNvPr>
          <p:cNvSpPr/>
          <p:nvPr/>
        </p:nvSpPr>
        <p:spPr>
          <a:xfrm>
            <a:off x="7937500" y="4191000"/>
            <a:ext cx="25400" cy="1676400"/>
          </a:xfrm>
          <a:prstGeom prst="rect">
            <a:avLst/>
          </a:prstGeom>
          <a:solidFill>
            <a:srgbClr val="D7E5E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D8E382-881C-3799-1BD2-A7C81835364F}"/>
              </a:ext>
            </a:extLst>
          </p:cNvPr>
          <p:cNvSpPr txBox="1"/>
          <p:nvPr/>
        </p:nvSpPr>
        <p:spPr>
          <a:xfrm>
            <a:off x="1091692" y="4783582"/>
            <a:ext cx="33782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4000">
                <a:solidFill>
                  <a:srgbClr val="0B2A44"/>
                </a:solidFill>
                <a:latin typeface="Cambria Math"/>
                <a:ea typeface="Cambria Math"/>
              </a:rPr>
              <a:t>q₀ = cos(</a:t>
            </a:r>
            <a:r>
              <a:rPr lang="el-GR" sz="4000">
                <a:solidFill>
                  <a:srgbClr val="0B2A44"/>
                </a:solidFill>
                <a:latin typeface="Cambria Math"/>
                <a:ea typeface="Cambria Math"/>
              </a:rPr>
              <a:t>θ/2)</a:t>
            </a:r>
            <a:endParaRPr lang="it-IT" sz="4000">
              <a:solidFill>
                <a:srgbClr val="0B2A44"/>
              </a:solidFill>
              <a:latin typeface="Cambria Math"/>
              <a:ea typeface="Cambria Math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4887E2-DAFE-C081-FC94-77FD9F541D1C}"/>
              </a:ext>
            </a:extLst>
          </p:cNvPr>
          <p:cNvSpPr txBox="1"/>
          <p:nvPr/>
        </p:nvSpPr>
        <p:spPr>
          <a:xfrm>
            <a:off x="5105400" y="4809817"/>
            <a:ext cx="86614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S" sz="4000">
                <a:solidFill>
                  <a:srgbClr val="0B2A44"/>
                </a:solidFill>
                <a:latin typeface="Cambria Math"/>
                <a:ea typeface="Cambria Math"/>
              </a:rPr>
              <a:t>[q₁,q₂,q₃] = u sin(θ/2)</a:t>
            </a:r>
            <a:endParaRPr lang="it-IT" sz="4000">
              <a:solidFill>
                <a:srgbClr val="0B2A44"/>
              </a:solidFill>
              <a:latin typeface="Cambria Math"/>
              <a:ea typeface="Cambria Math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529B7F-BBC1-F97D-D2B0-639D2DE1FD90}"/>
              </a:ext>
            </a:extLst>
          </p:cNvPr>
          <p:cNvSpPr txBox="1"/>
          <p:nvPr/>
        </p:nvSpPr>
        <p:spPr>
          <a:xfrm>
            <a:off x="1054100" y="5892800"/>
            <a:ext cx="160020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l-GR" sz="4000">
                <a:solidFill>
                  <a:srgbClr val="0B2A44"/>
                </a:solidFill>
                <a:latin typeface="Cambria Math"/>
                <a:ea typeface="Cambria Math"/>
              </a:rPr>
              <a:t>θ = </a:t>
            </a:r>
            <a:r>
              <a:rPr lang="it-IT" sz="4000" err="1">
                <a:solidFill>
                  <a:srgbClr val="0B2A44"/>
                </a:solidFill>
                <a:latin typeface="Cambria Math"/>
                <a:ea typeface="Cambria Math"/>
              </a:rPr>
              <a:t>rotation</a:t>
            </a:r>
            <a:r>
              <a:rPr lang="it-IT" sz="4000">
                <a:solidFill>
                  <a:srgbClr val="0B2A44"/>
                </a:solidFill>
                <a:latin typeface="Cambria Math"/>
                <a:ea typeface="Cambria Math"/>
              </a:rPr>
              <a:t> angle,     ‖u‖ = 1 ,     ‖q‖ =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10852B-C325-32D4-D183-043F9F3653D0}"/>
              </a:ext>
            </a:extLst>
          </p:cNvPr>
          <p:cNvSpPr/>
          <p:nvPr/>
        </p:nvSpPr>
        <p:spPr>
          <a:xfrm>
            <a:off x="736600" y="6870700"/>
            <a:ext cx="16925588" cy="2082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CD7E7D-55A1-8263-FEC5-2FFE5B9C6A88}"/>
              </a:ext>
            </a:extLst>
          </p:cNvPr>
          <p:cNvSpPr/>
          <p:nvPr/>
        </p:nvSpPr>
        <p:spPr>
          <a:xfrm>
            <a:off x="736600" y="6870700"/>
            <a:ext cx="16925588" cy="101600"/>
          </a:xfrm>
          <a:prstGeom prst="rect">
            <a:avLst/>
          </a:prstGeom>
          <a:solidFill>
            <a:srgbClr val="A7D86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1FE34E-84BE-0EE3-2804-D883C90FC4D1}"/>
              </a:ext>
            </a:extLst>
          </p:cNvPr>
          <p:cNvSpPr txBox="1"/>
          <p:nvPr/>
        </p:nvSpPr>
        <p:spPr>
          <a:xfrm>
            <a:off x="990600" y="9931400"/>
            <a:ext cx="13970000" cy="2413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B8C6CC"/>
                </a:solidFill>
                <a:latin typeface="Arial"/>
                <a:cs typeface="Arial"/>
              </a:rPr>
              <a:t>Source: J. Solà (2017), Quaternion kinematics for the error-state Kalman filter.</a:t>
            </a:r>
            <a:endParaRPr lang="it-IT" sz="10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FB02DC9-B962-01B3-AB08-5438EC4A4289}"/>
              </a:ext>
            </a:extLst>
          </p:cNvPr>
          <p:cNvSpPr/>
          <p:nvPr/>
        </p:nvSpPr>
        <p:spPr>
          <a:xfrm>
            <a:off x="12509500" y="2921000"/>
            <a:ext cx="5080000" cy="36195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66C6D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84F46F-789B-D525-F61A-F17CCC0B63CB}"/>
              </a:ext>
            </a:extLst>
          </p:cNvPr>
          <p:cNvSpPr/>
          <p:nvPr/>
        </p:nvSpPr>
        <p:spPr>
          <a:xfrm>
            <a:off x="12509500" y="2921000"/>
            <a:ext cx="5080000" cy="101600"/>
          </a:xfrm>
          <a:prstGeom prst="rect">
            <a:avLst/>
          </a:prstGeom>
          <a:solidFill>
            <a:srgbClr val="FFDE5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253B73-69DA-F024-3CE9-0E1A36504942}"/>
              </a:ext>
            </a:extLst>
          </p:cNvPr>
          <p:cNvSpPr txBox="1"/>
          <p:nvPr/>
        </p:nvSpPr>
        <p:spPr>
          <a:xfrm>
            <a:off x="12788900" y="3238500"/>
            <a:ext cx="45212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3500" b="1">
                <a:solidFill>
                  <a:srgbClr val="0B2A44"/>
                </a:solidFill>
                <a:latin typeface="Montserrat 1 Bold"/>
              </a:rPr>
              <a:t>STATE ESTIMATE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1C1FB20-4592-281B-626D-54E05F9B3CD6}"/>
                  </a:ext>
                </a:extLst>
              </p:cNvPr>
              <p:cNvSpPr txBox="1"/>
              <p:nvPr/>
            </p:nvSpPr>
            <p:spPr>
              <a:xfrm>
                <a:off x="12814300" y="4423603"/>
                <a:ext cx="44704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sz="3200">
                    <a:solidFill>
                      <a:srgbClr val="0B2A44"/>
                    </a:solidFill>
                    <a:latin typeface="Montserrat 1"/>
                  </a:rPr>
                  <a:t>Compose small rotations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it-IT" sz="32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ˆ"/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it-IT" sz="32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it-IT" sz="32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3200">
                  <a:solidFill>
                    <a:srgbClr val="0B2A44"/>
                  </a:solidFill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ˆ"/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it-IT" sz="3200" b="0" i="1" smtClean="0">
                          <a:solidFill>
                            <a:srgbClr val="0B2A4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ˆ"/>
                              <m:ctrlP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it-IT" sz="3200" b="0" i="1" smtClean="0">
                              <a:solidFill>
                                <a:srgbClr val="0B2A4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ˆ"/>
                                  <m:ctrlPr>
                                    <a:rPr lang="it-IT" sz="3200" b="0" i="1" smtClean="0">
                                      <a:solidFill>
                                        <a:srgbClr val="0B2A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sz="3200" b="0" i="1" smtClean="0">
                                      <a:solidFill>
                                        <a:srgbClr val="0B2A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  <m:sub>
                              <m:r>
                                <a:rPr lang="it-IT" sz="3200" b="0" i="1" smtClean="0">
                                  <a:solidFill>
                                    <a:srgbClr val="0B2A44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>
                  <a:solidFill>
                    <a:srgbClr val="0B2A44"/>
                  </a:solidFill>
                  <a:latin typeface="Cambria Math"/>
                </a:endParaRPr>
              </a:p>
              <a:p>
                <a:pPr algn="l"/>
                <a:endParaRPr lang="en-US" sz="2400">
                  <a:solidFill>
                    <a:srgbClr val="0B2A44"/>
                  </a:solidFill>
                  <a:latin typeface="Cambria Math"/>
                </a:endParaRPr>
              </a:p>
              <a:p>
                <a:pPr algn="l"/>
                <a:r>
                  <a:rPr lang="en-US" sz="2400">
                    <a:solidFill>
                      <a:srgbClr val="0B2A44"/>
                    </a:solidFill>
                    <a:latin typeface="Cambria Math"/>
                  </a:rPr>
                  <a:t>x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1C1FB20-4592-281B-626D-54E05F9B3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4300" y="4423603"/>
                <a:ext cx="4470400" cy="1905000"/>
              </a:xfrm>
              <a:prstGeom prst="rect">
                <a:avLst/>
              </a:prstGeom>
              <a:blipFill>
                <a:blip r:embed="rId4"/>
                <a:stretch>
                  <a:fillRect l="-4093" t="-29167" b="-32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7E8917-8567-ED4E-14C0-A0F9E924E4B4}"/>
                  </a:ext>
                </a:extLst>
              </p:cNvPr>
              <p:cNvSpPr txBox="1"/>
              <p:nvPr/>
            </p:nvSpPr>
            <p:spPr>
              <a:xfrm>
                <a:off x="1048004" y="7528523"/>
                <a:ext cx="15550029" cy="11989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endParaRPr lang="it-IT" sz="4000" i="1">
                  <a:solidFill>
                    <a:srgbClr val="0B2A44"/>
                  </a:solidFill>
                  <a:latin typeface="Cambria Math" panose="02040503050406030204" pitchFamily="18" charset="0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dirty="0" smtClean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sz="4000" i="1" dirty="0" smtClean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dirty="0" smtClean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4000" b="0" i="1" dirty="0" smtClean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000" i="1" dirty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4000" i="1" dirty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4000" i="1" dirty="0">
                                  <a:solidFill>
                                    <a:srgbClr val="0A304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i="1" dirty="0">
                                  <a:solidFill>
                                    <a:srgbClr val="0A3049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b>
                          <m:r>
                            <a:rPr lang="en-US" sz="4000" b="0" i="1" dirty="0" smtClean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000" i="1" dirty="0" smtClean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4000" i="0" dirty="0" err="1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4000" i="1" dirty="0" err="1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i="1" dirty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   [</m:t>
                      </m:r>
                      <m:r>
                        <a:rPr lang="en-US" sz="4000" i="1" dirty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𝑟𝑎𝑑</m:t>
                      </m:r>
                      <m:r>
                        <a:rPr lang="en-US" sz="4000" i="1" dirty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]      </m:t>
                      </m:r>
                      <m:sSub>
                        <m:sSubPr>
                          <m:ctrlPr>
                            <a:rPr lang="en-US" sz="4000" i="1" dirty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dirty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4000" b="0" i="1" dirty="0" smtClean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000" i="1" dirty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=‖</m:t>
                      </m:r>
                      <m:r>
                        <a:rPr lang="en-US" sz="4000" b="0" i="1" dirty="0" smtClean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sz="4000" i="1" dirty="0" err="1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dirty="0" err="1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4000" b="0" i="1" dirty="0" smtClean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000" i="1" dirty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‖      </m:t>
                      </m:r>
                      <m:sSub>
                        <m:sSubPr>
                          <m:ctrlPr>
                            <a:rPr lang="en-US" sz="4000" i="1" dirty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dirty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4000" b="0" i="1" dirty="0" smtClean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000" i="1" dirty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4000" b="0" i="1" dirty="0" smtClean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sz="4000" i="1" dirty="0" err="1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dirty="0" err="1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4000" b="0" i="1" dirty="0" smtClean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000" i="1" dirty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4000" i="1" dirty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dirty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4000" b="0" i="1" dirty="0" smtClean="0">
                              <a:solidFill>
                                <a:srgbClr val="0A3049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000" i="1" dirty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US" sz="4000" i="1" dirty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4000" i="1" dirty="0">
                          <a:solidFill>
                            <a:srgbClr val="0A3049"/>
                          </a:solidFill>
                          <a:latin typeface="Cambria Math" panose="02040503050406030204" pitchFamily="18" charset="0"/>
                        </a:rPr>
                        <m:t> &gt; 0)</m:t>
                      </m:r>
                    </m:oMath>
                  </m:oMathPara>
                </a14:m>
                <a:endParaRPr lang="it-IT" sz="4000"/>
              </a:p>
              <a:p>
                <a:endParaRPr lang="it-IT" sz="4000">
                  <a:solidFill>
                    <a:srgbClr val="0B2A44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7E8917-8567-ED4E-14C0-A0F9E924E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004" y="7528523"/>
                <a:ext cx="15550029" cy="11989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7D3C79F5-1F7E-C1CA-1222-F006B603E26E}"/>
              </a:ext>
            </a:extLst>
          </p:cNvPr>
          <p:cNvSpPr txBox="1"/>
          <p:nvPr/>
        </p:nvSpPr>
        <p:spPr>
          <a:xfrm>
            <a:off x="952500" y="6960616"/>
            <a:ext cx="16103600" cy="444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000" b="1">
                <a:solidFill>
                  <a:srgbClr val="0B2A44"/>
                </a:solidFill>
                <a:latin typeface="Arial"/>
                <a:cs typeface="Arial"/>
              </a:rPr>
              <a:t>DEFINITION  ·  SMALL ROTATIONS</a:t>
            </a:r>
          </a:p>
        </p:txBody>
      </p:sp>
    </p:spTree>
    <p:extLst>
      <p:ext uri="{BB962C8B-B14F-4D97-AF65-F5344CB8AC3E}">
        <p14:creationId xmlns:p14="http://schemas.microsoft.com/office/powerpoint/2010/main" val="42713427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23BB8-5923-7434-4A03-CC6DDA86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2">
            <a:extLst>
              <a:ext uri="{FF2B5EF4-FFF2-40B4-BE49-F238E27FC236}">
                <a16:creationId xmlns:a16="http://schemas.microsoft.com/office/drawing/2014/main" id="{66B8D3E4-3CB9-A438-D299-92940EDAA21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8" name="Freeform 3">
              <a:extLst>
                <a:ext uri="{FF2B5EF4-FFF2-40B4-BE49-F238E27FC236}">
                  <a16:creationId xmlns:a16="http://schemas.microsoft.com/office/drawing/2014/main" id="{1BEE5A7E-9242-5AD2-5949-02F8E23F987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681C29A-E6AB-1B62-6B71-9F485E0B8A60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A9158E-2310-EDD4-8FB4-6AA0333A45E6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F9870A-E65B-E637-6AA7-A428EA106784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PREDICT WITH THE GYROSCOPE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A9101E-77C9-097E-8237-6487CA07A0EF}"/>
                  </a:ext>
                </a:extLst>
              </p:cNvPr>
              <p:cNvSpPr txBox="1"/>
              <p:nvPr/>
            </p:nvSpPr>
            <p:spPr>
              <a:xfrm>
                <a:off x="2286000" y="3429000"/>
                <a:ext cx="6096000" cy="7239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l-GR" sz="40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40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  <m:t>ω</m:t>
                          </m:r>
                        </m:e>
                      </m:acc>
                      <m:r>
                        <a:rPr lang="el-GR" sz="4000" b="1">
                          <a:solidFill>
                            <a:srgbClr val="F5F6F7"/>
                          </a:solidFill>
                          <a:latin typeface="Cambria Math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l-GR" sz="4000" b="1">
                          <a:solidFill>
                            <a:srgbClr val="F5F6F7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4000" b="1">
                          <a:solidFill>
                            <a:srgbClr val="F5F6F7"/>
                          </a:solidFill>
                          <a:latin typeface="Cambria Math"/>
                        </a:rPr>
                        <m:t>ₘ − </m:t>
                      </m:r>
                      <m:sSub>
                        <m:sSubPr>
                          <m:ctrlPr>
                            <a:rPr lang="el-GR" sz="4000" b="1" i="1">
                              <a:solidFill>
                                <a:srgbClr val="F5F6F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l-GR" sz="4000" b="1">
                                  <a:solidFill>
                                    <a:srgbClr val="F5F6F7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4000" b="1">
                                  <a:solidFill>
                                    <a:srgbClr val="F5F6F7"/>
                                  </a:solidFill>
                                  <a:latin typeface="Cambria Math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l-GR" sz="40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A9101E-77C9-097E-8237-6487CA07A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429000"/>
                <a:ext cx="6096000" cy="72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C46DFF-1829-9535-BD2B-54FA197089C1}"/>
                  </a:ext>
                </a:extLst>
              </p:cNvPr>
              <p:cNvSpPr txBox="1"/>
              <p:nvPr/>
            </p:nvSpPr>
            <p:spPr>
              <a:xfrm>
                <a:off x="9144000" y="3429000"/>
                <a:ext cx="7239000" cy="7239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it-IT" sz="40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sz="40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  <m:t>q</m:t>
                          </m:r>
                        </m:e>
                      </m:acc>
                      <m: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ₖ₊₁⁻ = </m:t>
                      </m:r>
                      <m:acc>
                        <m:accPr>
                          <m:chr m:val="̂"/>
                          <m:ctrlPr>
                            <a:rPr lang="it-IT" sz="40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sz="40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  <m:t>q</m:t>
                          </m:r>
                        </m:e>
                      </m:acc>
                      <m: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ₖ⁺ ⊗ </m:t>
                      </m:r>
                      <m:r>
                        <m:rPr>
                          <m:sty m:val="p"/>
                        </m:rP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Exp</m:t>
                      </m:r>
                      <m: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(</m:t>
                      </m:r>
                      <m:r>
                        <a:rPr lang="it-IT" sz="4000" b="1" i="1" smtClean="0">
                          <a:solidFill>
                            <a:srgbClr val="F5F6F7"/>
                          </a:solidFill>
                          <a:latin typeface="Cambria Math" panose="02040503050406030204" pitchFamily="18" charset="0"/>
                        </a:rPr>
                        <m:t>𝜹</m:t>
                      </m:r>
                      <m:acc>
                        <m:accPr>
                          <m:chr m:val="̂"/>
                          <m:ctrlPr>
                            <a:rPr lang="it-IT" sz="4000" b="1" i="1" smtClean="0">
                              <a:solidFill>
                                <a:srgbClr val="F5F6F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4000" b="1" i="1" smtClean="0">
                              <a:solidFill>
                                <a:srgbClr val="F5F6F7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it-IT" sz="4000" b="1">
                          <a:solidFill>
                            <a:srgbClr val="F5F6F7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C46DFF-1829-9535-BD2B-54FA19708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0" y="3429000"/>
                <a:ext cx="7239000" cy="723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2D33767F-D755-39FE-0A90-501DFD440003}"/>
              </a:ext>
            </a:extLst>
          </p:cNvPr>
          <p:cNvSpPr/>
          <p:nvPr/>
        </p:nvSpPr>
        <p:spPr>
          <a:xfrm>
            <a:off x="952500" y="5105400"/>
            <a:ext cx="32385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1C14AA-52E3-C47A-EFB4-E6FD7B41D97F}"/>
              </a:ext>
            </a:extLst>
          </p:cNvPr>
          <p:cNvSpPr/>
          <p:nvPr/>
        </p:nvSpPr>
        <p:spPr>
          <a:xfrm>
            <a:off x="952500" y="5105400"/>
            <a:ext cx="3238500" cy="1143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68D513-BE3A-1D6D-BA52-D520A1955469}"/>
              </a:ext>
            </a:extLst>
          </p:cNvPr>
          <p:cNvSpPr txBox="1"/>
          <p:nvPr/>
        </p:nvSpPr>
        <p:spPr>
          <a:xfrm>
            <a:off x="1181100" y="5448300"/>
            <a:ext cx="27813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0B2D45"/>
                </a:solidFill>
                <a:latin typeface="Aptos"/>
              </a:rPr>
              <a:t>GYRO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1286097-76E2-A703-AFB9-8C4779CE54F7}"/>
                  </a:ext>
                </a:extLst>
              </p:cNvPr>
              <p:cNvSpPr txBox="1"/>
              <p:nvPr/>
            </p:nvSpPr>
            <p:spPr>
              <a:xfrm>
                <a:off x="1181100" y="6172200"/>
                <a:ext cx="2781300" cy="533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4000" b="1">
                          <a:solidFill>
                            <a:srgbClr val="0B2D45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4000" b="1">
                          <a:solidFill>
                            <a:srgbClr val="0B2D45"/>
                          </a:solidFill>
                          <a:latin typeface="Cambria Math"/>
                        </a:rPr>
                        <m:t>ₘ</m:t>
                      </m:r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1286097-76E2-A703-AFB9-8C4779CE5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6172200"/>
                <a:ext cx="2781300" cy="53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rrow: Right 27">
            <a:extLst>
              <a:ext uri="{FF2B5EF4-FFF2-40B4-BE49-F238E27FC236}">
                <a16:creationId xmlns:a16="http://schemas.microsoft.com/office/drawing/2014/main" id="{2B8C2968-85D3-FED7-D521-F52938F3DD50}"/>
              </a:ext>
            </a:extLst>
          </p:cNvPr>
          <p:cNvSpPr/>
          <p:nvPr/>
        </p:nvSpPr>
        <p:spPr>
          <a:xfrm>
            <a:off x="4381500" y="5829300"/>
            <a:ext cx="762000" cy="3048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E7CFEA-0DD0-9217-5A62-27B454E000E7}"/>
              </a:ext>
            </a:extLst>
          </p:cNvPr>
          <p:cNvSpPr/>
          <p:nvPr/>
        </p:nvSpPr>
        <p:spPr>
          <a:xfrm>
            <a:off x="5143500" y="5105400"/>
            <a:ext cx="32385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50826A-7FBC-E938-4B50-A986FCC7B646}"/>
              </a:ext>
            </a:extLst>
          </p:cNvPr>
          <p:cNvSpPr/>
          <p:nvPr/>
        </p:nvSpPr>
        <p:spPr>
          <a:xfrm>
            <a:off x="5143500" y="5105400"/>
            <a:ext cx="3238500" cy="114300"/>
          </a:xfrm>
          <a:prstGeom prst="rect">
            <a:avLst/>
          </a:prstGeom>
          <a:solidFill>
            <a:srgbClr val="78A7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309ECF-73B5-6120-ACA2-096742B7FFD8}"/>
              </a:ext>
            </a:extLst>
          </p:cNvPr>
          <p:cNvSpPr txBox="1"/>
          <p:nvPr/>
        </p:nvSpPr>
        <p:spPr>
          <a:xfrm>
            <a:off x="5372100" y="5448300"/>
            <a:ext cx="27813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600" b="1">
                <a:solidFill>
                  <a:srgbClr val="0B2D45"/>
                </a:solidFill>
                <a:latin typeface="Aptos"/>
              </a:rPr>
              <a:t>REMOVE ESTIMATED BIAS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D245B90-0C68-1536-A0C4-3BF2FCFDF157}"/>
                  </a:ext>
                </a:extLst>
              </p:cNvPr>
              <p:cNvSpPr txBox="1"/>
              <p:nvPr/>
            </p:nvSpPr>
            <p:spPr>
              <a:xfrm>
                <a:off x="5186082" y="6210300"/>
                <a:ext cx="3200400" cy="533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l-GR" sz="3000" b="1">
                              <a:solidFill>
                                <a:srgbClr val="0B2D45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3000" b="1">
                              <a:solidFill>
                                <a:srgbClr val="0B2D45"/>
                              </a:solidFill>
                              <a:latin typeface="Cambria Math"/>
                            </a:rPr>
                            <m:t>ω</m:t>
                          </m:r>
                        </m:e>
                      </m:acc>
                      <m:r>
                        <a:rPr lang="el-GR" sz="3000" b="1">
                          <a:solidFill>
                            <a:srgbClr val="0B2D45"/>
                          </a:solidFill>
                          <a:latin typeface="Cambria Math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l-GR" sz="3000" b="1">
                          <a:solidFill>
                            <a:srgbClr val="0B2D45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3000" b="1">
                          <a:solidFill>
                            <a:srgbClr val="0B2D45"/>
                          </a:solidFill>
                          <a:latin typeface="Cambria Math"/>
                        </a:rPr>
                        <m:t>ₘ − </m:t>
                      </m:r>
                      <m:sSub>
                        <m:sSubPr>
                          <m:ctrlPr>
                            <a:rPr lang="el-GR" sz="3000" b="1" i="1">
                              <a:solidFill>
                                <a:srgbClr val="0B2D4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l-GR" sz="3000" b="1">
                                  <a:solidFill>
                                    <a:srgbClr val="0B2D45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3000" b="1">
                                  <a:solidFill>
                                    <a:srgbClr val="0B2D45"/>
                                  </a:solidFill>
                                  <a:latin typeface="Cambria Math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l-GR" sz="3000" b="1">
                              <a:solidFill>
                                <a:srgbClr val="0B2D45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sz="300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D245B90-0C68-1536-A0C4-3BF2FCFDF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082" y="6210300"/>
                <a:ext cx="3200400" cy="533400"/>
              </a:xfrm>
              <a:prstGeom prst="rect">
                <a:avLst/>
              </a:prstGeom>
              <a:blipFill>
                <a:blip r:embed="rId6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Right 32">
            <a:extLst>
              <a:ext uri="{FF2B5EF4-FFF2-40B4-BE49-F238E27FC236}">
                <a16:creationId xmlns:a16="http://schemas.microsoft.com/office/drawing/2014/main" id="{2254EC23-085F-C3E3-4327-ED7FA07501A1}"/>
              </a:ext>
            </a:extLst>
          </p:cNvPr>
          <p:cNvSpPr/>
          <p:nvPr/>
        </p:nvSpPr>
        <p:spPr>
          <a:xfrm>
            <a:off x="8572500" y="5829300"/>
            <a:ext cx="762000" cy="3048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6174AF-E098-1CAF-06BE-71B77A9A3120}"/>
              </a:ext>
            </a:extLst>
          </p:cNvPr>
          <p:cNvSpPr/>
          <p:nvPr/>
        </p:nvSpPr>
        <p:spPr>
          <a:xfrm>
            <a:off x="9334500" y="5105400"/>
            <a:ext cx="32385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1C8320-5939-9E73-081C-AA89BD606A37}"/>
              </a:ext>
            </a:extLst>
          </p:cNvPr>
          <p:cNvSpPr/>
          <p:nvPr/>
        </p:nvSpPr>
        <p:spPr>
          <a:xfrm>
            <a:off x="9334500" y="5105400"/>
            <a:ext cx="3238500" cy="1143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6FFA31-0827-7527-4B5B-277526EE54D6}"/>
              </a:ext>
            </a:extLst>
          </p:cNvPr>
          <p:cNvSpPr txBox="1"/>
          <p:nvPr/>
        </p:nvSpPr>
        <p:spPr>
          <a:xfrm>
            <a:off x="9563100" y="5448300"/>
            <a:ext cx="27813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0B2D45"/>
                </a:solidFill>
                <a:latin typeface="Aptos"/>
              </a:rPr>
              <a:t>INTEGRATE ROTATION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5EF1C6D-A89D-BBBE-CCEA-3964A13EB049}"/>
                  </a:ext>
                </a:extLst>
              </p:cNvPr>
              <p:cNvSpPr txBox="1"/>
              <p:nvPr/>
            </p:nvSpPr>
            <p:spPr>
              <a:xfrm>
                <a:off x="9563100" y="6172200"/>
                <a:ext cx="2781300" cy="533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it-IT" sz="3000" b="1" smtClean="0">
                          <a:solidFill>
                            <a:srgbClr val="0B2D45"/>
                          </a:solidFill>
                          <a:latin typeface="Cambria Math"/>
                        </a:rPr>
                        <m:t>Exp</m:t>
                      </m:r>
                      <m:r>
                        <a:rPr lang="it-IT" sz="3000" b="1" smtClean="0">
                          <a:solidFill>
                            <a:srgbClr val="0B2D45"/>
                          </a:solidFill>
                          <a:latin typeface="Cambria Math"/>
                        </a:rPr>
                        <m:t>(</m:t>
                      </m:r>
                      <m:r>
                        <a:rPr lang="it-IT" sz="3000" b="1" i="1">
                          <a:solidFill>
                            <a:srgbClr val="0B2D45"/>
                          </a:solidFill>
                          <a:latin typeface="Cambria Math"/>
                        </a:rPr>
                        <m:t>𝜹</m:t>
                      </m:r>
                      <m:acc>
                        <m:accPr>
                          <m:chr m:val="̂"/>
                          <m:ctrlPr>
                            <a:rPr lang="it-IT" sz="3000" b="1" i="1">
                              <a:solidFill>
                                <a:srgbClr val="0B2D45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it-IT" sz="3000" b="1" i="1">
                              <a:solidFill>
                                <a:srgbClr val="0B2D45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</m:acc>
                      <m:r>
                        <a:rPr lang="it-IT" sz="3000" b="1">
                          <a:solidFill>
                            <a:srgbClr val="0B2D45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300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5EF1C6D-A89D-BBBE-CCEA-3964A13EB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100" y="6172200"/>
                <a:ext cx="2781300" cy="533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row: Right 37">
            <a:extLst>
              <a:ext uri="{FF2B5EF4-FFF2-40B4-BE49-F238E27FC236}">
                <a16:creationId xmlns:a16="http://schemas.microsoft.com/office/drawing/2014/main" id="{8BB8D259-5F75-A7BE-2329-7A0EC44F6FAE}"/>
              </a:ext>
            </a:extLst>
          </p:cNvPr>
          <p:cNvSpPr/>
          <p:nvPr/>
        </p:nvSpPr>
        <p:spPr>
          <a:xfrm>
            <a:off x="12763500" y="5829300"/>
            <a:ext cx="762000" cy="3048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BE850B-7782-C357-491A-3949070E9617}"/>
              </a:ext>
            </a:extLst>
          </p:cNvPr>
          <p:cNvSpPr/>
          <p:nvPr/>
        </p:nvSpPr>
        <p:spPr>
          <a:xfrm>
            <a:off x="13525500" y="5105400"/>
            <a:ext cx="3810000" cy="190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FBE9755-F2EB-4ED0-BE04-EFD08448A96F}"/>
              </a:ext>
            </a:extLst>
          </p:cNvPr>
          <p:cNvSpPr/>
          <p:nvPr/>
        </p:nvSpPr>
        <p:spPr>
          <a:xfrm>
            <a:off x="13525500" y="5105400"/>
            <a:ext cx="3810000" cy="1143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AB9592-7BBD-763E-2721-17A48A13D8AB}"/>
              </a:ext>
            </a:extLst>
          </p:cNvPr>
          <p:cNvSpPr txBox="1"/>
          <p:nvPr/>
        </p:nvSpPr>
        <p:spPr>
          <a:xfrm>
            <a:off x="13754100" y="5448300"/>
            <a:ext cx="33528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0B2D45"/>
                </a:solidFill>
                <a:latin typeface="Aptos"/>
              </a:rPr>
              <a:t>PREDICT ATTITUDE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B06297B-26EF-347C-EE3B-6972E54EF729}"/>
                  </a:ext>
                </a:extLst>
              </p:cNvPr>
              <p:cNvSpPr txBox="1"/>
              <p:nvPr/>
            </p:nvSpPr>
            <p:spPr>
              <a:xfrm>
                <a:off x="13754100" y="6172200"/>
                <a:ext cx="3352800" cy="533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it-IT" sz="3000" b="1" i="1">
                              <a:solidFill>
                                <a:srgbClr val="FF5A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it-IT" sz="3000" b="1">
                                  <a:solidFill>
                                    <a:srgbClr val="FF5A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it-IT" sz="3000" b="1">
                                  <a:solidFill>
                                    <a:srgbClr val="FF5A00"/>
                                  </a:solidFill>
                                  <a:latin typeface="Cambria Math"/>
                                </a:rPr>
                                <m:t>q</m:t>
                              </m:r>
                            </m:e>
                          </m:acc>
                        </m:e>
                        <m:sub>
                          <m:r>
                            <a:rPr lang="it-IT" sz="3000" b="1" i="0" smtClean="0">
                              <a:solidFill>
                                <a:srgbClr val="FF5A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it-IT" sz="3000" b="1" i="0" smtClean="0">
                              <a:solidFill>
                                <a:srgbClr val="FF5A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3000" b="1" i="0" smtClean="0">
                              <a:solidFill>
                                <a:srgbClr val="FF5A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it-IT" sz="3000" b="1" i="0" smtClean="0">
                              <a:solidFill>
                                <a:srgbClr val="FF5A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sz="300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B06297B-26EF-347C-EE3B-6972E54EF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4100" y="6172200"/>
                <a:ext cx="3352800" cy="533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9C7353CF-2D93-5154-6DAF-5BB7E305F0A8}"/>
              </a:ext>
            </a:extLst>
          </p:cNvPr>
          <p:cNvSpPr txBox="1"/>
          <p:nvPr/>
        </p:nvSpPr>
        <p:spPr>
          <a:xfrm>
            <a:off x="2286000" y="8382000"/>
            <a:ext cx="13716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500" b="1">
                <a:solidFill>
                  <a:srgbClr val="F5F6F7"/>
                </a:solidFill>
                <a:latin typeface="Aptos"/>
              </a:rPr>
              <a:t>Excellent short-term information. But prediction alone drifts.</a:t>
            </a:r>
            <a:endParaRPr lang="it-IT" sz="3500" b="1">
              <a:solidFill>
                <a:srgbClr val="F5F6F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50170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0A09C18-0FB0-48EC-A993-CB0C22F960E2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72E37-D28D-4F36-A397-D32485251E83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B23F59-2BD9-4B22-AE7B-2262C7018500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OUR MINIMAL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B17AA2-FA8F-4452-A34F-52738633EA55}"/>
                  </a:ext>
                </a:extLst>
              </p:cNvPr>
              <p:cNvSpPr txBox="1"/>
              <p:nvPr/>
            </p:nvSpPr>
            <p:spPr>
              <a:xfrm>
                <a:off x="4953000" y="3429000"/>
                <a:ext cx="8382000" cy="8001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4000" b="1" smtClean="0">
                          <a:solidFill>
                            <a:srgbClr val="F5F6F7"/>
                          </a:solidFill>
                          <a:latin typeface="Cambria Math"/>
                        </a:rPr>
                        <m:t>δx</m:t>
                      </m:r>
                      <m:r>
                        <a:rPr lang="el-GR" sz="4000" b="1" smtClean="0">
                          <a:solidFill>
                            <a:srgbClr val="F5F6F7"/>
                          </a:solidFill>
                          <a:latin typeface="Cambria Math"/>
                        </a:rPr>
                        <m:t> = [</m:t>
                      </m:r>
                      <m:r>
                        <m:rPr>
                          <m:sty m:val="p"/>
                        </m:rPr>
                        <a:rPr lang="el-GR" sz="4000" b="1" smtClean="0">
                          <a:solidFill>
                            <a:srgbClr val="F5F6F7"/>
                          </a:solidFill>
                          <a:latin typeface="Cambria Math"/>
                        </a:rPr>
                        <m:t>δθ</m:t>
                      </m:r>
                      <m:r>
                        <a:rPr lang="el-GR" sz="4000" b="1" smtClean="0">
                          <a:solidFill>
                            <a:srgbClr val="F5F6F7"/>
                          </a:solidFill>
                          <a:latin typeface="Cambria Math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l-GR" sz="4000" b="1" smtClean="0">
                          <a:solidFill>
                            <a:srgbClr val="F5F6F7"/>
                          </a:solidFill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el-GR" sz="40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4000" b="1">
                              <a:solidFill>
                                <a:srgbClr val="F5F6F7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l-GR" sz="4000" b="1">
                          <a:solidFill>
                            <a:srgbClr val="F5F6F7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B17AA2-FA8F-4452-A34F-52738633E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429000"/>
                <a:ext cx="8382000" cy="800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8C455C4-BE0B-42F2-86B1-BA476B02D98B}"/>
              </a:ext>
            </a:extLst>
          </p:cNvPr>
          <p:cNvSpPr/>
          <p:nvPr/>
        </p:nvSpPr>
        <p:spPr>
          <a:xfrm>
            <a:off x="2286000" y="4495800"/>
            <a:ext cx="6096000" cy="1143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B87C1-6AEF-44E0-B069-B8FF72C6FC7A}"/>
              </a:ext>
            </a:extLst>
          </p:cNvPr>
          <p:cNvSpPr/>
          <p:nvPr/>
        </p:nvSpPr>
        <p:spPr>
          <a:xfrm>
            <a:off x="2286000" y="4495800"/>
            <a:ext cx="6096000" cy="1016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59E6FC-B3ED-42B3-9B7C-582330C15E31}"/>
                  </a:ext>
                </a:extLst>
              </p:cNvPr>
              <p:cNvSpPr txBox="1"/>
              <p:nvPr/>
            </p:nvSpPr>
            <p:spPr>
              <a:xfrm>
                <a:off x="2667000" y="4762500"/>
                <a:ext cx="1143000" cy="533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4000" b="1">
                          <a:solidFill>
                            <a:srgbClr val="15B9C5"/>
                          </a:solidFill>
                          <a:latin typeface="Cambria Math"/>
                        </a:rPr>
                        <m:t>δθ</m:t>
                      </m:r>
                    </m:oMath>
                  </m:oMathPara>
                </a14:m>
                <a:endParaRPr lang="it-IT" sz="4000" b="1">
                  <a:solidFill>
                    <a:srgbClr val="15B9C5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59E6FC-B3ED-42B3-9B7C-582330C15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762500"/>
                <a:ext cx="1143000" cy="533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123B857-566D-41ED-BA02-669752433B22}"/>
              </a:ext>
            </a:extLst>
          </p:cNvPr>
          <p:cNvSpPr txBox="1"/>
          <p:nvPr/>
        </p:nvSpPr>
        <p:spPr>
          <a:xfrm>
            <a:off x="4000500" y="4762500"/>
            <a:ext cx="3810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500">
                <a:solidFill>
                  <a:srgbClr val="0B2D45"/>
                </a:solidFill>
                <a:latin typeface="Aptos"/>
              </a:rPr>
              <a:t>attitude correction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48B10-6F90-4C37-996C-7537FC45D9E2}"/>
              </a:ext>
            </a:extLst>
          </p:cNvPr>
          <p:cNvSpPr/>
          <p:nvPr/>
        </p:nvSpPr>
        <p:spPr>
          <a:xfrm>
            <a:off x="9906000" y="4495800"/>
            <a:ext cx="6096000" cy="1143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BFB435-2490-4552-BEC9-B208A00CC466}"/>
              </a:ext>
            </a:extLst>
          </p:cNvPr>
          <p:cNvSpPr/>
          <p:nvPr/>
        </p:nvSpPr>
        <p:spPr>
          <a:xfrm>
            <a:off x="9906000" y="4495800"/>
            <a:ext cx="6096000" cy="1016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8CBF9D-7CB2-44AD-B510-EE09E89B98EE}"/>
                  </a:ext>
                </a:extLst>
              </p:cNvPr>
              <p:cNvSpPr txBox="1"/>
              <p:nvPr/>
            </p:nvSpPr>
            <p:spPr>
              <a:xfrm>
                <a:off x="10287000" y="4762500"/>
                <a:ext cx="1143000" cy="533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4000" b="1" smtClean="0">
                          <a:solidFill>
                            <a:srgbClr val="92D050"/>
                          </a:solidFill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lang="el-GR" sz="4000" b="1" smtClean="0">
                              <a:solidFill>
                                <a:srgbClr val="92D05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000" b="1" smtClean="0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4000" b="1" smtClean="0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it-IT" sz="400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8CBF9D-7CB2-44AD-B510-EE09E89B9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4762500"/>
                <a:ext cx="1143000" cy="533400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ABE59F6-0A6D-4EEA-9829-CFE1529C63D9}"/>
              </a:ext>
            </a:extLst>
          </p:cNvPr>
          <p:cNvSpPr txBox="1"/>
          <p:nvPr/>
        </p:nvSpPr>
        <p:spPr>
          <a:xfrm>
            <a:off x="11603935" y="4729370"/>
            <a:ext cx="4257260" cy="665921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500">
                <a:solidFill>
                  <a:srgbClr val="0B2D45"/>
                </a:solidFill>
                <a:latin typeface="Aptos"/>
              </a:rPr>
              <a:t>gyro-bias correction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E3F10A-5D43-495A-B5C7-388DC53A0582}"/>
              </a:ext>
            </a:extLst>
          </p:cNvPr>
          <p:cNvSpPr/>
          <p:nvPr/>
        </p:nvSpPr>
        <p:spPr>
          <a:xfrm>
            <a:off x="952500" y="6400800"/>
            <a:ext cx="3810000" cy="12954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7E990E-98B8-4621-BCDA-7E4F6F758450}"/>
              </a:ext>
            </a:extLst>
          </p:cNvPr>
          <p:cNvSpPr/>
          <p:nvPr/>
        </p:nvSpPr>
        <p:spPr>
          <a:xfrm>
            <a:off x="952500" y="6400800"/>
            <a:ext cx="3810000" cy="1016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24CD7-B515-466C-912E-AC8380E2DCF2}"/>
              </a:ext>
            </a:extLst>
          </p:cNvPr>
          <p:cNvSpPr txBox="1"/>
          <p:nvPr/>
        </p:nvSpPr>
        <p:spPr>
          <a:xfrm>
            <a:off x="1333500" y="66548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900" b="1">
                <a:solidFill>
                  <a:srgbClr val="0B2D45"/>
                </a:solidFill>
                <a:latin typeface="Aptos"/>
              </a:rPr>
              <a:t>GYRO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D4778A-EC62-4E48-91E8-C0106D193D6D}"/>
              </a:ext>
            </a:extLst>
          </p:cNvPr>
          <p:cNvSpPr txBox="1"/>
          <p:nvPr/>
        </p:nvSpPr>
        <p:spPr>
          <a:xfrm>
            <a:off x="1333500" y="71628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F5A00"/>
                </a:solidFill>
                <a:latin typeface="Aptos"/>
              </a:rPr>
              <a:t>PREDICT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2FE136-6E10-4E20-A674-AE215B3BDD29}"/>
              </a:ext>
            </a:extLst>
          </p:cNvPr>
          <p:cNvSpPr/>
          <p:nvPr/>
        </p:nvSpPr>
        <p:spPr>
          <a:xfrm>
            <a:off x="6477000" y="6400800"/>
            <a:ext cx="4953000" cy="12954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729B11A-68DA-46F0-B253-6D1F3CE8602F}"/>
              </a:ext>
            </a:extLst>
          </p:cNvPr>
          <p:cNvSpPr/>
          <p:nvPr/>
        </p:nvSpPr>
        <p:spPr>
          <a:xfrm>
            <a:off x="6477000" y="6400800"/>
            <a:ext cx="4953000" cy="101600"/>
          </a:xfrm>
          <a:prstGeom prst="rect">
            <a:avLst/>
          </a:prstGeom>
          <a:solidFill>
            <a:srgbClr val="78A7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2461AE-812C-499E-8EEA-ABA89CCA6A54}"/>
              </a:ext>
            </a:extLst>
          </p:cNvPr>
          <p:cNvSpPr txBox="1"/>
          <p:nvPr/>
        </p:nvSpPr>
        <p:spPr>
          <a:xfrm>
            <a:off x="6858000" y="6654800"/>
            <a:ext cx="4191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900" b="1">
                <a:solidFill>
                  <a:srgbClr val="0B2D45"/>
                </a:solidFill>
                <a:latin typeface="Aptos"/>
              </a:rPr>
              <a:t>ACCELEROMETER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49656B-908E-4B9C-B686-9369410F87B2}"/>
              </a:ext>
            </a:extLst>
          </p:cNvPr>
          <p:cNvSpPr txBox="1"/>
          <p:nvPr/>
        </p:nvSpPr>
        <p:spPr>
          <a:xfrm>
            <a:off x="6858000" y="7162800"/>
            <a:ext cx="4191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F5A00"/>
                </a:solidFill>
                <a:latin typeface="Aptos"/>
              </a:rPr>
              <a:t>CORRECT TILT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354517-1BAF-40B1-B8BC-BE44062AED54}"/>
              </a:ext>
            </a:extLst>
          </p:cNvPr>
          <p:cNvSpPr/>
          <p:nvPr/>
        </p:nvSpPr>
        <p:spPr>
          <a:xfrm>
            <a:off x="13144500" y="6400800"/>
            <a:ext cx="4191000" cy="12954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7346916-3FE1-4B52-90B1-89C9B7D03456}"/>
              </a:ext>
            </a:extLst>
          </p:cNvPr>
          <p:cNvSpPr/>
          <p:nvPr/>
        </p:nvSpPr>
        <p:spPr>
          <a:xfrm>
            <a:off x="13144500" y="6400800"/>
            <a:ext cx="4191000" cy="1016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8498F9-B03E-4629-B313-9FFA8614C961}"/>
              </a:ext>
            </a:extLst>
          </p:cNvPr>
          <p:cNvSpPr txBox="1"/>
          <p:nvPr/>
        </p:nvSpPr>
        <p:spPr>
          <a:xfrm>
            <a:off x="13525500" y="6654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0B2D45"/>
                </a:solidFill>
                <a:latin typeface="Aptos"/>
              </a:rPr>
              <a:t>MAGNETOMETER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B09A99-0C84-41CB-BD2B-6DCE23C1CAD3}"/>
              </a:ext>
            </a:extLst>
          </p:cNvPr>
          <p:cNvSpPr txBox="1"/>
          <p:nvPr/>
        </p:nvSpPr>
        <p:spPr>
          <a:xfrm>
            <a:off x="13525500" y="716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F5A00"/>
                </a:solidFill>
                <a:latin typeface="Aptos"/>
              </a:rPr>
              <a:t>AID HEADING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B1A1CE-2575-411E-A216-B138975824C4}"/>
              </a:ext>
            </a:extLst>
          </p:cNvPr>
          <p:cNvSpPr txBox="1"/>
          <p:nvPr/>
        </p:nvSpPr>
        <p:spPr>
          <a:xfrm>
            <a:off x="6278217" y="8527774"/>
            <a:ext cx="9144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500" b="1">
                <a:solidFill>
                  <a:srgbClr val="F5F6F7"/>
                </a:solidFill>
                <a:latin typeface="Aptos"/>
              </a:rPr>
              <a:t>Let’s start with prediction.</a:t>
            </a:r>
          </a:p>
        </p:txBody>
      </p:sp>
    </p:spTree>
    <p:extLst>
      <p:ext uri="{BB962C8B-B14F-4D97-AF65-F5344CB8AC3E}">
        <p14:creationId xmlns:p14="http://schemas.microsoft.com/office/powerpoint/2010/main" val="1293766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CAFBB7B-EEE0-4602-A732-ADB0E6C074A4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0780DB-FB80-414B-B59C-841FFF6A0EB1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81716A-87F0-4079-8EA6-6FAA75D1333B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GRAVITY COMES BACK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E9E983-D895-446A-AAF1-45DF1E928D5C}"/>
              </a:ext>
            </a:extLst>
          </p:cNvPr>
          <p:cNvSpPr txBox="1"/>
          <p:nvPr/>
        </p:nvSpPr>
        <p:spPr>
          <a:xfrm>
            <a:off x="952500" y="3467100"/>
            <a:ext cx="28575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15B9C5"/>
                </a:solidFill>
                <a:latin typeface="Aptos"/>
              </a:rPr>
              <a:t>LESSON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9B9A55-EB1E-4E62-B11E-03772D4E7093}"/>
              </a:ext>
            </a:extLst>
          </p:cNvPr>
          <p:cNvSpPr txBox="1"/>
          <p:nvPr/>
        </p:nvSpPr>
        <p:spPr>
          <a:xfrm>
            <a:off x="952500" y="40386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000" b="1" err="1">
                <a:solidFill>
                  <a:srgbClr val="F5F6F7"/>
                </a:solidFill>
                <a:latin typeface="Aptos"/>
              </a:rPr>
              <a:t>gravity</a:t>
            </a:r>
            <a:r>
              <a:rPr lang="it-IT" sz="3000" b="1">
                <a:solidFill>
                  <a:srgbClr val="F5F6F7"/>
                </a:solidFill>
                <a:latin typeface="Aptos"/>
              </a:rPr>
              <a:t> in NED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BF9472D-5156-4697-BF2C-A25124B045CA}"/>
              </a:ext>
            </a:extLst>
          </p:cNvPr>
          <p:cNvSpPr/>
          <p:nvPr/>
        </p:nvSpPr>
        <p:spPr>
          <a:xfrm>
            <a:off x="4572000" y="4114800"/>
            <a:ext cx="914400" cy="3048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0BF5DA-6B84-4F27-AD37-470FD2AB8790}"/>
              </a:ext>
            </a:extLst>
          </p:cNvPr>
          <p:cNvSpPr txBox="1"/>
          <p:nvPr/>
        </p:nvSpPr>
        <p:spPr>
          <a:xfrm>
            <a:off x="5715000" y="4038600"/>
            <a:ext cx="3810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500" b="1">
                <a:solidFill>
                  <a:srgbClr val="F5F6F7"/>
                </a:solidFill>
                <a:latin typeface="Aptos"/>
              </a:rPr>
              <a:t>rotate </a:t>
            </a:r>
            <a:r>
              <a:rPr lang="it-IT" sz="3500" b="1" err="1">
                <a:solidFill>
                  <a:srgbClr val="F5F6F7"/>
                </a:solidFill>
                <a:latin typeface="Aptos"/>
              </a:rPr>
              <a:t>into</a:t>
            </a:r>
            <a:r>
              <a:rPr lang="it-IT" sz="3500" b="1">
                <a:solidFill>
                  <a:srgbClr val="F5F6F7"/>
                </a:solidFill>
                <a:latin typeface="Aptos"/>
              </a:rPr>
              <a:t> BODY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4E747F5-EC24-48E8-8319-96DC86315C7C}"/>
              </a:ext>
            </a:extLst>
          </p:cNvPr>
          <p:cNvSpPr/>
          <p:nvPr/>
        </p:nvSpPr>
        <p:spPr>
          <a:xfrm>
            <a:off x="9525000" y="4114800"/>
            <a:ext cx="1143000" cy="3048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8377CE-0B3C-43FC-858C-B6F32434A3DA}"/>
              </a:ext>
            </a:extLst>
          </p:cNvPr>
          <p:cNvSpPr txBox="1"/>
          <p:nvPr/>
        </p:nvSpPr>
        <p:spPr>
          <a:xfrm>
            <a:off x="10896600" y="4038600"/>
            <a:ext cx="5334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500" b="1" err="1">
                <a:solidFill>
                  <a:srgbClr val="A7D867"/>
                </a:solidFill>
                <a:latin typeface="Aptos"/>
              </a:rPr>
              <a:t>measurement</a:t>
            </a:r>
            <a:r>
              <a:rPr lang="it-IT" sz="3500" b="1">
                <a:solidFill>
                  <a:srgbClr val="A7D867"/>
                </a:solidFill>
                <a:latin typeface="Aptos"/>
              </a:rPr>
              <a:t> model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B281EA-D544-41AC-8BB5-5A025488109F}"/>
              </a:ext>
            </a:extLst>
          </p:cNvPr>
          <p:cNvSpPr/>
          <p:nvPr/>
        </p:nvSpPr>
        <p:spPr>
          <a:xfrm>
            <a:off x="952500" y="5105400"/>
            <a:ext cx="4572000" cy="20955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A00E76-D1EC-4999-B438-1F14257A8BF7}"/>
              </a:ext>
            </a:extLst>
          </p:cNvPr>
          <p:cNvSpPr/>
          <p:nvPr/>
        </p:nvSpPr>
        <p:spPr>
          <a:xfrm>
            <a:off x="952500" y="5105400"/>
            <a:ext cx="4572000" cy="1143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BDDA3B-88FF-4DDE-9D2D-1C2E8D67A18B}"/>
              </a:ext>
            </a:extLst>
          </p:cNvPr>
          <p:cNvSpPr txBox="1"/>
          <p:nvPr/>
        </p:nvSpPr>
        <p:spPr>
          <a:xfrm>
            <a:off x="1333500" y="5448300"/>
            <a:ext cx="3810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0B2D45"/>
                </a:solidFill>
                <a:latin typeface="Aptos"/>
              </a:rPr>
              <a:t>GRAVITY IN 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1773D0B-6504-4072-A5DD-B7284C1D6F04}"/>
                  </a:ext>
                </a:extLst>
              </p:cNvPr>
              <p:cNvSpPr txBox="1"/>
              <p:nvPr/>
            </p:nvSpPr>
            <p:spPr>
              <a:xfrm>
                <a:off x="1333500" y="6210300"/>
                <a:ext cx="3810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it-IT" sz="3500" b="1">
                          <a:solidFill>
                            <a:srgbClr val="0B2D45"/>
                          </a:solidFill>
                          <a:latin typeface="Cambria Math"/>
                        </a:rPr>
                        <m:t>g</m:t>
                      </m:r>
                      <m:r>
                        <a:rPr lang="it-IT" sz="3500" b="1">
                          <a:solidFill>
                            <a:srgbClr val="0B2D45"/>
                          </a:solidFill>
                          <a:latin typeface="Cambria Math"/>
                        </a:rPr>
                        <m:t>ᴺ = [0, 0, </m:t>
                      </m:r>
                      <m:r>
                        <m:rPr>
                          <m:sty m:val="p"/>
                        </m:rPr>
                        <a:rPr lang="it-IT" sz="3500" b="1">
                          <a:solidFill>
                            <a:srgbClr val="0B2D45"/>
                          </a:solidFill>
                          <a:latin typeface="Cambria Math"/>
                        </a:rPr>
                        <m:t>g</m:t>
                      </m:r>
                      <m:r>
                        <a:rPr lang="it-IT" sz="3500" b="1">
                          <a:solidFill>
                            <a:srgbClr val="0B2D45"/>
                          </a:solidFill>
                          <a:latin typeface="Cambria Math"/>
                        </a:rPr>
                        <m:t>]ᵀ</m:t>
                      </m:r>
                    </m:oMath>
                  </m:oMathPara>
                </a14:m>
                <a:endParaRPr sz="350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1773D0B-6504-4072-A5DD-B7284C1D6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0" y="6210300"/>
                <a:ext cx="3810000" cy="609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18E800E0-6979-4EF6-88E4-A587E702C7E9}"/>
              </a:ext>
            </a:extLst>
          </p:cNvPr>
          <p:cNvSpPr/>
          <p:nvPr/>
        </p:nvSpPr>
        <p:spPr>
          <a:xfrm>
            <a:off x="6858000" y="5105400"/>
            <a:ext cx="5334000" cy="2095500"/>
          </a:xfrm>
          <a:prstGeom prst="rect">
            <a:avLst/>
          </a:prstGeom>
          <a:solidFill>
            <a:srgbClr val="153F5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1B93E6-17FD-4333-BF5E-C296858AAE82}"/>
              </a:ext>
            </a:extLst>
          </p:cNvPr>
          <p:cNvSpPr/>
          <p:nvPr/>
        </p:nvSpPr>
        <p:spPr>
          <a:xfrm>
            <a:off x="6858000" y="5105400"/>
            <a:ext cx="5334000" cy="1143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282E4E-8E51-40BB-BD07-21813BCE150F}"/>
              </a:ext>
            </a:extLst>
          </p:cNvPr>
          <p:cNvSpPr txBox="1"/>
          <p:nvPr/>
        </p:nvSpPr>
        <p:spPr>
          <a:xfrm>
            <a:off x="7239000" y="5448300"/>
            <a:ext cx="457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5F6F7"/>
                </a:solidFill>
                <a:latin typeface="Aptos"/>
              </a:rPr>
              <a:t>PREDICTED GRAVITY IN BODY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EC1B223-4DDE-4109-84F5-D2928EAE8B1C}"/>
                  </a:ext>
                </a:extLst>
              </p:cNvPr>
              <p:cNvSpPr txBox="1"/>
              <p:nvPr/>
            </p:nvSpPr>
            <p:spPr>
              <a:xfrm>
                <a:off x="7239000" y="6210300"/>
                <a:ext cx="4572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pt-BR" sz="3500" b="1">
                          <a:solidFill>
                            <a:srgbClr val="A7D867"/>
                          </a:solidFill>
                          <a:latin typeface="Cambria Math"/>
                        </a:rPr>
                        <m:t>ĝᴮ = </m:t>
                      </m:r>
                      <m:r>
                        <m:rPr>
                          <m:sty m:val="p"/>
                        </m:rPr>
                        <a:rPr lang="pt-BR" sz="3500" b="1">
                          <a:solidFill>
                            <a:srgbClr val="A7D867"/>
                          </a:solidFill>
                          <a:latin typeface="Cambria Math"/>
                        </a:rPr>
                        <m:t>R</m:t>
                      </m:r>
                      <m:r>
                        <a:rPr lang="pt-BR" sz="3500" b="1">
                          <a:solidFill>
                            <a:srgbClr val="A7D867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sz="3500" b="1">
                          <a:solidFill>
                            <a:srgbClr val="A7D867"/>
                          </a:solidFill>
                          <a:latin typeface="Cambria Math"/>
                        </a:rPr>
                        <m:t>q</m:t>
                      </m:r>
                      <m:r>
                        <a:rPr lang="pt-BR" sz="3500" b="1">
                          <a:solidFill>
                            <a:srgbClr val="A7D867"/>
                          </a:solidFill>
                          <a:latin typeface="Cambria Math"/>
                        </a:rPr>
                        <m:t>̂)ᵀ </m:t>
                      </m:r>
                      <m:r>
                        <m:rPr>
                          <m:sty m:val="p"/>
                        </m:rPr>
                        <a:rPr lang="pt-BR" sz="3500" b="1">
                          <a:solidFill>
                            <a:srgbClr val="A7D867"/>
                          </a:solidFill>
                          <a:latin typeface="Cambria Math"/>
                        </a:rPr>
                        <m:t>g</m:t>
                      </m:r>
                      <m:r>
                        <a:rPr lang="pt-BR" sz="3500" b="1">
                          <a:solidFill>
                            <a:srgbClr val="A7D867"/>
                          </a:solidFill>
                          <a:latin typeface="Cambria Math"/>
                        </a:rPr>
                        <m:t>ᴺ</m:t>
                      </m:r>
                    </m:oMath>
                  </m:oMathPara>
                </a14:m>
                <a:endParaRPr lang="it-IT" sz="3500" b="1">
                  <a:solidFill>
                    <a:srgbClr val="A7D867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EC1B223-4DDE-4109-84F5-D2928EAE8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6210300"/>
                <a:ext cx="4572000" cy="609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B8E667C6-2735-409C-B1BC-CCD409F61438}"/>
              </a:ext>
            </a:extLst>
          </p:cNvPr>
          <p:cNvSpPr/>
          <p:nvPr/>
        </p:nvSpPr>
        <p:spPr>
          <a:xfrm>
            <a:off x="13525500" y="5105400"/>
            <a:ext cx="3810000" cy="31115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5F699D-00AB-4007-B105-F676D5021996}"/>
              </a:ext>
            </a:extLst>
          </p:cNvPr>
          <p:cNvSpPr/>
          <p:nvPr/>
        </p:nvSpPr>
        <p:spPr>
          <a:xfrm>
            <a:off x="13525500" y="5105400"/>
            <a:ext cx="3810000" cy="114300"/>
          </a:xfrm>
          <a:prstGeom prst="rect">
            <a:avLst/>
          </a:prstGeom>
          <a:solidFill>
            <a:srgbClr val="78A7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34755C-2742-43AC-B4E3-FE9B2FDD2801}"/>
              </a:ext>
            </a:extLst>
          </p:cNvPr>
          <p:cNvSpPr txBox="1"/>
          <p:nvPr/>
        </p:nvSpPr>
        <p:spPr>
          <a:xfrm>
            <a:off x="13906500" y="5448300"/>
            <a:ext cx="3048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0B2D45"/>
                </a:solidFill>
                <a:latin typeface="Aptos"/>
              </a:rPr>
              <a:t>ACCELEROMETER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01E8A3-9F9D-44FA-9ECD-246A0D501CB6}"/>
              </a:ext>
            </a:extLst>
          </p:cNvPr>
          <p:cNvSpPr txBox="1"/>
          <p:nvPr/>
        </p:nvSpPr>
        <p:spPr>
          <a:xfrm>
            <a:off x="13906500" y="6032500"/>
            <a:ext cx="30480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>
                <a:solidFill>
                  <a:srgbClr val="0B2D45"/>
                </a:solidFill>
                <a:latin typeface="Aptos"/>
              </a:rPr>
              <a:t>information compatible with gravity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B1481E-AAAB-4B53-95F7-E9ED687B424A}"/>
              </a:ext>
            </a:extLst>
          </p:cNvPr>
          <p:cNvSpPr txBox="1"/>
          <p:nvPr/>
        </p:nvSpPr>
        <p:spPr>
          <a:xfrm>
            <a:off x="13906500" y="7112000"/>
            <a:ext cx="3048000" cy="1041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/>
            <a:r>
              <a:rPr lang="en-US" sz="1800">
                <a:solidFill>
                  <a:srgbClr val="0B2A44"/>
                </a:solidFill>
                <a:latin typeface="Aptos"/>
              </a:rPr>
              <a:t>when dynamic acceleration is sufficiently compatible with the model</a:t>
            </a:r>
            <a:endParaRPr lang="it-IT" sz="1800">
              <a:solidFill>
                <a:srgbClr val="0B2A44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DB9D5F-2D4E-444C-B324-6B4C563CFC67}"/>
              </a:ext>
            </a:extLst>
          </p:cNvPr>
          <p:cNvSpPr txBox="1"/>
          <p:nvPr/>
        </p:nvSpPr>
        <p:spPr>
          <a:xfrm>
            <a:off x="1333500" y="8648700"/>
            <a:ext cx="15621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500" b="1">
                <a:solidFill>
                  <a:srgbClr val="F5F6F7"/>
                </a:solidFill>
                <a:latin typeface="Aptos"/>
              </a:rPr>
              <a:t>The coordinate transformation from Lesson 1 has become a measurement model.</a:t>
            </a:r>
            <a:endParaRPr lang="it-IT" sz="3500" b="1">
              <a:solidFill>
                <a:srgbClr val="F5F6F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746704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71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2B5569D-2A44-4312-BE32-5EBC762AD007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BAA824-8058-4B26-BD57-0DD95E380C7C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5B679B-9DF0-45BF-8F48-8F7DF5BEA17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SOMETHING IS STILL MISSING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603CA6-50B3-4442-A5CF-DEAEE653F154}"/>
              </a:ext>
            </a:extLst>
          </p:cNvPr>
          <p:cNvSpPr txBox="1"/>
          <p:nvPr/>
        </p:nvSpPr>
        <p:spPr>
          <a:xfrm>
            <a:off x="2095500" y="3429000"/>
            <a:ext cx="14097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500" b="1">
                <a:solidFill>
                  <a:srgbClr val="F5F6F7"/>
                </a:solidFill>
                <a:latin typeface="Aptos"/>
              </a:rPr>
              <a:t>Gyroscope + accelerometer. Do we now know full attitude?</a:t>
            </a:r>
            <a:endParaRPr lang="it-IT" sz="3500" b="1">
              <a:solidFill>
                <a:srgbClr val="F5F6F7"/>
              </a:solidFill>
              <a:latin typeface="Apto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AEF5381-DE03-4902-9AA4-3970DA5EC1A9}"/>
              </a:ext>
            </a:extLst>
          </p:cNvPr>
          <p:cNvSpPr/>
          <p:nvPr/>
        </p:nvSpPr>
        <p:spPr>
          <a:xfrm>
            <a:off x="952500" y="4572000"/>
            <a:ext cx="7429500" cy="4342778"/>
          </a:xfrm>
          <a:prstGeom prst="rect">
            <a:avLst/>
          </a:prstGeom>
          <a:solidFill>
            <a:srgbClr val="153F5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ED1557-3922-4224-BBDB-F069333AA74D}"/>
              </a:ext>
            </a:extLst>
          </p:cNvPr>
          <p:cNvSpPr/>
          <p:nvPr/>
        </p:nvSpPr>
        <p:spPr>
          <a:xfrm>
            <a:off x="952500" y="4572000"/>
            <a:ext cx="7429500" cy="1143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04679F-C49A-4768-B2C8-318963008C5E}"/>
              </a:ext>
            </a:extLst>
          </p:cNvPr>
          <p:cNvSpPr txBox="1"/>
          <p:nvPr/>
        </p:nvSpPr>
        <p:spPr>
          <a:xfrm>
            <a:off x="1333500" y="4876800"/>
            <a:ext cx="66675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F5F6F7"/>
                </a:solidFill>
                <a:latin typeface="Aptos"/>
              </a:rPr>
              <a:t>ROTATE AROUND GRAVITY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87F4EA-C089-43EE-9123-6877A2753C72}"/>
              </a:ext>
            </a:extLst>
          </p:cNvPr>
          <p:cNvSpPr/>
          <p:nvPr/>
        </p:nvSpPr>
        <p:spPr>
          <a:xfrm>
            <a:off x="9525000" y="4572000"/>
            <a:ext cx="7810500" cy="3429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03AAA59-355C-4D24-AC57-AA2038005FAA}"/>
              </a:ext>
            </a:extLst>
          </p:cNvPr>
          <p:cNvSpPr/>
          <p:nvPr/>
        </p:nvSpPr>
        <p:spPr>
          <a:xfrm>
            <a:off x="9525000" y="4572000"/>
            <a:ext cx="7810500" cy="1143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EEBD8D-5057-42C2-8B66-D42C569DF089}"/>
              </a:ext>
            </a:extLst>
          </p:cNvPr>
          <p:cNvSpPr txBox="1"/>
          <p:nvPr/>
        </p:nvSpPr>
        <p:spPr>
          <a:xfrm>
            <a:off x="10096500" y="4953000"/>
            <a:ext cx="20955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000" b="1">
                <a:solidFill>
                  <a:srgbClr val="0B2D45"/>
                </a:solidFill>
                <a:latin typeface="Aptos"/>
              </a:rPr>
              <a:t>ROLL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857F5D-4C8F-4E57-96C9-82DACF44EEB2}"/>
              </a:ext>
            </a:extLst>
          </p:cNvPr>
          <p:cNvSpPr txBox="1"/>
          <p:nvPr/>
        </p:nvSpPr>
        <p:spPr>
          <a:xfrm>
            <a:off x="12382500" y="4953000"/>
            <a:ext cx="43815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500">
                <a:solidFill>
                  <a:srgbClr val="0B2D45"/>
                </a:solidFill>
                <a:latin typeface="Aptos"/>
              </a:rPr>
              <a:t>constrained by gravity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28AACE-A00F-4D94-A927-A6AC8EE56238}"/>
              </a:ext>
            </a:extLst>
          </p:cNvPr>
          <p:cNvSpPr txBox="1"/>
          <p:nvPr/>
        </p:nvSpPr>
        <p:spPr>
          <a:xfrm>
            <a:off x="10096500" y="5867400"/>
            <a:ext cx="20955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000" b="1">
                <a:solidFill>
                  <a:srgbClr val="0B2D45"/>
                </a:solidFill>
                <a:latin typeface="Aptos"/>
              </a:rPr>
              <a:t>PITCH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ADEC71B-B01F-4408-BB20-8AD220F32497}"/>
              </a:ext>
            </a:extLst>
          </p:cNvPr>
          <p:cNvSpPr txBox="1"/>
          <p:nvPr/>
        </p:nvSpPr>
        <p:spPr>
          <a:xfrm>
            <a:off x="12382500" y="5867400"/>
            <a:ext cx="43815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500">
                <a:solidFill>
                  <a:srgbClr val="0B2D45"/>
                </a:solidFill>
                <a:latin typeface="Aptos"/>
              </a:rPr>
              <a:t>constrained by gravity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CAA7822-8C8D-40D6-B06A-E69713110789}"/>
              </a:ext>
            </a:extLst>
          </p:cNvPr>
          <p:cNvSpPr txBox="1"/>
          <p:nvPr/>
        </p:nvSpPr>
        <p:spPr>
          <a:xfrm>
            <a:off x="10096500" y="6781800"/>
            <a:ext cx="20955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000" b="1">
                <a:solidFill>
                  <a:srgbClr val="FF5A00"/>
                </a:solidFill>
                <a:latin typeface="Aptos"/>
              </a:rPr>
              <a:t>YAW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6C35AC-C7B1-4B1D-BCCD-77D23C080535}"/>
              </a:ext>
            </a:extLst>
          </p:cNvPr>
          <p:cNvSpPr txBox="1"/>
          <p:nvPr/>
        </p:nvSpPr>
        <p:spPr>
          <a:xfrm>
            <a:off x="12382500" y="6705600"/>
            <a:ext cx="43815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500">
                <a:solidFill>
                  <a:srgbClr val="0B2D45"/>
                </a:solidFill>
                <a:latin typeface="Aptos"/>
              </a:rPr>
              <a:t>not absolutely constrained by gravity</a:t>
            </a:r>
            <a:endParaRPr lang="it-IT" sz="3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D2E502E-D912-406F-B65E-2BF31EA6D63A}"/>
              </a:ext>
            </a:extLst>
          </p:cNvPr>
          <p:cNvSpPr txBox="1"/>
          <p:nvPr/>
        </p:nvSpPr>
        <p:spPr>
          <a:xfrm>
            <a:off x="1333500" y="9219889"/>
            <a:ext cx="15621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500" b="1">
                <a:solidFill>
                  <a:srgbClr val="F5F6F7"/>
                </a:solidFill>
                <a:latin typeface="Aptos"/>
              </a:rPr>
              <a:t>Rotating around gravity does not change the gravity vector.</a:t>
            </a:r>
            <a:endParaRPr lang="it-IT" sz="3500" b="1">
              <a:solidFill>
                <a:srgbClr val="F5F6F7"/>
              </a:solidFill>
              <a:latin typeface="Apto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3D79E3-9B00-5375-3D1A-B32DC3E8C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5324251"/>
            <a:ext cx="5219700" cy="348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183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352440C-BEE7-4B47-8848-662421841FB7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90A72-04A7-4A60-9541-D6FC1695AB3E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42E730-CAEF-45DA-8EDC-811280B4EF50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GIVE HEADING A REFERENCE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EA9AE-9561-48A2-A64C-D5F160094954}"/>
              </a:ext>
            </a:extLst>
          </p:cNvPr>
          <p:cNvSpPr txBox="1"/>
          <p:nvPr/>
        </p:nvSpPr>
        <p:spPr>
          <a:xfrm>
            <a:off x="2095500" y="3429000"/>
            <a:ext cx="14097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500" b="1">
                <a:solidFill>
                  <a:srgbClr val="F5F6F7"/>
                </a:solidFill>
                <a:latin typeface="Aptos"/>
              </a:rPr>
              <a:t>So what information could constrain heading?</a:t>
            </a:r>
            <a:endParaRPr lang="it-IT" sz="3500" b="1">
              <a:solidFill>
                <a:srgbClr val="F5F6F7"/>
              </a:solidFill>
              <a:latin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A0F65B-4766-4362-9651-0166F84D4905}"/>
              </a:ext>
            </a:extLst>
          </p:cNvPr>
          <p:cNvSpPr/>
          <p:nvPr/>
        </p:nvSpPr>
        <p:spPr>
          <a:xfrm>
            <a:off x="952500" y="4572000"/>
            <a:ext cx="4953000" cy="3683000"/>
          </a:xfrm>
          <a:prstGeom prst="rect">
            <a:avLst/>
          </a:prstGeom>
          <a:solidFill>
            <a:srgbClr val="153F5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42080-C9F3-4605-A84A-2A711010FA93}"/>
              </a:ext>
            </a:extLst>
          </p:cNvPr>
          <p:cNvSpPr/>
          <p:nvPr/>
        </p:nvSpPr>
        <p:spPr>
          <a:xfrm>
            <a:off x="952500" y="4572000"/>
            <a:ext cx="4953000" cy="1143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57EC7-7C30-4E21-B12A-C6440FAAEF7F}"/>
              </a:ext>
            </a:extLst>
          </p:cNvPr>
          <p:cNvSpPr txBox="1"/>
          <p:nvPr/>
        </p:nvSpPr>
        <p:spPr>
          <a:xfrm>
            <a:off x="1333500" y="4876800"/>
            <a:ext cx="4191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000" b="1">
                <a:solidFill>
                  <a:srgbClr val="F5F6F7"/>
                </a:solidFill>
                <a:latin typeface="Aptos"/>
              </a:rPr>
              <a:t>MAGNETIC FIELD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37A51-B6D4-4779-8F8B-36DA666F5AE8}"/>
              </a:ext>
            </a:extLst>
          </p:cNvPr>
          <p:cNvSpPr txBox="1"/>
          <p:nvPr/>
        </p:nvSpPr>
        <p:spPr>
          <a:xfrm>
            <a:off x="1333500" y="5448300"/>
            <a:ext cx="41910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000" b="1">
                <a:solidFill>
                  <a:srgbClr val="A7D867"/>
                </a:solidFill>
                <a:latin typeface="Aptos"/>
              </a:rPr>
              <a:t>MAGNETOMETER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F93D82-AF26-4ADF-B545-B2E8831C0577}"/>
              </a:ext>
            </a:extLst>
          </p:cNvPr>
          <p:cNvSpPr txBox="1"/>
          <p:nvPr/>
        </p:nvSpPr>
        <p:spPr>
          <a:xfrm>
            <a:off x="1333500" y="6667500"/>
            <a:ext cx="4191000" cy="914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000">
                <a:solidFill>
                  <a:srgbClr val="F5F6F7"/>
                </a:solidFill>
                <a:latin typeface="Aptos"/>
              </a:rPr>
              <a:t>magnetic-field vector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CE27A-6931-49B6-AFC7-191F5EBF25D6}"/>
              </a:ext>
            </a:extLst>
          </p:cNvPr>
          <p:cNvSpPr txBox="1"/>
          <p:nvPr/>
        </p:nvSpPr>
        <p:spPr>
          <a:xfrm>
            <a:off x="1333500" y="7645400"/>
            <a:ext cx="4191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000" b="1">
                <a:solidFill>
                  <a:srgbClr val="FF5A00"/>
                </a:solidFill>
                <a:latin typeface="Aptos"/>
              </a:rPr>
              <a:t>OUR EDUCATIONAL ESTIMATOR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26BB07-D9C8-46DB-AF2A-D3E4C62E7453}"/>
              </a:ext>
            </a:extLst>
          </p:cNvPr>
          <p:cNvSpPr/>
          <p:nvPr/>
        </p:nvSpPr>
        <p:spPr>
          <a:xfrm>
            <a:off x="6667500" y="4572000"/>
            <a:ext cx="4953000" cy="3683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B1A378-ECB9-4D8D-8845-CB1A267719B0}"/>
              </a:ext>
            </a:extLst>
          </p:cNvPr>
          <p:cNvSpPr/>
          <p:nvPr/>
        </p:nvSpPr>
        <p:spPr>
          <a:xfrm>
            <a:off x="6667500" y="4572000"/>
            <a:ext cx="4953000" cy="114300"/>
          </a:xfrm>
          <a:prstGeom prst="rect">
            <a:avLst/>
          </a:prstGeom>
          <a:solidFill>
            <a:srgbClr val="78A7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D41CE7-D20B-46CA-8053-1AB62592E4B7}"/>
              </a:ext>
            </a:extLst>
          </p:cNvPr>
          <p:cNvSpPr txBox="1"/>
          <p:nvPr/>
        </p:nvSpPr>
        <p:spPr>
          <a:xfrm>
            <a:off x="7048500" y="4876800"/>
            <a:ext cx="4191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000" b="1">
                <a:solidFill>
                  <a:srgbClr val="0B2D45"/>
                </a:solidFill>
                <a:latin typeface="Aptos"/>
              </a:rPr>
              <a:t>VISION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134602-415F-4D1A-9C7D-B00E7C1FFE53}"/>
              </a:ext>
            </a:extLst>
          </p:cNvPr>
          <p:cNvSpPr txBox="1"/>
          <p:nvPr/>
        </p:nvSpPr>
        <p:spPr>
          <a:xfrm>
            <a:off x="7048500" y="5448300"/>
            <a:ext cx="41910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800" b="1">
                <a:solidFill>
                  <a:srgbClr val="78A7FF"/>
                </a:solidFill>
                <a:latin typeface="Aptos"/>
              </a:rPr>
              <a:t>External vision / VIO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D2CF31-5B89-4827-ACFB-0C98DA05B19F}"/>
              </a:ext>
            </a:extLst>
          </p:cNvPr>
          <p:cNvSpPr txBox="1"/>
          <p:nvPr/>
        </p:nvSpPr>
        <p:spPr>
          <a:xfrm>
            <a:off x="7048500" y="6959600"/>
            <a:ext cx="4191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000">
                <a:solidFill>
                  <a:srgbClr val="0B2D45"/>
                </a:solidFill>
                <a:latin typeface="Aptos"/>
              </a:rPr>
              <a:t>external geometric reference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F8F13F0-9BD3-4647-83E1-ACE5B2D28A61}"/>
              </a:ext>
            </a:extLst>
          </p:cNvPr>
          <p:cNvSpPr/>
          <p:nvPr/>
        </p:nvSpPr>
        <p:spPr>
          <a:xfrm>
            <a:off x="12382500" y="4572000"/>
            <a:ext cx="4953000" cy="3683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5E3571-E789-4766-97BE-D6063C02E701}"/>
              </a:ext>
            </a:extLst>
          </p:cNvPr>
          <p:cNvSpPr/>
          <p:nvPr/>
        </p:nvSpPr>
        <p:spPr>
          <a:xfrm>
            <a:off x="12382500" y="4572000"/>
            <a:ext cx="4953000" cy="1143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B56A1B-153D-46C9-8476-471847ACC83B}"/>
              </a:ext>
            </a:extLst>
          </p:cNvPr>
          <p:cNvSpPr txBox="1"/>
          <p:nvPr/>
        </p:nvSpPr>
        <p:spPr>
          <a:xfrm>
            <a:off x="12763500" y="4876800"/>
            <a:ext cx="4191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900" b="1">
                <a:solidFill>
                  <a:srgbClr val="0B2D45"/>
                </a:solidFill>
                <a:latin typeface="Aptos"/>
              </a:rPr>
              <a:t>GNSS-BASED HEADING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8E782F-A04E-4173-9B27-6B708E8504EF}"/>
              </a:ext>
            </a:extLst>
          </p:cNvPr>
          <p:cNvSpPr txBox="1"/>
          <p:nvPr/>
        </p:nvSpPr>
        <p:spPr>
          <a:xfrm>
            <a:off x="12763500" y="5448300"/>
            <a:ext cx="4191000" cy="1041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000" b="1">
                <a:solidFill>
                  <a:srgbClr val="15B9C5"/>
                </a:solidFill>
                <a:latin typeface="Aptos"/>
              </a:rPr>
              <a:t>suitable hardware + geometry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12E2E2-ECA1-4D24-BBC4-43F0D8E4A625}"/>
              </a:ext>
            </a:extLst>
          </p:cNvPr>
          <p:cNvSpPr txBox="1"/>
          <p:nvPr/>
        </p:nvSpPr>
        <p:spPr>
          <a:xfrm>
            <a:off x="12763500" y="6959600"/>
            <a:ext cx="4191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000">
                <a:solidFill>
                  <a:srgbClr val="0B2D45"/>
                </a:solidFill>
                <a:latin typeface="Aptos"/>
              </a:rPr>
              <a:t>heading information when observable</a:t>
            </a:r>
          </a:p>
        </p:txBody>
      </p:sp>
    </p:spTree>
    <p:extLst>
      <p:ext uri="{BB962C8B-B14F-4D97-AF65-F5344CB8AC3E}">
        <p14:creationId xmlns:p14="http://schemas.microsoft.com/office/powerpoint/2010/main" val="22752526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9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A5F6631-7AF0-431E-AF54-46D96142FBD6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75F04-21DE-4190-8B00-91F7F9868F70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Navigation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5A684-FBCC-481C-9462-7D9E644A0F4A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What is still missing?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D682DC-9751-463C-831F-44CF1E719AE7}"/>
              </a:ext>
            </a:extLst>
          </p:cNvPr>
          <p:cNvSpPr/>
          <p:nvPr/>
        </p:nvSpPr>
        <p:spPr>
          <a:xfrm>
            <a:off x="1143000" y="3714750"/>
            <a:ext cx="3810000" cy="1143000"/>
          </a:xfrm>
          <a:prstGeom prst="rect">
            <a:avLst/>
          </a:prstGeom>
          <a:solidFill>
            <a:srgbClr val="173F5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5B183-35DA-409A-AB54-C92F757C3FF5}"/>
              </a:ext>
            </a:extLst>
          </p:cNvPr>
          <p:cNvSpPr txBox="1"/>
          <p:nvPr/>
        </p:nvSpPr>
        <p:spPr>
          <a:xfrm>
            <a:off x="1333500" y="4000500"/>
            <a:ext cx="3429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FFFFFF"/>
                </a:solidFill>
                <a:latin typeface="Aptos"/>
              </a:rPr>
              <a:t>WHERE IT 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2DB0C9-D588-46EA-A8C6-72DC3A64D58B}"/>
              </a:ext>
            </a:extLst>
          </p:cNvPr>
          <p:cNvSpPr/>
          <p:nvPr/>
        </p:nvSpPr>
        <p:spPr>
          <a:xfrm>
            <a:off x="5715000" y="3714750"/>
            <a:ext cx="3810000" cy="1143000"/>
          </a:xfrm>
          <a:prstGeom prst="rect">
            <a:avLst/>
          </a:prstGeom>
          <a:solidFill>
            <a:srgbClr val="173F5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2CD55-6DF9-4AAB-9240-5AAE69E3D8C9}"/>
              </a:ext>
            </a:extLst>
          </p:cNvPr>
          <p:cNvSpPr txBox="1"/>
          <p:nvPr/>
        </p:nvSpPr>
        <p:spPr>
          <a:xfrm>
            <a:off x="5905500" y="4000500"/>
            <a:ext cx="3429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FFFFFF"/>
                </a:solidFill>
                <a:latin typeface="Aptos"/>
              </a:rPr>
              <a:t>HOW FAST IT MOVES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E85A98-65F2-4C1B-A23B-2EAD441B43DB}"/>
              </a:ext>
            </a:extLst>
          </p:cNvPr>
          <p:cNvSpPr/>
          <p:nvPr/>
        </p:nvSpPr>
        <p:spPr>
          <a:xfrm>
            <a:off x="10287000" y="3714750"/>
            <a:ext cx="3810000" cy="1143000"/>
          </a:xfrm>
          <a:prstGeom prst="rect">
            <a:avLst/>
          </a:prstGeom>
          <a:solidFill>
            <a:srgbClr val="173F5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5C8E1-8CDE-4A4C-A949-DBF4541DBE69}"/>
              </a:ext>
            </a:extLst>
          </p:cNvPr>
          <p:cNvSpPr txBox="1"/>
          <p:nvPr/>
        </p:nvSpPr>
        <p:spPr>
          <a:xfrm>
            <a:off x="10477500" y="4000500"/>
            <a:ext cx="3429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FFFFFF"/>
                </a:solidFill>
                <a:latin typeface="Aptos"/>
              </a:rPr>
              <a:t>HOW IT IS ORIENTED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738D4A-642E-496B-916A-A829E43260BB}"/>
              </a:ext>
            </a:extLst>
          </p:cNvPr>
          <p:cNvSpPr txBox="1"/>
          <p:nvPr/>
        </p:nvSpPr>
        <p:spPr>
          <a:xfrm>
            <a:off x="14287500" y="3810000"/>
            <a:ext cx="28575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FFFFFF"/>
                </a:solidFill>
                <a:latin typeface="Aptos"/>
              </a:rPr>
              <a:t>A drone </a:t>
            </a:r>
            <a:r>
              <a:rPr lang="it-IT" sz="2500" err="1">
                <a:solidFill>
                  <a:srgbClr val="FFFFFF"/>
                </a:solidFill>
                <a:latin typeface="Aptos"/>
              </a:rPr>
              <a:t>may</a:t>
            </a:r>
            <a:r>
              <a:rPr lang="it-IT" sz="2500">
                <a:solidFill>
                  <a:srgbClr val="FFFFFF"/>
                </a:solidFill>
                <a:latin typeface="Aptos"/>
              </a:rPr>
              <a:t> know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DD20E3-6219-4821-A9C1-E324F9C9D30F}"/>
              </a:ext>
            </a:extLst>
          </p:cNvPr>
          <p:cNvSpPr txBox="1"/>
          <p:nvPr/>
        </p:nvSpPr>
        <p:spPr>
          <a:xfrm>
            <a:off x="14287500" y="4292600"/>
            <a:ext cx="28575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 err="1">
                <a:solidFill>
                  <a:srgbClr val="A7D867"/>
                </a:solidFill>
                <a:latin typeface="Aptos"/>
              </a:rPr>
              <a:t>its</a:t>
            </a:r>
            <a:r>
              <a:rPr lang="it-IT" sz="2500" b="1">
                <a:solidFill>
                  <a:srgbClr val="A7D867"/>
                </a:solidFill>
                <a:latin typeface="Aptos"/>
              </a:rPr>
              <a:t> </a:t>
            </a:r>
            <a:r>
              <a:rPr lang="it-IT" sz="2500" b="1" err="1">
                <a:solidFill>
                  <a:srgbClr val="A7D867"/>
                </a:solidFill>
                <a:latin typeface="Aptos"/>
              </a:rPr>
              <a:t>own</a:t>
            </a:r>
            <a:r>
              <a:rPr lang="it-IT" sz="2500" b="1">
                <a:solidFill>
                  <a:srgbClr val="A7D867"/>
                </a:solidFill>
                <a:latin typeface="Aptos"/>
              </a:rPr>
              <a:t> state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7FBD98-3422-41E4-8BD9-91F591B205EC}"/>
              </a:ext>
            </a:extLst>
          </p:cNvPr>
          <p:cNvSpPr txBox="1"/>
          <p:nvPr/>
        </p:nvSpPr>
        <p:spPr>
          <a:xfrm>
            <a:off x="2095500" y="5461000"/>
            <a:ext cx="14097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 b="1">
                <a:solidFill>
                  <a:srgbClr val="FFFFFF"/>
                </a:solidFill>
                <a:latin typeface="Aptos"/>
              </a:rPr>
              <a:t>What does it know about the world around it?</a:t>
            </a:r>
            <a:endParaRPr lang="it-IT" sz="3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F0F48A-DF03-4FE0-B9B4-69CFD803FA57}"/>
              </a:ext>
            </a:extLst>
          </p:cNvPr>
          <p:cNvSpPr/>
          <p:nvPr/>
        </p:nvSpPr>
        <p:spPr>
          <a:xfrm>
            <a:off x="2667000" y="6667500"/>
            <a:ext cx="12954000" cy="14859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C7991-A934-4E83-8AD9-D42D26F0594A}"/>
              </a:ext>
            </a:extLst>
          </p:cNvPr>
          <p:cNvSpPr txBox="1"/>
          <p:nvPr/>
        </p:nvSpPr>
        <p:spPr>
          <a:xfrm>
            <a:off x="3048000" y="6934200"/>
            <a:ext cx="36195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3000" b="1">
                <a:solidFill>
                  <a:srgbClr val="FF5A00"/>
                </a:solidFill>
                <a:latin typeface="Aptos"/>
              </a:rPr>
              <a:t>PERCEPTION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E48A30-D84A-4FA9-84C9-28A8A0691205}"/>
              </a:ext>
            </a:extLst>
          </p:cNvPr>
          <p:cNvSpPr txBox="1"/>
          <p:nvPr/>
        </p:nvSpPr>
        <p:spPr>
          <a:xfrm>
            <a:off x="7239000" y="6959600"/>
            <a:ext cx="2286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CAMERA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05D4DD-A16C-47CC-8CF9-343AF80A8C1D}"/>
              </a:ext>
            </a:extLst>
          </p:cNvPr>
          <p:cNvSpPr txBox="1"/>
          <p:nvPr/>
        </p:nvSpPr>
        <p:spPr>
          <a:xfrm>
            <a:off x="10096500" y="6959600"/>
            <a:ext cx="2286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DEPTH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DEEF40-F4E1-4493-BB41-32E6215BA1C2}"/>
              </a:ext>
            </a:extLst>
          </p:cNvPr>
          <p:cNvSpPr txBox="1"/>
          <p:nvPr/>
        </p:nvSpPr>
        <p:spPr>
          <a:xfrm>
            <a:off x="12954000" y="6959600"/>
            <a:ext cx="2286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 err="1">
                <a:solidFill>
                  <a:srgbClr val="0B2D45"/>
                </a:solidFill>
                <a:latin typeface="Aptos"/>
              </a:rPr>
              <a:t>LiDAR</a:t>
            </a:r>
            <a:endParaRPr lang="it-IT" sz="2500" b="1">
              <a:solidFill>
                <a:srgbClr val="0B2D45"/>
              </a:solidFill>
              <a:latin typeface="Apto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DA7D29-77DA-49AB-BCE2-90E8F18D1BCC}"/>
              </a:ext>
            </a:extLst>
          </p:cNvPr>
          <p:cNvSpPr/>
          <p:nvPr/>
        </p:nvSpPr>
        <p:spPr>
          <a:xfrm>
            <a:off x="14287500" y="8572500"/>
            <a:ext cx="3048000" cy="6858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8BD159-FA2C-4730-AEF8-C32C3BD0C4DD}"/>
              </a:ext>
            </a:extLst>
          </p:cNvPr>
          <p:cNvSpPr txBox="1"/>
          <p:nvPr/>
        </p:nvSpPr>
        <p:spPr>
          <a:xfrm>
            <a:off x="14287500" y="8724900"/>
            <a:ext cx="3048000" cy="419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700" b="1">
                <a:solidFill>
                  <a:srgbClr val="0B2D45"/>
                </a:solidFill>
                <a:latin typeface="Aptos"/>
              </a:rPr>
              <a:t>LESSON 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860160-43CF-49E9-A6AC-AA5758969466}"/>
              </a:ext>
            </a:extLst>
          </p:cNvPr>
          <p:cNvSpPr txBox="1"/>
          <p:nvPr/>
        </p:nvSpPr>
        <p:spPr>
          <a:xfrm>
            <a:off x="952500" y="8686800"/>
            <a:ext cx="12573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3500" b="1">
                <a:solidFill>
                  <a:srgbClr val="FFFFFF"/>
                </a:solidFill>
                <a:latin typeface="Aptos"/>
              </a:rPr>
              <a:t>Navigation estimates the vehicle. Perception interprets the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1338587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68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8E3F99C-8F8C-4C53-B898-EFD265ABEB01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C9887-C053-4053-835F-331966E05FA2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Navigation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969ED-0A08-4A16-9C91-4BD6F47355F0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How high are we?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0C7336-9881-4B7E-95DE-CA380592C3D8}"/>
              </a:ext>
            </a:extLst>
          </p:cNvPr>
          <p:cNvSpPr/>
          <p:nvPr/>
        </p:nvSpPr>
        <p:spPr>
          <a:xfrm>
            <a:off x="762000" y="3619500"/>
            <a:ext cx="3714750" cy="469265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B00482-0B4E-4CFF-96DE-6C19F6A3EC84}"/>
              </a:ext>
            </a:extLst>
          </p:cNvPr>
          <p:cNvSpPr/>
          <p:nvPr/>
        </p:nvSpPr>
        <p:spPr>
          <a:xfrm>
            <a:off x="762000" y="3619500"/>
            <a:ext cx="3714750" cy="1270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C47B64-317D-4B8B-B827-D6504C7AC9E4}"/>
              </a:ext>
            </a:extLst>
          </p:cNvPr>
          <p:cNvSpPr txBox="1"/>
          <p:nvPr/>
        </p:nvSpPr>
        <p:spPr>
          <a:xfrm>
            <a:off x="1047750" y="4000500"/>
            <a:ext cx="314325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BAROMETER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CB169-AEDC-4005-9CAE-7D08904D6799}"/>
              </a:ext>
            </a:extLst>
          </p:cNvPr>
          <p:cNvSpPr txBox="1"/>
          <p:nvPr/>
        </p:nvSpPr>
        <p:spPr>
          <a:xfrm>
            <a:off x="1047750" y="4762500"/>
            <a:ext cx="314325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MEASURES
static pressure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E40356-925F-49F0-834A-DA52D8079A9B}"/>
              </a:ext>
            </a:extLst>
          </p:cNvPr>
          <p:cNvSpPr txBox="1"/>
          <p:nvPr/>
        </p:nvSpPr>
        <p:spPr>
          <a:xfrm>
            <a:off x="1047750" y="5816600"/>
            <a:ext cx="3429000" cy="86177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USEFUL
smooth relative height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E516DB-1261-4D9D-B35E-57718C80ECBC}"/>
              </a:ext>
            </a:extLst>
          </p:cNvPr>
          <p:cNvSpPr txBox="1"/>
          <p:nvPr/>
        </p:nvSpPr>
        <p:spPr>
          <a:xfrm>
            <a:off x="1047750" y="6870700"/>
            <a:ext cx="3333750" cy="12464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LIMIT
</a:t>
            </a:r>
            <a:r>
              <a:rPr lang="it-IT" sz="2500" err="1">
                <a:solidFill>
                  <a:srgbClr val="0B2D45"/>
                </a:solidFill>
                <a:latin typeface="Aptos"/>
              </a:rPr>
              <a:t>weather</a:t>
            </a:r>
            <a:r>
              <a:rPr lang="it-IT" sz="2500">
                <a:solidFill>
                  <a:srgbClr val="0B2D45"/>
                </a:solidFill>
                <a:latin typeface="Aptos"/>
              </a:rPr>
              <a:t> + </a:t>
            </a:r>
            <a:r>
              <a:rPr lang="it-IT" sz="2500" err="1">
                <a:solidFill>
                  <a:srgbClr val="0B2D45"/>
                </a:solidFill>
                <a:latin typeface="Aptos"/>
              </a:rPr>
              <a:t>propwash</a:t>
            </a:r>
            <a:r>
              <a:rPr lang="it-IT" sz="2500">
                <a:solidFill>
                  <a:srgbClr val="0B2D45"/>
                </a:solidFill>
                <a:latin typeface="Aptos"/>
              </a:rPr>
              <a:t> drift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A9D78E-81C3-4C1C-A3F9-F4687865C691}"/>
              </a:ext>
            </a:extLst>
          </p:cNvPr>
          <p:cNvSpPr/>
          <p:nvPr/>
        </p:nvSpPr>
        <p:spPr>
          <a:xfrm>
            <a:off x="5048250" y="3619500"/>
            <a:ext cx="3714750" cy="469265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255071-7013-4204-9B46-381C2ACC4CCB}"/>
              </a:ext>
            </a:extLst>
          </p:cNvPr>
          <p:cNvSpPr/>
          <p:nvPr/>
        </p:nvSpPr>
        <p:spPr>
          <a:xfrm>
            <a:off x="5048250" y="3619500"/>
            <a:ext cx="3714750" cy="127000"/>
          </a:xfrm>
          <a:prstGeom prst="rect">
            <a:avLst/>
          </a:prstGeom>
          <a:solidFill>
            <a:srgbClr val="78A7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92A97-73D7-4303-86E5-7A6DEC477801}"/>
              </a:ext>
            </a:extLst>
          </p:cNvPr>
          <p:cNvSpPr txBox="1"/>
          <p:nvPr/>
        </p:nvSpPr>
        <p:spPr>
          <a:xfrm>
            <a:off x="5334000" y="4000500"/>
            <a:ext cx="314325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GNSS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F49F3A-AAF1-4397-9E1E-6F7FCA160B82}"/>
              </a:ext>
            </a:extLst>
          </p:cNvPr>
          <p:cNvSpPr txBox="1"/>
          <p:nvPr/>
        </p:nvSpPr>
        <p:spPr>
          <a:xfrm>
            <a:off x="5334000" y="4762500"/>
            <a:ext cx="314325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MEASURES
signal travel time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57ECF7-168E-4FF6-8957-ED23A29EEB4E}"/>
              </a:ext>
            </a:extLst>
          </p:cNvPr>
          <p:cNvSpPr txBox="1"/>
          <p:nvPr/>
        </p:nvSpPr>
        <p:spPr>
          <a:xfrm>
            <a:off x="5333999" y="5816600"/>
            <a:ext cx="3619501" cy="86177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USEFUL
global </a:t>
            </a:r>
            <a:r>
              <a:rPr lang="it-IT" sz="2500" err="1">
                <a:solidFill>
                  <a:srgbClr val="0B2D45"/>
                </a:solidFill>
                <a:latin typeface="Aptos"/>
              </a:rPr>
              <a:t>altitude</a:t>
            </a:r>
            <a:r>
              <a:rPr lang="it-IT" sz="2500">
                <a:solidFill>
                  <a:srgbClr val="0B2D45"/>
                </a:solidFill>
                <a:latin typeface="Aptos"/>
              </a:rPr>
              <a:t> </a:t>
            </a:r>
            <a:r>
              <a:rPr lang="it-IT" sz="2500" err="1">
                <a:solidFill>
                  <a:srgbClr val="0B2D45"/>
                </a:solidFill>
                <a:latin typeface="Aptos"/>
              </a:rPr>
              <a:t>outdoors</a:t>
            </a:r>
            <a:endParaRPr lang="it-IT" sz="2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9D6E56-E5F2-4B38-89D3-B4E9C7C35F87}"/>
              </a:ext>
            </a:extLst>
          </p:cNvPr>
          <p:cNvSpPr txBox="1"/>
          <p:nvPr/>
        </p:nvSpPr>
        <p:spPr>
          <a:xfrm>
            <a:off x="5334000" y="6870700"/>
            <a:ext cx="314325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LIMIT
noise · geometry · outages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2D6088-338E-424E-874B-C8CC4E5F63AE}"/>
              </a:ext>
            </a:extLst>
          </p:cNvPr>
          <p:cNvSpPr/>
          <p:nvPr/>
        </p:nvSpPr>
        <p:spPr>
          <a:xfrm>
            <a:off x="9334500" y="3619500"/>
            <a:ext cx="3714750" cy="469265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834E21-3EF6-4C65-AC13-F62890E1FC53}"/>
              </a:ext>
            </a:extLst>
          </p:cNvPr>
          <p:cNvSpPr/>
          <p:nvPr/>
        </p:nvSpPr>
        <p:spPr>
          <a:xfrm>
            <a:off x="9334500" y="3619500"/>
            <a:ext cx="3714750" cy="1270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4171FF-3E5B-469D-ACB5-F3BDCE355ED8}"/>
              </a:ext>
            </a:extLst>
          </p:cNvPr>
          <p:cNvSpPr txBox="1"/>
          <p:nvPr/>
        </p:nvSpPr>
        <p:spPr>
          <a:xfrm>
            <a:off x="9620250" y="4000500"/>
            <a:ext cx="314325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RANGEFINDER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DBC55F-35C5-41C2-BAFF-C215210BD66E}"/>
              </a:ext>
            </a:extLst>
          </p:cNvPr>
          <p:cNvSpPr txBox="1"/>
          <p:nvPr/>
        </p:nvSpPr>
        <p:spPr>
          <a:xfrm>
            <a:off x="9620250" y="4762500"/>
            <a:ext cx="314325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500">
                <a:solidFill>
                  <a:srgbClr val="0B2D45"/>
                </a:solidFill>
                <a:latin typeface="Aptos"/>
              </a:rPr>
              <a:t>MEASURES
distance to a surface</a:t>
            </a:r>
            <a:endParaRPr lang="it-IT" sz="2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A9C963-0BF0-4C82-833C-9EBC2C3D8B3B}"/>
              </a:ext>
            </a:extLst>
          </p:cNvPr>
          <p:cNvSpPr txBox="1"/>
          <p:nvPr/>
        </p:nvSpPr>
        <p:spPr>
          <a:xfrm>
            <a:off x="9620250" y="5816600"/>
            <a:ext cx="314325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USEFUL
low altitude + landing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ED1209-216B-4E46-AE58-6C46AD90D146}"/>
              </a:ext>
            </a:extLst>
          </p:cNvPr>
          <p:cNvSpPr txBox="1"/>
          <p:nvPr/>
        </p:nvSpPr>
        <p:spPr>
          <a:xfrm>
            <a:off x="9620250" y="6870700"/>
            <a:ext cx="314325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LIMIT
range + surface geometry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263B7FD-16F5-4612-BD9E-BEFE87DC7BF8}"/>
              </a:ext>
            </a:extLst>
          </p:cNvPr>
          <p:cNvSpPr/>
          <p:nvPr/>
        </p:nvSpPr>
        <p:spPr>
          <a:xfrm>
            <a:off x="13620750" y="3619500"/>
            <a:ext cx="3714750" cy="469265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6E4B988-AB34-4EBF-8BE9-8AFAA25D40D2}"/>
              </a:ext>
            </a:extLst>
          </p:cNvPr>
          <p:cNvSpPr/>
          <p:nvPr/>
        </p:nvSpPr>
        <p:spPr>
          <a:xfrm>
            <a:off x="13620750" y="3619500"/>
            <a:ext cx="3714750" cy="1270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7860F9-CA48-4027-9A4D-E77B914C7836}"/>
              </a:ext>
            </a:extLst>
          </p:cNvPr>
          <p:cNvSpPr txBox="1"/>
          <p:nvPr/>
        </p:nvSpPr>
        <p:spPr>
          <a:xfrm>
            <a:off x="13906500" y="4000500"/>
            <a:ext cx="314325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EXTERNAL VISION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2DD0EB-3B63-433D-A2B1-7F20ACF6B914}"/>
              </a:ext>
            </a:extLst>
          </p:cNvPr>
          <p:cNvSpPr txBox="1"/>
          <p:nvPr/>
        </p:nvSpPr>
        <p:spPr>
          <a:xfrm>
            <a:off x="13906500" y="4762500"/>
            <a:ext cx="314325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MEASURES
image features / pose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F02747-1264-44F5-AAD0-D866509BDBE7}"/>
              </a:ext>
            </a:extLst>
          </p:cNvPr>
          <p:cNvSpPr txBox="1"/>
          <p:nvPr/>
        </p:nvSpPr>
        <p:spPr>
          <a:xfrm>
            <a:off x="13906500" y="5816600"/>
            <a:ext cx="3714750" cy="86177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USEFUL
</a:t>
            </a:r>
            <a:r>
              <a:rPr lang="it-IT" sz="2500" err="1">
                <a:solidFill>
                  <a:srgbClr val="0B2D45"/>
                </a:solidFill>
                <a:latin typeface="Aptos"/>
              </a:rPr>
              <a:t>prepared</a:t>
            </a:r>
            <a:r>
              <a:rPr lang="it-IT" sz="2500">
                <a:solidFill>
                  <a:srgbClr val="0B2D45"/>
                </a:solidFill>
                <a:latin typeface="Aptos"/>
              </a:rPr>
              <a:t> </a:t>
            </a:r>
            <a:r>
              <a:rPr lang="it-IT" sz="2500" err="1">
                <a:solidFill>
                  <a:srgbClr val="0B2D45"/>
                </a:solidFill>
                <a:latin typeface="Aptos"/>
              </a:rPr>
              <a:t>environments</a:t>
            </a:r>
            <a:endParaRPr lang="it-IT" sz="2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BDF77E-555A-46CA-95F6-C0811A0D137B}"/>
              </a:ext>
            </a:extLst>
          </p:cNvPr>
          <p:cNvSpPr txBox="1"/>
          <p:nvPr/>
        </p:nvSpPr>
        <p:spPr>
          <a:xfrm>
            <a:off x="13906500" y="6870700"/>
            <a:ext cx="314325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LIMIT
lighting · coverage · latency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AFC0503-7678-4F76-B856-2C90C1517CA9}"/>
              </a:ext>
            </a:extLst>
          </p:cNvPr>
          <p:cNvSpPr txBox="1"/>
          <p:nvPr/>
        </p:nvSpPr>
        <p:spPr>
          <a:xfrm>
            <a:off x="1333500" y="8648700"/>
            <a:ext cx="15621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500" b="1">
                <a:solidFill>
                  <a:srgbClr val="FFFFFF"/>
                </a:solidFill>
                <a:latin typeface="Aptos"/>
              </a:rPr>
              <a:t>Height is a state. Each sensor observes it differently.</a:t>
            </a:r>
            <a:endParaRPr lang="it-IT" sz="3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04540D-78CC-415B-8FE2-0661D630C7C4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FFFFFF"/>
                </a:solidFill>
                <a:latin typeface="Aptos"/>
              </a:rPr>
              <a:t>One physical quantity · four incomplete information sources</a:t>
            </a:r>
            <a:endParaRPr lang="it-IT" sz="90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202066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62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BB8A68B-2E00-4C68-AA59-A9475E4C2C59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8DBD6-BFAD-4C73-99CB-EFD1AFA87839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Navigation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9F34F-10A5-49D2-BE62-5897AABCB03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924" b="1">
                <a:solidFill>
                  <a:srgbClr val="FF5A00"/>
                </a:solidFill>
                <a:latin typeface="Aptos"/>
              </a:rPr>
              <a:t>How fast are we moving sideways?</a:t>
            </a:r>
            <a:endParaRPr lang="it-IT" sz="6924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F4AAC2-BAFC-4DEF-A12C-68E92C46E7D0}"/>
              </a:ext>
            </a:extLst>
          </p:cNvPr>
          <p:cNvSpPr/>
          <p:nvPr/>
        </p:nvSpPr>
        <p:spPr>
          <a:xfrm>
            <a:off x="952500" y="3619500"/>
            <a:ext cx="4572000" cy="444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E925D0-D43F-4113-9B90-DCB39295A393}"/>
              </a:ext>
            </a:extLst>
          </p:cNvPr>
          <p:cNvSpPr/>
          <p:nvPr/>
        </p:nvSpPr>
        <p:spPr>
          <a:xfrm>
            <a:off x="952500" y="3619500"/>
            <a:ext cx="4572000" cy="127000"/>
          </a:xfrm>
          <a:prstGeom prst="rect">
            <a:avLst/>
          </a:prstGeom>
          <a:solidFill>
            <a:srgbClr val="78A7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C4917-3970-4FCE-B655-8F7DA1EDFC0E}"/>
              </a:ext>
            </a:extLst>
          </p:cNvPr>
          <p:cNvSpPr txBox="1"/>
          <p:nvPr/>
        </p:nvSpPr>
        <p:spPr>
          <a:xfrm>
            <a:off x="1238250" y="4038600"/>
            <a:ext cx="4000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GNSS VELOCITY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32ABB-A607-4259-BF41-3D885C6176CC}"/>
              </a:ext>
            </a:extLst>
          </p:cNvPr>
          <p:cNvSpPr txBox="1"/>
          <p:nvPr/>
        </p:nvSpPr>
        <p:spPr>
          <a:xfrm>
            <a:off x="1238250" y="4699000"/>
            <a:ext cx="40005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>
                <a:solidFill>
                  <a:srgbClr val="0B2D45"/>
                </a:solidFill>
                <a:latin typeface="Aptos"/>
              </a:rPr>
              <a:t>Measures change in the global navigation solution</a:t>
            </a:r>
            <a:endParaRPr lang="it-IT" sz="26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3E5275-93F4-4B1B-8650-EF780033B5EC}"/>
              </a:ext>
            </a:extLst>
          </p:cNvPr>
          <p:cNvSpPr txBox="1"/>
          <p:nvPr/>
        </p:nvSpPr>
        <p:spPr>
          <a:xfrm>
            <a:off x="1238250" y="5969000"/>
            <a:ext cx="40005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500">
                <a:solidFill>
                  <a:srgbClr val="0B2D45"/>
                </a:solidFill>
                <a:latin typeface="Aptos"/>
              </a:rPr>
              <a:t>Best when:
open sky + global reference</a:t>
            </a:r>
            <a:endParaRPr lang="it-IT" sz="2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AC55B4-98DF-4E10-A9C5-19F95B7380D6}"/>
              </a:ext>
            </a:extLst>
          </p:cNvPr>
          <p:cNvSpPr txBox="1"/>
          <p:nvPr/>
        </p:nvSpPr>
        <p:spPr>
          <a:xfrm>
            <a:off x="1238250" y="6985000"/>
            <a:ext cx="4286250" cy="86177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Watch:
geometry · outages · latency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BACE4-D4A3-4A89-86A2-286F1A4ED331}"/>
              </a:ext>
            </a:extLst>
          </p:cNvPr>
          <p:cNvSpPr/>
          <p:nvPr/>
        </p:nvSpPr>
        <p:spPr>
          <a:xfrm>
            <a:off x="6858000" y="3619500"/>
            <a:ext cx="4572000" cy="444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608C8-1A12-4E89-BF14-7A4A5BC1FE05}"/>
              </a:ext>
            </a:extLst>
          </p:cNvPr>
          <p:cNvSpPr/>
          <p:nvPr/>
        </p:nvSpPr>
        <p:spPr>
          <a:xfrm>
            <a:off x="6858000" y="3619500"/>
            <a:ext cx="4572000" cy="1270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AF910E-BCAC-44BE-B361-92B125375E4C}"/>
              </a:ext>
            </a:extLst>
          </p:cNvPr>
          <p:cNvSpPr txBox="1"/>
          <p:nvPr/>
        </p:nvSpPr>
        <p:spPr>
          <a:xfrm>
            <a:off x="7143750" y="4038600"/>
            <a:ext cx="4000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OPTICAL 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8592-88D4-4498-A757-EE91296CD96E}"/>
              </a:ext>
            </a:extLst>
          </p:cNvPr>
          <p:cNvSpPr txBox="1"/>
          <p:nvPr/>
        </p:nvSpPr>
        <p:spPr>
          <a:xfrm>
            <a:off x="7143750" y="4699000"/>
            <a:ext cx="40005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>
                <a:solidFill>
                  <a:srgbClr val="0B2D45"/>
                </a:solidFill>
                <a:latin typeface="Aptos"/>
              </a:rPr>
              <a:t>Measures apparent image motion over the ground</a:t>
            </a:r>
            <a:endParaRPr lang="it-IT" sz="26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F9D0A9-E647-4EE5-AAFB-0389D777B194}"/>
              </a:ext>
            </a:extLst>
          </p:cNvPr>
          <p:cNvSpPr txBox="1"/>
          <p:nvPr/>
        </p:nvSpPr>
        <p:spPr>
          <a:xfrm>
            <a:off x="7143750" y="5969000"/>
            <a:ext cx="40005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500">
                <a:solidFill>
                  <a:srgbClr val="0B2D45"/>
                </a:solidFill>
                <a:latin typeface="Aptos"/>
              </a:rPr>
              <a:t>Best when:
texture + known height</a:t>
            </a:r>
            <a:endParaRPr lang="it-IT" sz="2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376FE8-0155-4687-8A58-73D63A49FD78}"/>
              </a:ext>
            </a:extLst>
          </p:cNvPr>
          <p:cNvSpPr txBox="1"/>
          <p:nvPr/>
        </p:nvSpPr>
        <p:spPr>
          <a:xfrm>
            <a:off x="7143750" y="6985000"/>
            <a:ext cx="40005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Watch:
lighting · altitude · surface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32DCE9-879B-424A-892D-62AA7674220D}"/>
              </a:ext>
            </a:extLst>
          </p:cNvPr>
          <p:cNvSpPr/>
          <p:nvPr/>
        </p:nvSpPr>
        <p:spPr>
          <a:xfrm>
            <a:off x="12763500" y="3619500"/>
            <a:ext cx="4572000" cy="4445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CDC912-90F3-4163-BA23-12BB6EF80FE7}"/>
              </a:ext>
            </a:extLst>
          </p:cNvPr>
          <p:cNvSpPr/>
          <p:nvPr/>
        </p:nvSpPr>
        <p:spPr>
          <a:xfrm>
            <a:off x="12763500" y="3619500"/>
            <a:ext cx="4572000" cy="1270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DD33E5-D610-477F-B290-4D8F9108A1A4}"/>
              </a:ext>
            </a:extLst>
          </p:cNvPr>
          <p:cNvSpPr txBox="1"/>
          <p:nvPr/>
        </p:nvSpPr>
        <p:spPr>
          <a:xfrm>
            <a:off x="13049250" y="4038600"/>
            <a:ext cx="4000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VIO / EXTERNAL VISION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5D9516-6948-4118-A777-A44DCF962D05}"/>
              </a:ext>
            </a:extLst>
          </p:cNvPr>
          <p:cNvSpPr txBox="1"/>
          <p:nvPr/>
        </p:nvSpPr>
        <p:spPr>
          <a:xfrm>
            <a:off x="13049250" y="4699000"/>
            <a:ext cx="40005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>
                <a:solidFill>
                  <a:srgbClr val="0B2D45"/>
                </a:solidFill>
                <a:latin typeface="Aptos"/>
              </a:rPr>
              <a:t>Combines visual motion with inertial or external pose</a:t>
            </a:r>
            <a:endParaRPr lang="it-IT" sz="26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817881-4E33-4ABC-88F9-0004B170D0F8}"/>
              </a:ext>
            </a:extLst>
          </p:cNvPr>
          <p:cNvSpPr txBox="1"/>
          <p:nvPr/>
        </p:nvSpPr>
        <p:spPr>
          <a:xfrm>
            <a:off x="13049250" y="5969000"/>
            <a:ext cx="457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500">
                <a:solidFill>
                  <a:srgbClr val="0B2D45"/>
                </a:solidFill>
                <a:latin typeface="Aptos"/>
              </a:rPr>
              <a:t>Best when:
GNSS is weak or unavailable</a:t>
            </a:r>
            <a:endParaRPr lang="it-IT" sz="2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F29CA9-0203-4467-B58A-48339AA676F7}"/>
              </a:ext>
            </a:extLst>
          </p:cNvPr>
          <p:cNvSpPr txBox="1"/>
          <p:nvPr/>
        </p:nvSpPr>
        <p:spPr>
          <a:xfrm>
            <a:off x="13049250" y="6985000"/>
            <a:ext cx="40005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Watch:
compute · </a:t>
            </a:r>
            <a:r>
              <a:rPr lang="it-IT" sz="2500" err="1">
                <a:solidFill>
                  <a:srgbClr val="0B2D45"/>
                </a:solidFill>
                <a:latin typeface="Aptos"/>
              </a:rPr>
              <a:t>calibration</a:t>
            </a:r>
            <a:r>
              <a:rPr lang="it-IT" sz="2500">
                <a:solidFill>
                  <a:srgbClr val="0B2D45"/>
                </a:solidFill>
                <a:latin typeface="Aptos"/>
              </a:rPr>
              <a:t> · drift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C82526-5108-47EE-858D-6DE005B8647E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FFFFFF"/>
                </a:solidFill>
                <a:latin typeface="Aptos"/>
              </a:rPr>
              <a:t>Velocity sources answer different questions under different operating conditions</a:t>
            </a:r>
            <a:endParaRPr lang="it-IT" sz="90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569664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F2C558-7368-4D5E-52BC-5000DC42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B6D071-2C41-9544-B66E-F7D54E02DBDD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EC60BB8-9C08-8364-6C68-A2B70CFE0FD6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66F2442-AE26-72BC-41CE-FEC9A24E3651}"/>
              </a:ext>
            </a:extLst>
          </p:cNvPr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B04E8E1-311A-0808-B594-24331F75F283}"/>
                </a:ext>
              </a:extLst>
            </p:cNvPr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B07555A-DC26-9A92-01E8-F39CD5C657BB}"/>
                </a:ext>
              </a:extLst>
            </p:cNvPr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FF9E260A-8DE0-9B34-7352-B7C162B306B0}"/>
              </a:ext>
            </a:extLst>
          </p:cNvPr>
          <p:cNvSpPr txBox="1"/>
          <p:nvPr/>
        </p:nvSpPr>
        <p:spPr>
          <a:xfrm>
            <a:off x="423362" y="3451504"/>
            <a:ext cx="18552543" cy="171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PX4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967C25DB-CCD9-476F-0E06-7B7C84A640A9}"/>
              </a:ext>
            </a:extLst>
          </p:cNvPr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0492D8F-4F45-2BCD-B941-5EF861AA347C}"/>
                </a:ext>
              </a:extLst>
            </p:cNvPr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9136691-16B0-B23F-C976-49FCE01DBED1}"/>
                </a:ext>
              </a:extLst>
            </p:cNvPr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8D33E49D-0491-0910-DD68-E8DD44112FC5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93994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0" y="38100"/>
            <a:ext cx="18288000" cy="10287000"/>
            <a:chOff x="0" y="0"/>
            <a:chExt cx="24384000" cy="13716000"/>
          </a:xfrm>
        </p:grpSpPr>
        <p:sp>
          <p:nvSpPr>
            <p:cNvPr id="62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3D0256B-91CB-4A07-8513-6C76A17E5E18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36480-DC9C-4306-89DA-852D3447C31E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Navigation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BF82-8ECA-4214-8642-BF4B0A8E2388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924" b="1">
                <a:solidFill>
                  <a:srgbClr val="FF5A00"/>
                </a:solidFill>
                <a:latin typeface="Aptos"/>
              </a:rPr>
              <a:t>How does a measurement reach PX4?</a:t>
            </a:r>
            <a:endParaRPr lang="it-IT" sz="6924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FE31D7-1593-4AB4-9934-3AE9184A88FA}"/>
              </a:ext>
            </a:extLst>
          </p:cNvPr>
          <p:cNvSpPr/>
          <p:nvPr/>
        </p:nvSpPr>
        <p:spPr>
          <a:xfrm>
            <a:off x="857250" y="4000500"/>
            <a:ext cx="2667000" cy="2667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224DDA-C5EA-4861-83BA-FCAE455939D3}"/>
              </a:ext>
            </a:extLst>
          </p:cNvPr>
          <p:cNvSpPr/>
          <p:nvPr/>
        </p:nvSpPr>
        <p:spPr>
          <a:xfrm>
            <a:off x="857250" y="4000500"/>
            <a:ext cx="2667000" cy="1270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DC9844-16FF-41EC-AD50-21975DDAD596}"/>
              </a:ext>
            </a:extLst>
          </p:cNvPr>
          <p:cNvSpPr txBox="1"/>
          <p:nvPr/>
        </p:nvSpPr>
        <p:spPr>
          <a:xfrm>
            <a:off x="1047750" y="4419600"/>
            <a:ext cx="228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SENSOR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DFFDE3-2715-4783-B208-19E596D37204}"/>
              </a:ext>
            </a:extLst>
          </p:cNvPr>
          <p:cNvSpPr txBox="1"/>
          <p:nvPr/>
        </p:nvSpPr>
        <p:spPr>
          <a:xfrm>
            <a:off x="1047750" y="5257800"/>
            <a:ext cx="2286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physical
measurement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311C99B-5DBF-4CEC-9640-CE331CC611ED}"/>
              </a:ext>
            </a:extLst>
          </p:cNvPr>
          <p:cNvSpPr/>
          <p:nvPr/>
        </p:nvSpPr>
        <p:spPr>
          <a:xfrm>
            <a:off x="3714750" y="4953000"/>
            <a:ext cx="381000" cy="5715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AEBBE8-1A7A-4428-BF42-7F071FCA3DD9}"/>
              </a:ext>
            </a:extLst>
          </p:cNvPr>
          <p:cNvSpPr/>
          <p:nvPr/>
        </p:nvSpPr>
        <p:spPr>
          <a:xfrm>
            <a:off x="4286250" y="4000500"/>
            <a:ext cx="3238500" cy="2667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BC5D39-462B-4579-B067-FBD42EC6C885}"/>
              </a:ext>
            </a:extLst>
          </p:cNvPr>
          <p:cNvSpPr/>
          <p:nvPr/>
        </p:nvSpPr>
        <p:spPr>
          <a:xfrm>
            <a:off x="4286250" y="4000500"/>
            <a:ext cx="3238500" cy="127000"/>
          </a:xfrm>
          <a:prstGeom prst="rect">
            <a:avLst/>
          </a:prstGeom>
          <a:solidFill>
            <a:srgbClr val="78A7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7D7DA9-40A6-4ADD-AC63-F7F0CAB89273}"/>
              </a:ext>
            </a:extLst>
          </p:cNvPr>
          <p:cNvSpPr txBox="1"/>
          <p:nvPr/>
        </p:nvSpPr>
        <p:spPr>
          <a:xfrm>
            <a:off x="4476750" y="4419600"/>
            <a:ext cx="2857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INTERFACE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099D9F-FB7B-41F7-B307-4E4F84EC24E0}"/>
              </a:ext>
            </a:extLst>
          </p:cNvPr>
          <p:cNvSpPr txBox="1"/>
          <p:nvPr/>
        </p:nvSpPr>
        <p:spPr>
          <a:xfrm>
            <a:off x="4476750" y="5257800"/>
            <a:ext cx="28575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SPI · I²C
UART · CAN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946A208-8084-45B7-92A8-92A8A6A09DC7}"/>
              </a:ext>
            </a:extLst>
          </p:cNvPr>
          <p:cNvSpPr/>
          <p:nvPr/>
        </p:nvSpPr>
        <p:spPr>
          <a:xfrm>
            <a:off x="7715250" y="4953000"/>
            <a:ext cx="381000" cy="5715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C1CBE3-2F4F-43F3-99E8-846941D6B75A}"/>
              </a:ext>
            </a:extLst>
          </p:cNvPr>
          <p:cNvSpPr/>
          <p:nvPr/>
        </p:nvSpPr>
        <p:spPr>
          <a:xfrm>
            <a:off x="8286750" y="4000500"/>
            <a:ext cx="2667000" cy="2667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1E3D5-9083-4F70-8B14-4DC62FDC17D1}"/>
              </a:ext>
            </a:extLst>
          </p:cNvPr>
          <p:cNvSpPr/>
          <p:nvPr/>
        </p:nvSpPr>
        <p:spPr>
          <a:xfrm>
            <a:off x="8286750" y="4000500"/>
            <a:ext cx="2667000" cy="1270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F34159-FD08-4953-8231-AC3C9238FB80}"/>
              </a:ext>
            </a:extLst>
          </p:cNvPr>
          <p:cNvSpPr txBox="1"/>
          <p:nvPr/>
        </p:nvSpPr>
        <p:spPr>
          <a:xfrm>
            <a:off x="8477250" y="4419600"/>
            <a:ext cx="228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DRIVER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6DF932-274B-4C1F-AB1D-7166C0BF2B3D}"/>
              </a:ext>
            </a:extLst>
          </p:cNvPr>
          <p:cNvSpPr txBox="1"/>
          <p:nvPr/>
        </p:nvSpPr>
        <p:spPr>
          <a:xfrm>
            <a:off x="8477250" y="5257800"/>
            <a:ext cx="2571750" cy="12464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err="1">
                <a:solidFill>
                  <a:srgbClr val="0B2D45"/>
                </a:solidFill>
                <a:latin typeface="Aptos"/>
              </a:rPr>
              <a:t>read</a:t>
            </a:r>
            <a:r>
              <a:rPr lang="it-IT" sz="2500">
                <a:solidFill>
                  <a:srgbClr val="0B2D45"/>
                </a:solidFill>
                <a:latin typeface="Aptos"/>
              </a:rPr>
              <a:t> · </a:t>
            </a:r>
            <a:r>
              <a:rPr lang="it-IT" sz="2500" err="1">
                <a:solidFill>
                  <a:srgbClr val="0B2D45"/>
                </a:solidFill>
                <a:latin typeface="Aptos"/>
              </a:rPr>
              <a:t>timestamp</a:t>
            </a:r>
            <a:r>
              <a:rPr lang="it-IT" sz="2500">
                <a:solidFill>
                  <a:srgbClr val="0B2D45"/>
                </a:solidFill>
                <a:latin typeface="Aptos"/>
              </a:rPr>
              <a:t>
calibrate · </a:t>
            </a:r>
            <a:r>
              <a:rPr lang="it-IT" sz="2500" err="1">
                <a:solidFill>
                  <a:srgbClr val="0B2D45"/>
                </a:solidFill>
                <a:latin typeface="Aptos"/>
              </a:rPr>
              <a:t>publish</a:t>
            </a:r>
            <a:endParaRPr lang="it-IT" sz="2500">
              <a:solidFill>
                <a:srgbClr val="0B2D45"/>
              </a:solidFill>
              <a:latin typeface="Aptos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648C838-2CBB-46AF-9288-905407F9800A}"/>
              </a:ext>
            </a:extLst>
          </p:cNvPr>
          <p:cNvSpPr/>
          <p:nvPr/>
        </p:nvSpPr>
        <p:spPr>
          <a:xfrm>
            <a:off x="11144250" y="4953000"/>
            <a:ext cx="381000" cy="5715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62BE19-167F-4C85-978D-80CB3BFF7A01}"/>
              </a:ext>
            </a:extLst>
          </p:cNvPr>
          <p:cNvSpPr/>
          <p:nvPr/>
        </p:nvSpPr>
        <p:spPr>
          <a:xfrm>
            <a:off x="11715750" y="4000500"/>
            <a:ext cx="2286000" cy="2667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0A4E76-3C53-4B54-A54A-E7DFBC704A27}"/>
              </a:ext>
            </a:extLst>
          </p:cNvPr>
          <p:cNvSpPr/>
          <p:nvPr/>
        </p:nvSpPr>
        <p:spPr>
          <a:xfrm>
            <a:off x="11715750" y="4000500"/>
            <a:ext cx="2286000" cy="1270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1A8377-5DF1-46BE-BE9F-518E4978A70D}"/>
              </a:ext>
            </a:extLst>
          </p:cNvPr>
          <p:cNvSpPr txBox="1"/>
          <p:nvPr/>
        </p:nvSpPr>
        <p:spPr>
          <a:xfrm>
            <a:off x="11906250" y="4419600"/>
            <a:ext cx="1905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uORB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43AA9E-9B48-4999-A296-EDCC9B9FC032}"/>
              </a:ext>
            </a:extLst>
          </p:cNvPr>
          <p:cNvSpPr txBox="1"/>
          <p:nvPr/>
        </p:nvSpPr>
        <p:spPr>
          <a:xfrm>
            <a:off x="11906250" y="5257800"/>
            <a:ext cx="1905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typed
software topic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70730B71-3056-46CB-B8A9-8F9D4E93A12B}"/>
              </a:ext>
            </a:extLst>
          </p:cNvPr>
          <p:cNvSpPr/>
          <p:nvPr/>
        </p:nvSpPr>
        <p:spPr>
          <a:xfrm>
            <a:off x="14192250" y="4953000"/>
            <a:ext cx="381000" cy="571500"/>
          </a:xfrm>
          <a:prstGeom prst="rightArrow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ED4EABF-E717-4B31-9149-92819C897A7B}"/>
              </a:ext>
            </a:extLst>
          </p:cNvPr>
          <p:cNvSpPr/>
          <p:nvPr/>
        </p:nvSpPr>
        <p:spPr>
          <a:xfrm>
            <a:off x="14763750" y="4000500"/>
            <a:ext cx="2667000" cy="2667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C563AA-272F-4458-9D96-D8354D0DE9B2}"/>
              </a:ext>
            </a:extLst>
          </p:cNvPr>
          <p:cNvSpPr/>
          <p:nvPr/>
        </p:nvSpPr>
        <p:spPr>
          <a:xfrm>
            <a:off x="14763750" y="4000500"/>
            <a:ext cx="2667000" cy="1270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C24EA1-FD1F-4840-8F36-5FFF5C58C496}"/>
              </a:ext>
            </a:extLst>
          </p:cNvPr>
          <p:cNvSpPr txBox="1"/>
          <p:nvPr/>
        </p:nvSpPr>
        <p:spPr>
          <a:xfrm>
            <a:off x="14954250" y="4419600"/>
            <a:ext cx="2286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 b="1">
                <a:solidFill>
                  <a:srgbClr val="0B2D45"/>
                </a:solidFill>
                <a:latin typeface="Aptos"/>
              </a:rPr>
              <a:t>MODULE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4602B5-68B8-4857-B5A3-C46927853A44}"/>
              </a:ext>
            </a:extLst>
          </p:cNvPr>
          <p:cNvSpPr txBox="1"/>
          <p:nvPr/>
        </p:nvSpPr>
        <p:spPr>
          <a:xfrm>
            <a:off x="14954250" y="5257800"/>
            <a:ext cx="2286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500">
                <a:solidFill>
                  <a:srgbClr val="0B2D45"/>
                </a:solidFill>
                <a:latin typeface="Aptos"/>
              </a:rPr>
              <a:t>subscribe
check · fuse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DD67E2-88D4-4474-BEAD-B1936AE04CAD}"/>
              </a:ext>
            </a:extLst>
          </p:cNvPr>
          <p:cNvSpPr txBox="1"/>
          <p:nvPr/>
        </p:nvSpPr>
        <p:spPr>
          <a:xfrm>
            <a:off x="533400" y="9772650"/>
            <a:ext cx="1676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FFFFFF"/>
                </a:solidFill>
                <a:latin typeface="Aptos"/>
              </a:rPr>
              <a:t>Official PX4 v1.17 docs · Drivers publish sensor data through uORB; interface depends on device and bus</a:t>
            </a:r>
            <a:endParaRPr lang="it-IT" sz="90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776561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1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A72F9AE-D51E-45C4-9C23-3B7DD836CBC4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649F98-9F4E-4E6F-B9DD-27FD00CAF605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EA6922-8AB6-47AB-846F-C484DCFD5015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6924" b="1">
                <a:solidFill>
                  <a:srgbClr val="FF5A00"/>
                </a:solidFill>
                <a:latin typeface="Aptos"/>
              </a:rPr>
              <a:t>OUR FILTER IS NOT PX4 EKF2</a:t>
            </a:r>
            <a:endParaRPr lang="it-IT" sz="6924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AA01E6-8B5A-44ED-96F2-A70DC78053EB}"/>
              </a:ext>
            </a:extLst>
          </p:cNvPr>
          <p:cNvSpPr/>
          <p:nvPr/>
        </p:nvSpPr>
        <p:spPr>
          <a:xfrm>
            <a:off x="952500" y="3619500"/>
            <a:ext cx="7239000" cy="41910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AA28B5-32B9-4AED-AEF8-E459E5BB726F}"/>
              </a:ext>
            </a:extLst>
          </p:cNvPr>
          <p:cNvSpPr/>
          <p:nvPr/>
        </p:nvSpPr>
        <p:spPr>
          <a:xfrm>
            <a:off x="952500" y="3619500"/>
            <a:ext cx="7239000" cy="114300"/>
          </a:xfrm>
          <a:prstGeom prst="rect">
            <a:avLst/>
          </a:prstGeom>
          <a:solidFill>
            <a:srgbClr val="15B9C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39974F-2E06-42E0-B698-165785252019}"/>
              </a:ext>
            </a:extLst>
          </p:cNvPr>
          <p:cNvSpPr txBox="1"/>
          <p:nvPr/>
        </p:nvSpPr>
        <p:spPr>
          <a:xfrm>
            <a:off x="1333500" y="4000500"/>
            <a:ext cx="6477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100" b="1">
                <a:solidFill>
                  <a:srgbClr val="0B2D45"/>
                </a:solidFill>
                <a:latin typeface="Aptos"/>
              </a:rPr>
              <a:t>OUR EDUCATIONAL FILTER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8AB7F1-C680-46F8-87ED-E05632AC00A1}"/>
              </a:ext>
            </a:extLst>
          </p:cNvPr>
          <p:cNvSpPr txBox="1"/>
          <p:nvPr/>
        </p:nvSpPr>
        <p:spPr>
          <a:xfrm>
            <a:off x="1524000" y="4800600"/>
            <a:ext cx="5715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900" b="1">
                <a:solidFill>
                  <a:srgbClr val="15B9C5"/>
                </a:solidFill>
                <a:latin typeface="Aptos"/>
              </a:rPr>
              <a:t>ATTITUDE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6C8261-8E54-4AD2-A0E2-4B10F4D67169}"/>
              </a:ext>
            </a:extLst>
          </p:cNvPr>
          <p:cNvSpPr txBox="1"/>
          <p:nvPr/>
        </p:nvSpPr>
        <p:spPr>
          <a:xfrm>
            <a:off x="1524000" y="5410200"/>
            <a:ext cx="5715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900">
                <a:solidFill>
                  <a:srgbClr val="0B2D45"/>
                </a:solidFill>
                <a:latin typeface="Aptos"/>
              </a:rPr>
              <a:t>GYROSCOPE BIAS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C07377-C7E4-4AE8-93A0-4A37F944AA28}"/>
              </a:ext>
            </a:extLst>
          </p:cNvPr>
          <p:cNvSpPr txBox="1"/>
          <p:nvPr/>
        </p:nvSpPr>
        <p:spPr>
          <a:xfrm>
            <a:off x="1524000" y="6019800"/>
            <a:ext cx="5715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900">
                <a:solidFill>
                  <a:srgbClr val="0B2D45"/>
                </a:solidFill>
                <a:latin typeface="Aptos"/>
              </a:rPr>
              <a:t>ACCELEROMETER AIDING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9D0D89-0FED-4D43-B640-634CFA97DFF0}"/>
              </a:ext>
            </a:extLst>
          </p:cNvPr>
          <p:cNvSpPr txBox="1"/>
          <p:nvPr/>
        </p:nvSpPr>
        <p:spPr>
          <a:xfrm>
            <a:off x="1524000" y="6629400"/>
            <a:ext cx="5715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900">
                <a:solidFill>
                  <a:srgbClr val="0B2D45"/>
                </a:solidFill>
                <a:latin typeface="Aptos"/>
              </a:rPr>
              <a:t>MAGNETOMETER AIDING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03874B-E0B8-477B-A878-4532EAE7C84E}"/>
              </a:ext>
            </a:extLst>
          </p:cNvPr>
          <p:cNvSpPr txBox="1"/>
          <p:nvPr/>
        </p:nvSpPr>
        <p:spPr>
          <a:xfrm>
            <a:off x="1524000" y="7086600"/>
            <a:ext cx="57150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FF5A00"/>
                </a:solidFill>
                <a:latin typeface="Aptos"/>
              </a:rPr>
              <a:t>small enough to see every idea</a:t>
            </a:r>
            <a:endParaRPr lang="it-IT" sz="2800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BE3A60-ED9A-4A13-B1D6-2AC1EB1FD40D}"/>
              </a:ext>
            </a:extLst>
          </p:cNvPr>
          <p:cNvSpPr/>
          <p:nvPr/>
        </p:nvSpPr>
        <p:spPr>
          <a:xfrm>
            <a:off x="10096500" y="3619500"/>
            <a:ext cx="7239000" cy="4191000"/>
          </a:xfrm>
          <a:prstGeom prst="rect">
            <a:avLst/>
          </a:prstGeom>
          <a:solidFill>
            <a:srgbClr val="153F5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940585-CAEB-474B-A57C-35AF3C7552B8}"/>
              </a:ext>
            </a:extLst>
          </p:cNvPr>
          <p:cNvSpPr/>
          <p:nvPr/>
        </p:nvSpPr>
        <p:spPr>
          <a:xfrm>
            <a:off x="10096500" y="3619500"/>
            <a:ext cx="7239000" cy="114300"/>
          </a:xfrm>
          <a:prstGeom prst="rect">
            <a:avLst/>
          </a:prstGeom>
          <a:solidFill>
            <a:srgbClr val="A7D86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B7F8E0-9EEC-4455-94E8-6DFEAA1D69C8}"/>
              </a:ext>
            </a:extLst>
          </p:cNvPr>
          <p:cNvSpPr txBox="1"/>
          <p:nvPr/>
        </p:nvSpPr>
        <p:spPr>
          <a:xfrm>
            <a:off x="10477500" y="4000500"/>
            <a:ext cx="6477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100" b="1">
                <a:solidFill>
                  <a:srgbClr val="F5F6F7"/>
                </a:solidFill>
                <a:latin typeface="Aptos"/>
              </a:rPr>
              <a:t>PX4 EKF2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09C908-36D1-46DD-AF6A-F281ADE63225}"/>
              </a:ext>
            </a:extLst>
          </p:cNvPr>
          <p:cNvSpPr txBox="1"/>
          <p:nvPr/>
        </p:nvSpPr>
        <p:spPr>
          <a:xfrm>
            <a:off x="10668000" y="4686300"/>
            <a:ext cx="59055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b="1">
                <a:solidFill>
                  <a:srgbClr val="A7D867"/>
                </a:solidFill>
                <a:latin typeface="Aptos"/>
              </a:rPr>
              <a:t>FULL NAVIGATION ESTIMATOR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ADC170-5988-4519-9627-D7BBE3C40BA7}"/>
              </a:ext>
            </a:extLst>
          </p:cNvPr>
          <p:cNvSpPr txBox="1"/>
          <p:nvPr/>
        </p:nvSpPr>
        <p:spPr>
          <a:xfrm>
            <a:off x="10668000" y="5295900"/>
            <a:ext cx="59055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500">
                <a:solidFill>
                  <a:srgbClr val="F5F6F7"/>
                </a:solidFill>
                <a:latin typeface="Aptos"/>
              </a:rPr>
              <a:t>ATTITUDE  ·  VELOCITY  ·  POSITION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D8E492-B710-4555-A6B4-7BFA45C49059}"/>
              </a:ext>
            </a:extLst>
          </p:cNvPr>
          <p:cNvSpPr txBox="1"/>
          <p:nvPr/>
        </p:nvSpPr>
        <p:spPr>
          <a:xfrm>
            <a:off x="10668000" y="5905500"/>
            <a:ext cx="59055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900">
                <a:solidFill>
                  <a:srgbClr val="F5F6F7"/>
                </a:solidFill>
                <a:latin typeface="Aptos"/>
              </a:rPr>
              <a:t>SENSOR BIASES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060931-2E9D-4065-9644-AB9715796088}"/>
              </a:ext>
            </a:extLst>
          </p:cNvPr>
          <p:cNvSpPr txBox="1"/>
          <p:nvPr/>
        </p:nvSpPr>
        <p:spPr>
          <a:xfrm>
            <a:off x="10668000" y="6515100"/>
            <a:ext cx="59055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1900">
                <a:solidFill>
                  <a:srgbClr val="F5F6F7"/>
                </a:solidFill>
                <a:latin typeface="Aptos"/>
              </a:rPr>
              <a:t>MULTIPLE AIDING SOURCES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97B7EC-ACE9-4AE4-9B8C-4420C8441956}"/>
              </a:ext>
            </a:extLst>
          </p:cNvPr>
          <p:cNvSpPr txBox="1"/>
          <p:nvPr/>
        </p:nvSpPr>
        <p:spPr>
          <a:xfrm>
            <a:off x="10668000" y="7086600"/>
            <a:ext cx="5905500" cy="571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800" b="1">
                <a:solidFill>
                  <a:srgbClr val="FF5A00"/>
                </a:solidFill>
                <a:latin typeface="Aptos"/>
              </a:rPr>
              <a:t>real navigation scope</a:t>
            </a:r>
          </a:p>
        </p:txBody>
      </p:sp>
    </p:spTree>
    <p:extLst>
      <p:ext uri="{BB962C8B-B14F-4D97-AF65-F5344CB8AC3E}">
        <p14:creationId xmlns:p14="http://schemas.microsoft.com/office/powerpoint/2010/main" val="1864574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3A8524-3BCD-2F27-96CF-187EA12D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2">
            <a:extLst>
              <a:ext uri="{FF2B5EF4-FFF2-40B4-BE49-F238E27FC236}">
                <a16:creationId xmlns:a16="http://schemas.microsoft.com/office/drawing/2014/main" id="{EE49D489-3539-1C35-984C-0764A5B1C6C8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E5F8029F-75E5-5F50-9D3A-14C538E1073B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FD20DC5-56C5-707D-276D-1152EE753275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02F801-9222-E103-FB7F-67DC8B1DD612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68D4EF-4A49-FC44-E794-18164351772F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4050" b="1">
                <a:solidFill>
                  <a:srgbClr val="FF5A00"/>
                </a:solidFill>
                <a:latin typeface="Aptos"/>
              </a:rPr>
              <a:t>PREDICTION: FROM GYROSCOPE TO STATE TRANSITION</a:t>
            </a:r>
            <a:endParaRPr lang="it-IT" sz="6924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175" name="TextBox 23">
            <a:extLst>
              <a:ext uri="{FF2B5EF4-FFF2-40B4-BE49-F238E27FC236}">
                <a16:creationId xmlns:a16="http://schemas.microsoft.com/office/drawing/2014/main" id="{96E64EC6-3DA3-8F50-5D85-D0968B80F907}"/>
              </a:ext>
            </a:extLst>
          </p:cNvPr>
          <p:cNvSpPr txBox="1"/>
          <p:nvPr/>
        </p:nvSpPr>
        <p:spPr>
          <a:xfrm>
            <a:off x="939800" y="9575800"/>
            <a:ext cx="16344900" cy="571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2500" b="0">
                <a:solidFill>
                  <a:srgbClr val="FFFFFF"/>
                </a:solidFill>
                <a:latin typeface="Aptos"/>
              </a:rPr>
              <a:t>R(q): BODY/FRD → NED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A1D12C-7C68-7DA0-C87D-1507D0BA49ED}"/>
              </a:ext>
            </a:extLst>
          </p:cNvPr>
          <p:cNvSpPr/>
          <p:nvPr/>
        </p:nvSpPr>
        <p:spPr>
          <a:xfrm>
            <a:off x="950259" y="7505700"/>
            <a:ext cx="7696200" cy="2025650"/>
          </a:xfrm>
          <a:prstGeom prst="rect">
            <a:avLst/>
          </a:prstGeom>
          <a:solidFill>
            <a:srgbClr val="F2F4F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2BFA1-325E-392F-10ED-FE0FCDEB6E6E}"/>
              </a:ext>
            </a:extLst>
          </p:cNvPr>
          <p:cNvSpPr/>
          <p:nvPr/>
        </p:nvSpPr>
        <p:spPr>
          <a:xfrm>
            <a:off x="950259" y="7429500"/>
            <a:ext cx="7696200" cy="88900"/>
          </a:xfrm>
          <a:prstGeom prst="rect">
            <a:avLst/>
          </a:prstGeom>
          <a:solidFill>
            <a:srgbClr val="11C6D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72ED7-036F-AD97-E32F-DA16D3652CA7}"/>
              </a:ext>
            </a:extLst>
          </p:cNvPr>
          <p:cNvSpPr/>
          <p:nvPr/>
        </p:nvSpPr>
        <p:spPr>
          <a:xfrm>
            <a:off x="1028700" y="3378200"/>
            <a:ext cx="16344900" cy="3911600"/>
          </a:xfrm>
          <a:prstGeom prst="rect">
            <a:avLst/>
          </a:prstGeom>
          <a:solidFill>
            <a:srgbClr val="173F5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1D00CB-9029-E328-6874-9D9F6409D4A7}"/>
              </a:ext>
            </a:extLst>
          </p:cNvPr>
          <p:cNvSpPr/>
          <p:nvPr/>
        </p:nvSpPr>
        <p:spPr>
          <a:xfrm>
            <a:off x="1028700" y="3378200"/>
            <a:ext cx="16344900" cy="88900"/>
          </a:xfrm>
          <a:prstGeom prst="rect">
            <a:avLst/>
          </a:prstGeom>
          <a:solidFill>
            <a:srgbClr val="ABE4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F63BFD-921B-9D1F-2592-D98DA6B3BB68}"/>
              </a:ext>
            </a:extLst>
          </p:cNvPr>
          <p:cNvSpPr/>
          <p:nvPr/>
        </p:nvSpPr>
        <p:spPr>
          <a:xfrm>
            <a:off x="8915400" y="7429500"/>
            <a:ext cx="8458200" cy="1955800"/>
          </a:xfrm>
          <a:prstGeom prst="rect">
            <a:avLst/>
          </a:prstGeom>
          <a:solidFill>
            <a:srgbClr val="173F5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C44C2B-0470-56A3-F731-5670F42598EE}"/>
              </a:ext>
            </a:extLst>
          </p:cNvPr>
          <p:cNvSpPr/>
          <p:nvPr/>
        </p:nvSpPr>
        <p:spPr>
          <a:xfrm>
            <a:off x="8915400" y="7429500"/>
            <a:ext cx="8458200" cy="88900"/>
          </a:xfrm>
          <a:prstGeom prst="rect">
            <a:avLst/>
          </a:prstGeom>
          <a:solidFill>
            <a:srgbClr val="FF650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F305CF-6F84-9627-3E0D-B954D4092E71}"/>
              </a:ext>
            </a:extLst>
          </p:cNvPr>
          <p:cNvSpPr txBox="1"/>
          <p:nvPr/>
        </p:nvSpPr>
        <p:spPr>
          <a:xfrm>
            <a:off x="1086971" y="7664824"/>
            <a:ext cx="7239000" cy="368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2000" b="1">
                <a:solidFill>
                  <a:srgbClr val="092C43"/>
                </a:solidFill>
                <a:latin typeface="Aptos"/>
              </a:rPr>
              <a:t>B - LINEAR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E2DD09-8FF2-D74E-ADC4-371844555788}"/>
              </a:ext>
            </a:extLst>
          </p:cNvPr>
          <p:cNvSpPr txBox="1"/>
          <p:nvPr/>
        </p:nvSpPr>
        <p:spPr>
          <a:xfrm>
            <a:off x="1219200" y="3615391"/>
            <a:ext cx="78359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2000" b="1">
                <a:solidFill>
                  <a:srgbClr val="ABE454"/>
                </a:solidFill>
                <a:latin typeface="Aptos"/>
              </a:rPr>
              <a:t>A  RIGHT-MULTIPLICATIVE LOCAL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574212-5430-2E66-B236-0736B1E0E39D}"/>
                  </a:ext>
                </a:extLst>
              </p:cNvPr>
              <p:cNvSpPr txBox="1"/>
              <p:nvPr/>
            </p:nvSpPr>
            <p:spPr>
              <a:xfrm>
                <a:off x="1254312" y="4051299"/>
                <a:ext cx="15893676" cy="161589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r>
                  <a:rPr lang="it-IT" sz="3000">
                    <a:solidFill>
                      <a:schemeClr val="bg1"/>
                    </a:solidFill>
                  </a:rPr>
                  <a:t>Attitude error: </a:t>
                </a:r>
                <a14:m>
                  <m:oMath xmlns:m="http://schemas.openxmlformats.org/officeDocument/2006/math"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sz="30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ˆ"/>
                            <m:ctrlPr>
                              <a:rPr lang="it-IT" sz="30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30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it-IT" sz="30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it-IT" sz="3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it-IT" sz="30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ˆ"/>
                            <m:ctrlPr>
                              <a:rPr lang="it-IT" sz="30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3000" b="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</m:acc>
                    <m:r>
                      <a:rPr lang="it-IT" sz="3000" b="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ˆ"/>
                        <m:ctrlPr>
                          <a:rPr lang="it-IT" sz="30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30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sSub>
                      <m:sSubPr>
                        <m:ctrlPr>
                          <a:rPr lang="it-IT" sz="30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it-IT" sz="3000" b="1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3000" b="1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it-IT" sz="3000" b="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̇"/>
                        <m:ctrlP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it-IT" sz="30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it-IT" sz="3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acc>
                              <m:accPr>
                                <m:chr m:val="ˆ"/>
                                <m:ctrlPr>
                                  <a:rPr lang="it-IT" sz="3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3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acc>
                          </m:e>
                        </m:acc>
                      </m:e>
                      <m:sup>
                        <m:r>
                          <a:rPr lang="it-IT" sz="30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it-IT" sz="3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it-IT" sz="30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ˆ"/>
                            <m:ctrlPr>
                              <a:rPr lang="it-IT" sz="3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3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it-IT" sz="30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acc>
                      <m:accPr>
                        <m:chr m:val="̇"/>
                        <m:ctrlP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it-IT" sz="30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it-IT" sz="3000" b="1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3000" b="1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it-IT" sz="3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acc>
                      <m:accPr>
                        <m:chr m:val="̂"/>
                        <m:ctrlP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  <m:sub>
                        <m:r>
                          <a:rPr lang="it-IT" sz="3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</m:oMath>
                </a14:m>
                <a:endParaRPr lang="it-IT" sz="3000">
                  <a:solidFill>
                    <a:schemeClr val="bg1"/>
                  </a:solidFill>
                </a:endParaRPr>
              </a:p>
              <a:p>
                <a:r>
                  <a:rPr lang="it-IT" sz="3000" err="1">
                    <a:solidFill>
                      <a:schemeClr val="bg1"/>
                    </a:solidFill>
                  </a:rPr>
                  <a:t>Linearization</a:t>
                </a:r>
                <a:r>
                  <a:rPr lang="it-IT" sz="300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it-IT" sz="3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it-IT" sz="3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it-IT" sz="30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≃</m:t>
                    </m:r>
                    <m:r>
                      <a:rPr lang="it-IT" sz="3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it-IT" sz="30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3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it-IT" sz="3000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  <m:sub>
                        <m:r>
                          <a:rPr lang="it-IT" sz="3000" b="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</m:e>
                      <m:sub>
                        <m: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  <m:sSub>
                      <m:sSubPr>
                        <m:ctrlP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d>
                      </m:e>
                      <m:sub>
                        <m: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d>
                      </m:e>
                      <m:sub>
                        <m: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  <m:sSub>
                      <m:sSubPr>
                        <m:ctrlP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</m:d>
                      </m:e>
                      <m:sub>
                        <m: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  <m: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d>
                      </m:e>
                      <m:sub>
                        <m: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</m:oMath>
                </a14:m>
                <a:endParaRPr lang="it-IT" sz="3000" b="0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300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3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acc>
                              <m:accPr>
                                <m:chr m:val="̇"/>
                                <m:ctrlPr>
                                  <a:rPr lang="it-IT" sz="3000" b="1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3000" b="1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it-IT" sz="3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  <m:r>
                      <a:rPr lang="it-IT" sz="3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≃−</m:t>
                    </m:r>
                    <m:sSub>
                      <m:sSubPr>
                        <m:ctrlPr>
                          <a:rPr lang="it-IT" sz="30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it-IT" sz="3000" b="1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3000" b="1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it-IT" sz="3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  <m:d>
                      <m:dPr>
                        <m:ctrlP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it-IT" sz="3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sz="3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it-IT" sz="3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3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it-IT" sz="3000" b="1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  <m:sub>
                            <m:r>
                              <a:rPr lang="it-IT" sz="3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</m:sub>
                        </m:sSub>
                      </m:e>
                    </m:d>
                    <m:r>
                      <m:rPr>
                        <m:aln/>
                      </m:rPr>
                      <a:rPr lang="it-IT" sz="3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&amp;</m:t>
                    </m:r>
                    <m:r>
                      <a:rPr lang="it-IT" sz="3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3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it-IT" sz="3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sz="3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it-IT" sz="3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3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it-IT" sz="3000" b="1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  <m:sub>
                            <m:r>
                              <a:rPr lang="it-IT" sz="3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it-IT" sz="30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it-IT" sz="3000" b="1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3000" b="1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  <m:r>
                              <a:rPr lang="it-IT" sz="3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sz="3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it-IT" sz="3000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d>
                      </m:e>
                      <m:sub>
                        <m:r>
                          <a:rPr lang="it-IT" sz="3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</m:oMath>
                </a14:m>
                <a:r>
                  <a:rPr lang="it-IT" sz="3000" i="1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3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30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acc>
                              <m:accPr>
                                <m:chr m:val="̇"/>
                                <m:ctrlPr>
                                  <a:rPr lang="it-IT" sz="3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3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  <m:r>
                      <a:rPr lang="it-IT" sz="3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it-IT" sz="3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ˆ"/>
                                <m:ctrlPr>
                                  <a:rPr lang="it-IT" sz="3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30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</m:acc>
                            <m: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it-IT" sz="3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it-IT" sz="30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  <m:sub>
                        <m:r>
                          <a:rPr lang="it-IT" sz="3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</m:oMath>
                </a14:m>
                <a:endParaRPr lang="it-IT" sz="3000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endParaRPr lang="it-IT" sz="30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574212-5430-2E66-B236-0736B1E0E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312" y="4051299"/>
                <a:ext cx="15893676" cy="1615891"/>
              </a:xfrm>
              <a:prstGeom prst="rect">
                <a:avLst/>
              </a:prstGeom>
              <a:blipFill>
                <a:blip r:embed="rId4"/>
                <a:stretch>
                  <a:fillRect l="-921" b="-10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789797-7295-F5CA-0CB6-FDA54D4F7BC8}"/>
                  </a:ext>
                </a:extLst>
              </p:cNvPr>
              <p:cNvSpPr txBox="1"/>
              <p:nvPr/>
            </p:nvSpPr>
            <p:spPr>
              <a:xfrm>
                <a:off x="5281706" y="5822204"/>
                <a:ext cx="7874000" cy="144555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it-IT" sz="3000" b="1" i="1" dirty="0" smtClean="0">
                              <a:solidFill>
                                <a:srgbClr val="ABE45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it-IT" sz="3000" b="1" i="1" dirty="0" smtClean="0">
                              <a:solidFill>
                                <a:srgbClr val="ABE45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𝒅</m:t>
                          </m:r>
                          <m:d>
                            <m:dPr>
                              <m:ctrlPr>
                                <a:rPr lang="el-GR" sz="3000" b="1" i="1" dirty="0">
                                  <a:solidFill>
                                    <a:srgbClr val="ABE454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l-GR" sz="3000" b="1" i="1" dirty="0">
                                  <a:solidFill>
                                    <a:srgbClr val="ABE454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𝜹𝜽</m:t>
                              </m:r>
                            </m:e>
                          </m:d>
                        </m:num>
                        <m:den>
                          <m:r>
                            <a:rPr lang="it-IT" sz="3000" b="1" i="1" dirty="0" err="1">
                              <a:solidFill>
                                <a:srgbClr val="ABE45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𝒅𝒕</m:t>
                          </m:r>
                        </m:den>
                      </m:f>
                      <m:r>
                        <a:rPr lang="it-IT" sz="3000" b="1" i="1" dirty="0">
                          <a:solidFill>
                            <a:srgbClr val="ABE45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= −[</m:t>
                      </m:r>
                      <m:acc>
                        <m:accPr>
                          <m:chr m:val="̂"/>
                          <m:ctrlPr>
                            <a:rPr lang="el-GR" sz="3000" b="1" i="1" dirty="0">
                              <a:solidFill>
                                <a:srgbClr val="ABE45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l-GR" sz="3000" b="1" i="1" dirty="0">
                              <a:solidFill>
                                <a:srgbClr val="ABE45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𝝎</m:t>
                          </m:r>
                        </m:e>
                      </m:acc>
                      <m:r>
                        <a:rPr lang="el-GR" sz="3000" b="1" i="1" dirty="0">
                          <a:solidFill>
                            <a:srgbClr val="ABE45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]×</m:t>
                      </m:r>
                      <m:r>
                        <a:rPr lang="el-GR" sz="3000" b="1" i="1" dirty="0">
                          <a:solidFill>
                            <a:srgbClr val="ABE45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𝜹𝜽</m:t>
                      </m:r>
                      <m:r>
                        <a:rPr lang="el-GR" sz="3000" b="1" i="1" dirty="0">
                          <a:solidFill>
                            <a:srgbClr val="ABE45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− </m:t>
                      </m:r>
                      <m:r>
                        <a:rPr lang="el-GR" sz="3000" b="1" i="1" dirty="0">
                          <a:solidFill>
                            <a:srgbClr val="ABE45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𝜹</m:t>
                      </m:r>
                      <m:sSub>
                        <m:sSubPr>
                          <m:ctrlPr>
                            <a:rPr lang="it-IT" sz="3000" b="1" i="1" dirty="0" err="1">
                              <a:solidFill>
                                <a:srgbClr val="ABE45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t-IT" sz="3000" b="1" i="1" dirty="0" err="1">
                              <a:solidFill>
                                <a:srgbClr val="ABE45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𝒃</m:t>
                          </m:r>
                        </m:e>
                        <m:sub>
                          <m:r>
                            <a:rPr lang="it-IT" sz="3000" b="1" i="1" dirty="0" err="1">
                              <a:solidFill>
                                <a:srgbClr val="ABE45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𝒈</m:t>
                          </m:r>
                        </m:sub>
                      </m:sSub>
                      <m:r>
                        <a:rPr lang="it-IT" sz="3000" b="1" i="1" dirty="0">
                          <a:solidFill>
                            <a:srgbClr val="ABE454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− </m:t>
                      </m:r>
                      <m:sSub>
                        <m:sSubPr>
                          <m:ctrlPr>
                            <a:rPr lang="it-IT" sz="3000" b="1" i="1" dirty="0" err="1">
                              <a:solidFill>
                                <a:srgbClr val="ABE45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it-IT" sz="3000" b="1" i="1" dirty="0" err="1">
                              <a:solidFill>
                                <a:srgbClr val="ABE45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𝒏</m:t>
                          </m:r>
                        </m:e>
                        <m:sub>
                          <m:r>
                            <a:rPr lang="it-IT" sz="3000" b="1" i="1" dirty="0" err="1">
                              <a:solidFill>
                                <a:srgbClr val="ABE454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𝒈</m:t>
                          </m:r>
                        </m:sub>
                      </m:sSub>
                    </m:oMath>
                  </m:oMathPara>
                </a14:m>
                <a:endParaRPr sz="300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C789797-7295-F5CA-0CB6-FDA54D4F7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706" y="5822204"/>
                <a:ext cx="7874000" cy="1445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BCA2057-E864-D442-48CA-B1E61DC91CD5}"/>
              </a:ext>
            </a:extLst>
          </p:cNvPr>
          <p:cNvSpPr txBox="1"/>
          <p:nvPr/>
        </p:nvSpPr>
        <p:spPr>
          <a:xfrm>
            <a:off x="9169400" y="7531100"/>
            <a:ext cx="7937500" cy="342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2000" b="1">
                <a:solidFill>
                  <a:srgbClr val="ABE454"/>
                </a:solidFill>
                <a:latin typeface="Aptos"/>
              </a:rPr>
              <a:t>C – DISCRETE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23">
                <a:extLst>
                  <a:ext uri="{FF2B5EF4-FFF2-40B4-BE49-F238E27FC236}">
                    <a16:creationId xmlns:a16="http://schemas.microsoft.com/office/drawing/2014/main" id="{36CEECBE-D464-A77A-AE9A-767258B7BCC6}"/>
                  </a:ext>
                </a:extLst>
              </p:cNvPr>
              <p:cNvSpPr txBox="1"/>
              <p:nvPr/>
            </p:nvSpPr>
            <p:spPr>
              <a:xfrm>
                <a:off x="1213224" y="7988300"/>
                <a:ext cx="6794500" cy="4699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3150" b="1" i="1" smtClean="0">
                          <a:solidFill>
                            <a:srgbClr val="082C43"/>
                          </a:solidFill>
                          <a:latin typeface="Cambria Math"/>
                        </a:rPr>
                        <m:t>𝜹</m:t>
                      </m:r>
                      <m:r>
                        <a:rPr lang="it-IT" sz="3150" b="1" smtClean="0">
                          <a:solidFill>
                            <a:srgbClr val="082C43"/>
                          </a:solidFill>
                          <a:latin typeface="Cambria Math"/>
                        </a:rPr>
                        <m:t> </m:t>
                      </m:r>
                      <m:acc>
                        <m:accPr>
                          <m:chr m:val="̇"/>
                          <m:ctrlPr>
                            <a:rPr lang="it-IT" sz="3150" b="1" i="0" smtClean="0">
                              <a:solidFill>
                                <a:srgbClr val="082C4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3150" b="1" i="0" smtClean="0">
                              <a:solidFill>
                                <a:srgbClr val="082C43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it-IT" sz="3150" b="1">
                          <a:solidFill>
                            <a:srgbClr val="082C43"/>
                          </a:solidFill>
                          <a:latin typeface="Cambria Math"/>
                        </a:rPr>
                        <m:t>= </m:t>
                      </m:r>
                      <m:r>
                        <a:rPr lang="it-IT" sz="3150" b="1">
                          <a:solidFill>
                            <a:srgbClr val="082C43"/>
                          </a:solidFill>
                          <a:latin typeface="Cambria Math"/>
                        </a:rPr>
                        <m:t>𝐴</m:t>
                      </m:r>
                      <m:r>
                        <a:rPr lang="it-IT" sz="3150" b="1">
                          <a:solidFill>
                            <a:srgbClr val="082C43"/>
                          </a:solidFill>
                          <a:latin typeface="Cambria Math"/>
                        </a:rPr>
                        <m:t> </m:t>
                      </m:r>
                      <m:r>
                        <a:rPr lang="it-IT" sz="3150" b="1" i="1">
                          <a:solidFill>
                            <a:srgbClr val="082C43"/>
                          </a:solidFill>
                          <a:latin typeface="Cambria Math"/>
                        </a:rPr>
                        <m:t>𝜹</m:t>
                      </m:r>
                      <m:r>
                        <a:rPr lang="it-IT" sz="3150" b="1" i="1">
                          <a:solidFill>
                            <a:srgbClr val="082C43"/>
                          </a:solidFill>
                          <a:latin typeface="Cambria Math"/>
                        </a:rPr>
                        <m:t>𝒙</m:t>
                      </m:r>
                      <m:r>
                        <a:rPr lang="it-IT" sz="3150" b="1">
                          <a:solidFill>
                            <a:srgbClr val="082C43"/>
                          </a:solidFill>
                          <a:latin typeface="Cambria Math"/>
                        </a:rPr>
                        <m:t> +</m:t>
                      </m:r>
                      <m:r>
                        <a:rPr lang="it-IT" sz="3150" b="1" i="1" smtClean="0">
                          <a:solidFill>
                            <a:srgbClr val="082C43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b="1">
                  <a:solidFill>
                    <a:srgbClr val="082C43"/>
                  </a:solidFill>
                </a:endParaRPr>
              </a:p>
            </p:txBody>
          </p:sp>
        </mc:Choice>
        <mc:Fallback xmlns="">
          <p:sp>
            <p:nvSpPr>
              <p:cNvPr id="162" name="TextBox 23">
                <a:extLst>
                  <a:ext uri="{FF2B5EF4-FFF2-40B4-BE49-F238E27FC236}">
                    <a16:creationId xmlns:a16="http://schemas.microsoft.com/office/drawing/2014/main" id="{36CEECBE-D464-A77A-AE9A-767258B7B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224" y="7988300"/>
                <a:ext cx="6794500" cy="469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23">
                <a:extLst>
                  <a:ext uri="{FF2B5EF4-FFF2-40B4-BE49-F238E27FC236}">
                    <a16:creationId xmlns:a16="http://schemas.microsoft.com/office/drawing/2014/main" id="{9FB20F71-F16E-02C8-BEF3-0295F6D66113}"/>
                  </a:ext>
                </a:extLst>
              </p:cNvPr>
              <p:cNvSpPr txBox="1"/>
              <p:nvPr/>
            </p:nvSpPr>
            <p:spPr>
              <a:xfrm>
                <a:off x="1371601" y="8331947"/>
                <a:ext cx="6731000" cy="1181474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3000" b="1" smtClean="0">
                          <a:solidFill>
                            <a:srgbClr val="082C43"/>
                          </a:solidFill>
                          <a:latin typeface="Cambria Math"/>
                        </a:rPr>
                        <m:t>𝐴</m:t>
                      </m:r>
                      <m:r>
                        <a:rPr lang="it-IT" sz="3000" b="1" smtClean="0">
                          <a:solidFill>
                            <a:srgbClr val="082C43"/>
                          </a:solidFill>
                          <a:latin typeface="Cambria Math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000" b="1" i="1">
                              <a:solidFill>
                                <a:srgbClr val="082C4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000" b="1" i="1">
                                  <a:solidFill>
                                    <a:srgbClr val="082C43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3000" b="1" i="1" smtClean="0">
                                    <a:solidFill>
                                      <a:srgbClr val="082C4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it-IT" sz="3000" b="1" i="1" smtClean="0">
                                            <a:solidFill>
                                              <a:srgbClr val="082C43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it-IT" sz="3000" b="1" i="1" smtClean="0">
                                                <a:solidFill>
                                                  <a:srgbClr val="082C4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it-IT" sz="3000" b="1" i="1" smtClean="0">
                                                <a:solidFill>
                                                  <a:srgbClr val="082C4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𝝎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it-IT" sz="3000" b="1" i="1" smtClean="0">
                                    <a:solidFill>
                                      <a:srgbClr val="082C4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sub>
                                    <m: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sub>
                                    <m: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it-IT" sz="3000" b="1" i="1" smtClean="0">
                                    <a:solidFill>
                                      <a:srgbClr val="082C43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sz="3000" b="1" i="1" smtClean="0">
                          <a:solidFill>
                            <a:srgbClr val="082C4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it-IT" sz="3000" b="1" i="1" smtClean="0">
                          <a:solidFill>
                            <a:srgbClr val="082C43"/>
                          </a:solidFill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it-IT" sz="3000" b="1" i="1" smtClean="0">
                          <a:solidFill>
                            <a:srgbClr val="082C43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it-IT" sz="3000" b="1" i="1" smtClean="0">
                          <a:solidFill>
                            <a:srgbClr val="082C4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3000" b="1" i="1">
                              <a:solidFill>
                                <a:srgbClr val="082C4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3000" b="1" i="1">
                                  <a:solidFill>
                                    <a:srgbClr val="082C43"/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it-IT" sz="3000" b="1" i="1" smtClean="0">
                                    <a:solidFill>
                                      <a:srgbClr val="082C43"/>
                                    </a:solidFill>
                                    <a:latin typeface="Cambria Math" panose="02040503050406030204" pitchFamily="18" charset="0"/>
                                  </a:rPr>
                                  <m:t>𝜹𝜽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3000" b="1" i="1" smtClean="0">
                                    <a:solidFill>
                                      <a:srgbClr val="082C43"/>
                                    </a:solidFill>
                                    <a:latin typeface="Cambria Math" panose="02040503050406030204" pitchFamily="18" charset="0"/>
                                  </a:rPr>
                                  <m:t>𝜹</m:t>
                                </m:r>
                                <m:sSub>
                                  <m:sSubPr>
                                    <m:ctrlP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it-IT" sz="3000" b="1" i="1" smtClean="0">
                                        <a:solidFill>
                                          <a:srgbClr val="082C4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000">
                  <a:solidFill>
                    <a:srgbClr val="082C43"/>
                  </a:solidFill>
                </a:endParaRPr>
              </a:p>
            </p:txBody>
          </p:sp>
        </mc:Choice>
        <mc:Fallback xmlns="">
          <p:sp>
            <p:nvSpPr>
              <p:cNvPr id="163" name="TextBox 23">
                <a:extLst>
                  <a:ext uri="{FF2B5EF4-FFF2-40B4-BE49-F238E27FC236}">
                    <a16:creationId xmlns:a16="http://schemas.microsoft.com/office/drawing/2014/main" id="{9FB20F71-F16E-02C8-BEF3-0295F6D66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1" y="8331947"/>
                <a:ext cx="6731000" cy="11814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23">
                <a:extLst>
                  <a:ext uri="{FF2B5EF4-FFF2-40B4-BE49-F238E27FC236}">
                    <a16:creationId xmlns:a16="http://schemas.microsoft.com/office/drawing/2014/main" id="{770BB235-7C24-988B-8EA5-E99F2D533F5F}"/>
                  </a:ext>
                </a:extLst>
              </p:cNvPr>
              <p:cNvSpPr txBox="1"/>
              <p:nvPr/>
            </p:nvSpPr>
            <p:spPr>
              <a:xfrm>
                <a:off x="9081994" y="8301691"/>
                <a:ext cx="7886700" cy="4826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4000" b="1">
                          <a:solidFill>
                            <a:srgbClr val="FFFFFF"/>
                          </a:solidFill>
                          <a:latin typeface="Cambria Math"/>
                        </a:rPr>
                        <m:t>𝐹</m:t>
                      </m:r>
                      <m:r>
                        <a:rPr lang="it-IT" sz="4000" b="1">
                          <a:solidFill>
                            <a:srgbClr val="FFFFFF"/>
                          </a:solidFill>
                          <a:latin typeface="Cambria Math"/>
                        </a:rPr>
                        <m:t> ≃ </m:t>
                      </m:r>
                      <m:r>
                        <a:rPr lang="it-IT" sz="4000" b="1">
                          <a:solidFill>
                            <a:srgbClr val="FFFFFF"/>
                          </a:solidFill>
                          <a:latin typeface="Cambria Math"/>
                        </a:rPr>
                        <m:t>𝐼</m:t>
                      </m:r>
                      <m:r>
                        <a:rPr lang="it-IT" sz="4000" b="1">
                          <a:solidFill>
                            <a:srgbClr val="FFFFFF"/>
                          </a:solidFill>
                          <a:latin typeface="Cambria Math"/>
                        </a:rPr>
                        <m:t>₆ + </m:t>
                      </m:r>
                      <m:r>
                        <a:rPr lang="it-IT" sz="4000" b="1">
                          <a:solidFill>
                            <a:srgbClr val="FFFFFF"/>
                          </a:solidFill>
                          <a:latin typeface="Cambria Math"/>
                        </a:rPr>
                        <m:t>𝐴</m:t>
                      </m:r>
                      <m:r>
                        <a:rPr lang="it-IT" sz="4000" b="1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a:rPr lang="it-IT" sz="4000" b="1">
                          <a:solidFill>
                            <a:srgbClr val="FFFFFF"/>
                          </a:solidFill>
                          <a:latin typeface="Cambria Math"/>
                        </a:rPr>
                        <m:t>𝛥</m:t>
                      </m:r>
                      <m:r>
                        <a:rPr lang="it-IT" sz="4000" b="1">
                          <a:solidFill>
                            <a:srgbClr val="FFFFFF"/>
                          </a:solidFill>
                          <a:latin typeface="Cambria Math"/>
                        </a:rPr>
                        <m:t>𝑡</m:t>
                      </m:r>
                    </m:oMath>
                  </m:oMathPara>
                </a14:m>
                <a:endParaRPr sz="40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69" name="TextBox 23">
                <a:extLst>
                  <a:ext uri="{FF2B5EF4-FFF2-40B4-BE49-F238E27FC236}">
                    <a16:creationId xmlns:a16="http://schemas.microsoft.com/office/drawing/2014/main" id="{770BB235-7C24-988B-8EA5-E99F2D533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994" y="8301691"/>
                <a:ext cx="7886700" cy="482600"/>
              </a:xfrm>
              <a:prstGeom prst="rect">
                <a:avLst/>
              </a:prstGeom>
              <a:blipFill>
                <a:blip r:embed="rId8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838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1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A72F9AE-D51E-45C4-9C23-3B7DD836CBC4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649F98-9F4E-4E6F-B9DD-27FD00CAF605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EA6922-8AB6-47AB-846F-C484DCFD5015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4200" b="1">
                <a:solidFill>
                  <a:srgbClr val="FF5A00"/>
                </a:solidFill>
                <a:latin typeface="Aptos"/>
              </a:rPr>
              <a:t>ACCELEROMETER: THE FIRST MEASUREMENT MODEL</a:t>
            </a:r>
            <a:endParaRPr lang="it-IT" sz="6924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150" name="Rectangle 29">
            <a:extLst>
              <a:ext uri="{FF2B5EF4-FFF2-40B4-BE49-F238E27FC236}">
                <a16:creationId xmlns:a16="http://schemas.microsoft.com/office/drawing/2014/main" id="{E3BE3A60-ED9A-4A13-B1D6-2AC1EB1FD40D}"/>
              </a:ext>
            </a:extLst>
          </p:cNvPr>
          <p:cNvSpPr/>
          <p:nvPr/>
        </p:nvSpPr>
        <p:spPr>
          <a:xfrm>
            <a:off x="889000" y="3556000"/>
            <a:ext cx="16484600" cy="1231900"/>
          </a:xfrm>
          <a:prstGeom prst="rect">
            <a:avLst/>
          </a:prstGeom>
          <a:solidFill>
            <a:srgbClr val="153F5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1" name="Rectangle 22">
            <a:extLst>
              <a:ext uri="{FF2B5EF4-FFF2-40B4-BE49-F238E27FC236}">
                <a16:creationId xmlns:a16="http://schemas.microsoft.com/office/drawing/2014/main" id="{4CAA28B5-32B9-4AED-AEF8-E459E5BB726F}"/>
              </a:ext>
            </a:extLst>
          </p:cNvPr>
          <p:cNvSpPr/>
          <p:nvPr/>
        </p:nvSpPr>
        <p:spPr>
          <a:xfrm>
            <a:off x="889000" y="3556000"/>
            <a:ext cx="16484600" cy="1016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/>
              <p:nvPr/>
            </p:nvSpPr>
            <p:spPr>
              <a:xfrm>
                <a:off x="1181100" y="3848100"/>
                <a:ext cx="15113000" cy="6985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l"/>
                <a:r>
                  <a:rPr lang="it-IT" sz="3490" b="1">
                    <a:solidFill>
                      <a:srgbClr val="FFFFFF"/>
                    </a:solidFill>
                    <a:latin typeface="Aptos"/>
                  </a:rPr>
                  <a:t>PHYSICS    </a:t>
                </a:r>
                <a14:m>
                  <m:oMath xmlns:m="http://schemas.openxmlformats.org/officeDocument/2006/math"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𝒇</m:t>
                    </m:r>
                    <m:r>
                      <a:rPr lang="it-IT" sz="3490" b="1">
                        <a:solidFill>
                          <a:srgbClr val="FFFFFF"/>
                        </a:solidFill>
                        <a:latin typeface="Cambria Math"/>
                      </a:rPr>
                      <m:t>ᴮ = </m:t>
                    </m:r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𝑹</m:t>
                    </m:r>
                    <m:d>
                      <m:dPr>
                        <m:ctrlPr>
                          <a:rPr lang="it-IT" sz="3490" b="1" i="1">
                            <a:solidFill>
                              <a:srgbClr val="FFFFFF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it-IT" sz="3490" b="1" i="1">
                            <a:solidFill>
                              <a:srgbClr val="FFFFFF"/>
                            </a:solidFill>
                            <a:latin typeface="Cambria Math"/>
                          </a:rPr>
                          <m:t>𝒒</m:t>
                        </m:r>
                      </m:e>
                    </m:d>
                    <m:r>
                      <a:rPr lang="it-IT" sz="3490" b="1">
                        <a:solidFill>
                          <a:srgbClr val="FFFFFF"/>
                        </a:solidFill>
                        <a:latin typeface="Cambria Math"/>
                      </a:rPr>
                      <m:t>ᵀ </m:t>
                    </m:r>
                    <m:d>
                      <m:dPr>
                        <m:ctrlPr>
                          <a:rPr lang="it-IT" sz="3490" b="1">
                            <a:solidFill>
                              <a:srgbClr val="FFFFFF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it-IT" sz="3490" b="1">
                            <a:solidFill>
                              <a:srgbClr val="FFFFFF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it-IT" sz="3490" b="1" i="1">
                            <a:solidFill>
                              <a:srgbClr val="FFFFFF"/>
                            </a:solidFill>
                            <a:latin typeface="Cambria Math"/>
                          </a:rPr>
                          <m:t>𝒂</m:t>
                        </m:r>
                        <m:r>
                          <a:rPr lang="it-IT" sz="3490" b="1">
                            <a:solidFill>
                              <a:srgbClr val="FFFFFF"/>
                            </a:solidFill>
                            <a:latin typeface="Cambria Math"/>
                          </a:rPr>
                          <m:t>ᴺ − </m:t>
                        </m:r>
                        <m:r>
                          <a:rPr lang="it-IT" sz="3490" b="1" i="1">
                            <a:solidFill>
                              <a:srgbClr val="FFFFFF"/>
                            </a:solidFill>
                            <a:latin typeface="Cambria Math"/>
                          </a:rPr>
                          <m:t>𝒈</m:t>
                        </m:r>
                        <m:r>
                          <a:rPr lang="it-IT" sz="3490" b="1">
                            <a:solidFill>
                              <a:srgbClr val="FFFFFF"/>
                            </a:solidFill>
                            <a:latin typeface="Cambria Math"/>
                          </a:rPr>
                          <m:t>ᴺ </m:t>
                        </m:r>
                      </m:e>
                    </m:d>
                    <m:r>
                      <a:rPr lang="it-IT" sz="3490" b="1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349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49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it-IT" sz="349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it-IT" sz="3490" b="1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349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49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it-IT" sz="349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endParaRPr lang="it-IT" sz="3490" b="1">
                  <a:solidFill>
                    <a:srgbClr val="FFFFFF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52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848100"/>
                <a:ext cx="15113000" cy="698500"/>
              </a:xfrm>
              <a:prstGeom prst="rect">
                <a:avLst/>
              </a:prstGeom>
              <a:blipFill>
                <a:blip r:embed="rId4"/>
                <a:stretch>
                  <a:fillRect l="-1815" t="-7826" b="-2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21">
            <a:extLst>
              <a:ext uri="{FF2B5EF4-FFF2-40B4-BE49-F238E27FC236}">
                <a16:creationId xmlns:a16="http://schemas.microsoft.com/office/drawing/2014/main" id="{8CAA01E6-8B5A-44ED-96F2-A70DC78053EB}"/>
              </a:ext>
            </a:extLst>
          </p:cNvPr>
          <p:cNvSpPr/>
          <p:nvPr/>
        </p:nvSpPr>
        <p:spPr>
          <a:xfrm>
            <a:off x="889000" y="5092700"/>
            <a:ext cx="16484600" cy="34036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4" name="Rectangle 22">
            <a:extLst>
              <a:ext uri="{FF2B5EF4-FFF2-40B4-BE49-F238E27FC236}">
                <a16:creationId xmlns:a16="http://schemas.microsoft.com/office/drawing/2014/main" id="{4CAA28B5-32B9-4AED-AEF8-E459E5BB726F}"/>
              </a:ext>
            </a:extLst>
          </p:cNvPr>
          <p:cNvSpPr/>
          <p:nvPr/>
        </p:nvSpPr>
        <p:spPr>
          <a:xfrm>
            <a:off x="889000" y="5092700"/>
            <a:ext cx="16484600" cy="101600"/>
          </a:xfrm>
          <a:prstGeom prst="rect">
            <a:avLst/>
          </a:prstGeom>
          <a:solidFill>
            <a:srgbClr val="17C1C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/>
              <p:nvPr/>
            </p:nvSpPr>
            <p:spPr>
              <a:xfrm>
                <a:off x="1181100" y="5334000"/>
                <a:ext cx="97917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l"/>
                <a:r>
                  <a:rPr lang="it-IT" sz="3000" b="1">
                    <a:solidFill>
                      <a:srgbClr val="0B3048"/>
                    </a:solidFill>
                    <a:latin typeface="Aptos"/>
                  </a:rPr>
                  <a:t>QUASI-STATIC: </a:t>
                </a:r>
                <a14:m>
                  <m:oMath xmlns:m="http://schemas.openxmlformats.org/officeDocument/2006/math">
                    <m:r>
                      <a:rPr lang="it-IT" sz="3000" b="1" i="0" smtClean="0">
                        <a:solidFill>
                          <a:srgbClr val="0B304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3000" b="1">
                        <a:solidFill>
                          <a:srgbClr val="0B3048"/>
                        </a:solidFill>
                        <a:latin typeface="Cambria Math"/>
                      </a:rPr>
                      <m:t>𝑎</m:t>
                    </m:r>
                    <m:r>
                      <a:rPr lang="it-IT" sz="3000" b="1">
                        <a:solidFill>
                          <a:srgbClr val="0B3048"/>
                        </a:solidFill>
                        <a:latin typeface="Cambria Math"/>
                      </a:rPr>
                      <m:t>ᴺ ≃ 0    ·    </m:t>
                    </m:r>
                    <m:r>
                      <a:rPr lang="it-IT" sz="3000" b="1">
                        <a:solidFill>
                          <a:srgbClr val="0B3048"/>
                        </a:solidFill>
                        <a:latin typeface="Cambria Math"/>
                      </a:rPr>
                      <m:t>𝑔</m:t>
                    </m:r>
                    <m:r>
                      <a:rPr lang="it-IT" sz="3000" b="1">
                        <a:solidFill>
                          <a:srgbClr val="0B3048"/>
                        </a:solidFill>
                        <a:latin typeface="Cambria Math"/>
                      </a:rPr>
                      <m:t>ᴺ = (0, 0, +</m:t>
                    </m:r>
                    <m:r>
                      <a:rPr lang="it-IT" sz="3000" b="1">
                        <a:solidFill>
                          <a:srgbClr val="0B3048"/>
                        </a:solidFill>
                        <a:latin typeface="Cambria Math"/>
                      </a:rPr>
                      <m:t>𝑔</m:t>
                    </m:r>
                    <m:r>
                      <a:rPr lang="it-IT" sz="3000" b="1">
                        <a:solidFill>
                          <a:srgbClr val="0B3048"/>
                        </a:solidFill>
                        <a:latin typeface="Cambria Math"/>
                      </a:rPr>
                      <m:t>)ᵀ</m:t>
                    </m:r>
                  </m:oMath>
                </a14:m>
                <a:endParaRPr lang="it-IT" sz="3000" b="1">
                  <a:solidFill>
                    <a:srgbClr val="0B304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55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5334000"/>
                <a:ext cx="9791700" cy="508000"/>
              </a:xfrm>
              <a:prstGeom prst="rect">
                <a:avLst/>
              </a:prstGeom>
              <a:blipFill>
                <a:blip r:embed="rId5"/>
                <a:stretch>
                  <a:fillRect l="-2428" t="-18072" b="-43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/>
              <p:nvPr/>
            </p:nvSpPr>
            <p:spPr>
              <a:xfrm>
                <a:off x="1181100" y="6121400"/>
                <a:ext cx="9652000" cy="5842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3000" b="1">
                          <a:solidFill>
                            <a:srgbClr val="0B3048"/>
                          </a:solidFill>
                          <a:latin typeface="Cambria Math"/>
                        </a:rPr>
                        <m:t>𝑧</m:t>
                      </m:r>
                      <m:r>
                        <a:rPr lang="it-IT" sz="3000" b="1">
                          <a:solidFill>
                            <a:srgbClr val="0B3048"/>
                          </a:solidFill>
                          <a:latin typeface="Cambria Math"/>
                        </a:rPr>
                        <m:t>ₐ = </m:t>
                      </m:r>
                      <m:r>
                        <a:rPr lang="it-IT" sz="3000" b="1">
                          <a:solidFill>
                            <a:srgbClr val="0B3048"/>
                          </a:solidFill>
                          <a:latin typeface="Cambria Math"/>
                        </a:rPr>
                        <m:t>𝑓</m:t>
                      </m:r>
                      <m:r>
                        <a:rPr lang="it-IT" sz="3000" b="1">
                          <a:solidFill>
                            <a:srgbClr val="0B3048"/>
                          </a:solidFill>
                          <a:latin typeface="Cambria Math"/>
                        </a:rPr>
                        <m:t>ᴮ / ‖</m:t>
                      </m:r>
                      <m:r>
                        <a:rPr lang="it-IT" sz="3000" b="1">
                          <a:solidFill>
                            <a:srgbClr val="0B3048"/>
                          </a:solidFill>
                          <a:latin typeface="Cambria Math"/>
                        </a:rPr>
                        <m:t>𝑓</m:t>
                      </m:r>
                      <m:r>
                        <a:rPr lang="it-IT" sz="3000" b="1">
                          <a:solidFill>
                            <a:srgbClr val="0B3048"/>
                          </a:solidFill>
                          <a:latin typeface="Cambria Math"/>
                        </a:rPr>
                        <m:t>ᴮ‖</m:t>
                      </m:r>
                    </m:oMath>
                  </m:oMathPara>
                </a14:m>
                <a:endParaRPr sz="3000"/>
              </a:p>
            </p:txBody>
          </p:sp>
        </mc:Choice>
        <mc:Fallback xmlns="">
          <p:sp>
            <p:nvSpPr>
              <p:cNvPr id="156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6121400"/>
                <a:ext cx="9652000" cy="584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/>
              <p:nvPr/>
            </p:nvSpPr>
            <p:spPr>
              <a:xfrm>
                <a:off x="1181100" y="6896100"/>
                <a:ext cx="98425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3000" b="1">
                          <a:solidFill>
                            <a:srgbClr val="FF5A00"/>
                          </a:solidFill>
                          <a:latin typeface="Cambria Math"/>
                        </a:rPr>
                        <m:t>ℎ</m:t>
                      </m:r>
                      <m:r>
                        <a:rPr lang="it-IT" sz="3000" b="1">
                          <a:solidFill>
                            <a:srgbClr val="FF5A00"/>
                          </a:solidFill>
                          <a:latin typeface="Cambria Math"/>
                        </a:rPr>
                        <m:t>ₐ(</m:t>
                      </m:r>
                      <m:r>
                        <a:rPr lang="it-IT" sz="3000" b="1">
                          <a:solidFill>
                            <a:srgbClr val="FF5A00"/>
                          </a:solidFill>
                          <a:latin typeface="Cambria Math"/>
                        </a:rPr>
                        <m:t>𝑞</m:t>
                      </m:r>
                      <m:r>
                        <a:rPr lang="it-IT" sz="3000" b="1">
                          <a:solidFill>
                            <a:srgbClr val="FF5A00"/>
                          </a:solidFill>
                          <a:latin typeface="Cambria Math"/>
                        </a:rPr>
                        <m:t>̂) = </m:t>
                      </m:r>
                      <m:r>
                        <a:rPr lang="it-IT" sz="3000" b="1">
                          <a:solidFill>
                            <a:srgbClr val="FF5A00"/>
                          </a:solidFill>
                          <a:latin typeface="Cambria Math"/>
                        </a:rPr>
                        <m:t>𝑅</m:t>
                      </m:r>
                      <m:r>
                        <a:rPr lang="it-IT" sz="3000" b="1">
                          <a:solidFill>
                            <a:srgbClr val="FF5A00"/>
                          </a:solidFill>
                          <a:latin typeface="Cambria Math"/>
                        </a:rPr>
                        <m:t>(</m:t>
                      </m:r>
                      <m:r>
                        <a:rPr lang="it-IT" sz="3000" b="1">
                          <a:solidFill>
                            <a:srgbClr val="FF5A00"/>
                          </a:solidFill>
                          <a:latin typeface="Cambria Math"/>
                        </a:rPr>
                        <m:t>𝑞</m:t>
                      </m:r>
                      <m:r>
                        <a:rPr lang="it-IT" sz="3000" b="1">
                          <a:solidFill>
                            <a:srgbClr val="FF5A00"/>
                          </a:solidFill>
                          <a:latin typeface="Cambria Math"/>
                        </a:rPr>
                        <m:t>̂)ᵀ [ 0, 0, −1 ]ᵀ</m:t>
                      </m:r>
                    </m:oMath>
                  </m:oMathPara>
                </a14:m>
                <a:endParaRPr sz="3000"/>
              </a:p>
            </p:txBody>
          </p:sp>
        </mc:Choice>
        <mc:Fallback xmlns="">
          <p:sp>
            <p:nvSpPr>
              <p:cNvPr id="157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6896100"/>
                <a:ext cx="9842500" cy="609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/>
              <p:nvPr/>
            </p:nvSpPr>
            <p:spPr>
              <a:xfrm>
                <a:off x="1181100" y="7632700"/>
                <a:ext cx="9842500" cy="5461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3000" b="1" smtClean="0">
                          <a:solidFill>
                            <a:srgbClr val="0B3048"/>
                          </a:solidFill>
                          <a:latin typeface="Cambria Math"/>
                        </a:rPr>
                        <m:t>𝜈</m:t>
                      </m:r>
                      <m:r>
                        <a:rPr lang="it-IT" sz="3000" b="1" smtClean="0">
                          <a:solidFill>
                            <a:srgbClr val="0B3048"/>
                          </a:solidFill>
                          <a:latin typeface="Cambria Math"/>
                        </a:rPr>
                        <m:t>ₐ = </m:t>
                      </m:r>
                      <m:r>
                        <a:rPr lang="it-IT" sz="3000" b="1" smtClean="0">
                          <a:solidFill>
                            <a:srgbClr val="0B3048"/>
                          </a:solidFill>
                          <a:latin typeface="Cambria Math"/>
                        </a:rPr>
                        <m:t>𝑧</m:t>
                      </m:r>
                      <m:r>
                        <a:rPr lang="it-IT" sz="3000" b="1" smtClean="0">
                          <a:solidFill>
                            <a:srgbClr val="0B3048"/>
                          </a:solidFill>
                          <a:latin typeface="Cambria Math"/>
                        </a:rPr>
                        <m:t>ₐ − </m:t>
                      </m:r>
                      <m:r>
                        <a:rPr lang="it-IT" sz="3000" b="1" smtClean="0">
                          <a:solidFill>
                            <a:srgbClr val="0B3048"/>
                          </a:solidFill>
                          <a:latin typeface="Cambria Math"/>
                        </a:rPr>
                        <m:t>ℎ</m:t>
                      </m:r>
                      <m:r>
                        <a:rPr lang="it-IT" sz="3000" b="1" smtClean="0">
                          <a:solidFill>
                            <a:srgbClr val="0B3048"/>
                          </a:solidFill>
                          <a:latin typeface="Cambria Math"/>
                        </a:rPr>
                        <m:t>ₐ(</m:t>
                      </m:r>
                      <m:r>
                        <a:rPr lang="it-IT" sz="3000" b="1" smtClean="0">
                          <a:solidFill>
                            <a:srgbClr val="0B3048"/>
                          </a:solidFill>
                          <a:latin typeface="Cambria Math"/>
                        </a:rPr>
                        <m:t>𝑞</m:t>
                      </m:r>
                      <m:r>
                        <a:rPr lang="it-IT" sz="3000" b="1" smtClean="0">
                          <a:solidFill>
                            <a:srgbClr val="0B3048"/>
                          </a:solidFill>
                          <a:latin typeface="Cambria Math"/>
                        </a:rPr>
                        <m:t>̂)      </m:t>
                      </m:r>
                      <m:r>
                        <a:rPr lang="it-IT" sz="3000" b="1" smtClean="0">
                          <a:solidFill>
                            <a:srgbClr val="0B3048"/>
                          </a:solidFill>
                          <a:latin typeface="Cambria Math"/>
                        </a:rPr>
                        <m:t>𝐻</m:t>
                      </m:r>
                      <m:r>
                        <a:rPr lang="it-IT" sz="3000" b="1" smtClean="0">
                          <a:solidFill>
                            <a:srgbClr val="0B3048"/>
                          </a:solidFill>
                          <a:latin typeface="Cambria Math"/>
                        </a:rPr>
                        <m:t>ₐ = [ </m:t>
                      </m:r>
                      <m:sSub>
                        <m:sSubPr>
                          <m:ctrlPr>
                            <a:rPr lang="it-IT" sz="3000" b="1" i="1" smtClean="0">
                              <a:solidFill>
                                <a:srgbClr val="0B3048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sz="3000" b="1" smtClean="0">
                                  <a:solidFill>
                                    <a:srgbClr val="0B3048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it-IT" sz="3000" b="1" smtClean="0">
                                  <a:solidFill>
                                    <a:srgbClr val="0B3048"/>
                                  </a:solidFill>
                                  <a:latin typeface="Cambria Math"/>
                                </a:rPr>
                                <m:t>ℎ</m:t>
                              </m:r>
                              <m:r>
                                <a:rPr lang="it-IT" sz="3000" b="1" smtClean="0">
                                  <a:solidFill>
                                    <a:srgbClr val="0B3048"/>
                                  </a:solidFill>
                                  <a:latin typeface="Cambria Math"/>
                                </a:rPr>
                                <m:t>ₐ</m:t>
                              </m:r>
                            </m:e>
                          </m:d>
                        </m:e>
                        <m:sub>
                          <m:r>
                            <a:rPr lang="it-IT" sz="3000" b="1" i="0" smtClean="0">
                              <a:solidFill>
                                <a:srgbClr val="0B3048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b>
                      </m:sSub>
                      <m:r>
                        <a:rPr lang="it-IT" sz="3000" b="1">
                          <a:solidFill>
                            <a:srgbClr val="0B3048"/>
                          </a:solidFill>
                          <a:latin typeface="Cambria Math"/>
                        </a:rPr>
                        <m:t>    </m:t>
                      </m:r>
                      <m:sSub>
                        <m:sSubPr>
                          <m:ctrlPr>
                            <a:rPr lang="it-IT" sz="3000" b="1">
                              <a:solidFill>
                                <a:srgbClr val="0B3048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3000" b="1">
                              <a:solidFill>
                                <a:srgbClr val="0B3048"/>
                              </a:solidFill>
                              <a:latin typeface="Cambria Math"/>
                            </a:rPr>
                            <m:t>0</m:t>
                          </m:r>
                        </m:e>
                        <m:sub>
                          <m:r>
                            <a:rPr lang="it-IT" sz="3000" b="1" i="0" smtClean="0">
                              <a:solidFill>
                                <a:srgbClr val="0B3048"/>
                              </a:solidFill>
                              <a:latin typeface="Cambria Math" panose="02040503050406030204" pitchFamily="18" charset="0"/>
                            </a:rPr>
                            <m:t>𝟑𝐱𝟑</m:t>
                          </m:r>
                        </m:sub>
                      </m:sSub>
                      <m:r>
                        <a:rPr lang="it-IT" sz="3000" b="1">
                          <a:solidFill>
                            <a:srgbClr val="0B3048"/>
                          </a:solidFill>
                          <a:latin typeface="Cambria Math"/>
                        </a:rPr>
                        <m:t> ]</m:t>
                      </m:r>
                    </m:oMath>
                  </m:oMathPara>
                </a14:m>
                <a:endParaRPr sz="3000"/>
              </a:p>
            </p:txBody>
          </p:sp>
        </mc:Choice>
        <mc:Fallback xmlns="">
          <p:sp>
            <p:nvSpPr>
              <p:cNvPr id="158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7632700"/>
                <a:ext cx="9842500" cy="546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59572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B037F-38A0-90C4-6BAF-DEDAFFB7F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2">
            <a:extLst>
              <a:ext uri="{FF2B5EF4-FFF2-40B4-BE49-F238E27FC236}">
                <a16:creationId xmlns:a16="http://schemas.microsoft.com/office/drawing/2014/main" id="{8792223F-E1EF-CECF-589B-B74FFA9963A1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F93D97EC-8C67-8895-DFAC-1AE3F01957A2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12A84E9-B267-7122-779D-43D05C940E25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A59C0E-0A7F-6AED-5AA7-525998D4904D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FB7E1D-6063-40B5-140E-BA57A2F21A47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4000" b="1">
                <a:solidFill>
                  <a:srgbClr val="FF5A00"/>
                </a:solidFill>
                <a:latin typeface="Aptos"/>
              </a:rPr>
              <a:t>MAGNETOMETER: MAKING YAW OBSERVABLE</a:t>
            </a:r>
            <a:endParaRPr lang="it-IT" sz="6600" b="1">
              <a:solidFill>
                <a:srgbClr val="FF5A00"/>
              </a:solidFill>
              <a:latin typeface="Aptos"/>
            </a:endParaRPr>
          </a:p>
        </p:txBody>
      </p:sp>
      <p:sp>
        <p:nvSpPr>
          <p:cNvPr id="150" name="Rectangle 29">
            <a:extLst>
              <a:ext uri="{FF2B5EF4-FFF2-40B4-BE49-F238E27FC236}">
                <a16:creationId xmlns:a16="http://schemas.microsoft.com/office/drawing/2014/main" id="{54AAB4D6-2E34-A798-9D67-1F453AA81331}"/>
              </a:ext>
            </a:extLst>
          </p:cNvPr>
          <p:cNvSpPr/>
          <p:nvPr/>
        </p:nvSpPr>
        <p:spPr>
          <a:xfrm>
            <a:off x="889000" y="3556000"/>
            <a:ext cx="16484600" cy="1231900"/>
          </a:xfrm>
          <a:prstGeom prst="rect">
            <a:avLst/>
          </a:prstGeom>
          <a:solidFill>
            <a:srgbClr val="153F5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1" name="Rectangle 22">
            <a:extLst>
              <a:ext uri="{FF2B5EF4-FFF2-40B4-BE49-F238E27FC236}">
                <a16:creationId xmlns:a16="http://schemas.microsoft.com/office/drawing/2014/main" id="{0587FFBF-8624-26E3-3874-D35B88FEAB42}"/>
              </a:ext>
            </a:extLst>
          </p:cNvPr>
          <p:cNvSpPr/>
          <p:nvPr/>
        </p:nvSpPr>
        <p:spPr>
          <a:xfrm>
            <a:off x="889000" y="3556000"/>
            <a:ext cx="16484600" cy="1016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23">
                <a:extLst>
                  <a:ext uri="{FF2B5EF4-FFF2-40B4-BE49-F238E27FC236}">
                    <a16:creationId xmlns:a16="http://schemas.microsoft.com/office/drawing/2014/main" id="{3B94DC28-2993-380F-7DE6-EF768BADF3C0}"/>
                  </a:ext>
                </a:extLst>
              </p:cNvPr>
              <p:cNvSpPr txBox="1"/>
              <p:nvPr/>
            </p:nvSpPr>
            <p:spPr>
              <a:xfrm>
                <a:off x="1181100" y="3848100"/>
                <a:ext cx="15113000" cy="6985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r>
                  <a:rPr lang="it-IT" sz="3490" b="1">
                    <a:solidFill>
                      <a:srgbClr val="FFFFFF"/>
                    </a:solidFill>
                    <a:latin typeface="Aptos"/>
                  </a:rPr>
                  <a:t>PHYSICS    </a:t>
                </a:r>
                <a14:m>
                  <m:oMath xmlns:m="http://schemas.openxmlformats.org/officeDocument/2006/math"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𝒛</m:t>
                    </m:r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ₘᴮ = </m:t>
                    </m:r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𝑹</m:t>
                    </m:r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𝒒</m:t>
                    </m:r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)ᵀ </m:t>
                    </m:r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𝒎</m:t>
                    </m:r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ᴺ + </m:t>
                    </m:r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𝒃</m:t>
                    </m:r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ₘ + </m:t>
                    </m:r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𝒏</m:t>
                    </m:r>
                    <m:r>
                      <a:rPr lang="it-IT" sz="3490" b="1" i="1">
                        <a:solidFill>
                          <a:srgbClr val="FFFFFF"/>
                        </a:solidFill>
                        <a:latin typeface="Cambria Math"/>
                      </a:rPr>
                      <m:t>ₘ</m:t>
                    </m:r>
                  </m:oMath>
                </a14:m>
                <a:endParaRPr lang="it-IT" sz="3490" b="1">
                  <a:solidFill>
                    <a:srgbClr val="FFFFFF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52" name="TextBox 23">
                <a:extLst>
                  <a:ext uri="{FF2B5EF4-FFF2-40B4-BE49-F238E27FC236}">
                    <a16:creationId xmlns:a16="http://schemas.microsoft.com/office/drawing/2014/main" id="{3B94DC28-2993-380F-7DE6-EF768BADF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848100"/>
                <a:ext cx="15113000" cy="698500"/>
              </a:xfrm>
              <a:prstGeom prst="rect">
                <a:avLst/>
              </a:prstGeom>
              <a:blipFill>
                <a:blip r:embed="rId4"/>
                <a:stretch>
                  <a:fillRect l="-1815" t="-7826" b="-2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21">
            <a:extLst>
              <a:ext uri="{FF2B5EF4-FFF2-40B4-BE49-F238E27FC236}">
                <a16:creationId xmlns:a16="http://schemas.microsoft.com/office/drawing/2014/main" id="{648BD936-821F-F9C4-7320-40E37AA204FE}"/>
              </a:ext>
            </a:extLst>
          </p:cNvPr>
          <p:cNvSpPr/>
          <p:nvPr/>
        </p:nvSpPr>
        <p:spPr>
          <a:xfrm>
            <a:off x="889000" y="5092700"/>
            <a:ext cx="16484600" cy="3098800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4" name="Rectangle 22">
            <a:extLst>
              <a:ext uri="{FF2B5EF4-FFF2-40B4-BE49-F238E27FC236}">
                <a16:creationId xmlns:a16="http://schemas.microsoft.com/office/drawing/2014/main" id="{15AA7D2A-F22D-9A56-A2A4-624A51E53730}"/>
              </a:ext>
            </a:extLst>
          </p:cNvPr>
          <p:cNvSpPr/>
          <p:nvPr/>
        </p:nvSpPr>
        <p:spPr>
          <a:xfrm>
            <a:off x="889000" y="5092700"/>
            <a:ext cx="16484600" cy="101600"/>
          </a:xfrm>
          <a:prstGeom prst="rect">
            <a:avLst/>
          </a:prstGeom>
          <a:solidFill>
            <a:srgbClr val="17C1C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23">
                <a:extLst>
                  <a:ext uri="{FF2B5EF4-FFF2-40B4-BE49-F238E27FC236}">
                    <a16:creationId xmlns:a16="http://schemas.microsoft.com/office/drawing/2014/main" id="{1EA0750E-9E82-2D73-A8B1-FB6B562022CF}"/>
                  </a:ext>
                </a:extLst>
              </p:cNvPr>
              <p:cNvSpPr txBox="1"/>
              <p:nvPr/>
            </p:nvSpPr>
            <p:spPr>
              <a:xfrm>
                <a:off x="1181100" y="5676900"/>
                <a:ext cx="98425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4000" b="0" i="1" smtClean="0">
                          <a:solidFill>
                            <a:srgbClr val="FF5A00"/>
                          </a:solidFill>
                          <a:latin typeface="Cambria Math"/>
                        </a:rPr>
                        <m:t>ℎ</m:t>
                      </m:r>
                      <m:r>
                        <a:rPr lang="it-IT" sz="4000" b="0" i="1" smtClean="0">
                          <a:solidFill>
                            <a:srgbClr val="FF5A00"/>
                          </a:solidFill>
                          <a:latin typeface="Cambria Math"/>
                        </a:rPr>
                        <m:t>ₘ(</m:t>
                      </m:r>
                      <m:r>
                        <a:rPr lang="it-IT" sz="4000" b="0" i="1" smtClean="0">
                          <a:solidFill>
                            <a:srgbClr val="FF5A00"/>
                          </a:solidFill>
                          <a:latin typeface="Cambria Math"/>
                        </a:rPr>
                        <m:t>𝑞</m:t>
                      </m:r>
                      <m:r>
                        <a:rPr lang="it-IT" sz="4000" b="0" i="1" smtClean="0">
                          <a:solidFill>
                            <a:srgbClr val="FF5A00"/>
                          </a:solidFill>
                          <a:latin typeface="Cambria Math"/>
                        </a:rPr>
                        <m:t>̂) = </m:t>
                      </m:r>
                      <m:r>
                        <a:rPr lang="it-IT" sz="4000" b="0" i="1" smtClean="0">
                          <a:solidFill>
                            <a:srgbClr val="FF5A00"/>
                          </a:solidFill>
                          <a:latin typeface="Cambria Math"/>
                        </a:rPr>
                        <m:t>𝑅</m:t>
                      </m:r>
                      <m:d>
                        <m:dPr>
                          <m:ctrlPr>
                            <a:rPr lang="it-IT" sz="4000" b="0" i="1" smtClean="0">
                              <a:solidFill>
                                <a:srgbClr val="FF5A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it-IT" sz="4000" b="0" i="1" smtClean="0">
                                  <a:solidFill>
                                    <a:srgbClr val="FF5A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it-IT" sz="4000" b="0" i="1" smtClean="0">
                                  <a:solidFill>
                                    <a:srgbClr val="FF5A00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it-IT" sz="4000" b="0" i="1" smtClean="0">
                          <a:solidFill>
                            <a:srgbClr val="FF5A00"/>
                          </a:solidFill>
                          <a:latin typeface="Cambria Math"/>
                        </a:rPr>
                        <m:t>ᵀ </m:t>
                      </m:r>
                      <m:sSub>
                        <m:sSubPr>
                          <m:ctrlPr>
                            <a:rPr lang="it-IT" sz="4000" b="0" i="1">
                              <a:solidFill>
                                <a:srgbClr val="FF5A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4000" b="0" i="1">
                                  <a:solidFill>
                                    <a:srgbClr val="FF5A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it-IT" sz="4000" b="0" i="1">
                                  <a:solidFill>
                                    <a:srgbClr val="FF5A0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lang="it-IT" sz="4000" b="0" i="1">
                              <a:solidFill>
                                <a:srgbClr val="FF5A00"/>
                              </a:solidFill>
                              <a:latin typeface="Cambria Math"/>
                            </a:rPr>
                            <m:t>𝑟𝑒𝑓</m:t>
                          </m:r>
                        </m:sub>
                      </m:sSub>
                      <m:r>
                        <a:rPr lang="it-IT" sz="4000" b="0" i="1">
                          <a:solidFill>
                            <a:srgbClr val="FF5A00"/>
                          </a:solidFill>
                          <a:latin typeface="Cambria Math"/>
                        </a:rPr>
                        <m:t>ᴺ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7" name="TextBox 23">
                <a:extLst>
                  <a:ext uri="{FF2B5EF4-FFF2-40B4-BE49-F238E27FC236}">
                    <a16:creationId xmlns:a16="http://schemas.microsoft.com/office/drawing/2014/main" id="{1EA0750E-9E82-2D73-A8B1-FB6B56202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5676900"/>
                <a:ext cx="9842500" cy="609600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23">
                <a:extLst>
                  <a:ext uri="{FF2B5EF4-FFF2-40B4-BE49-F238E27FC236}">
                    <a16:creationId xmlns:a16="http://schemas.microsoft.com/office/drawing/2014/main" id="{69A99F9C-F1A6-4C8E-43C9-71A1D23B87A9}"/>
                  </a:ext>
                </a:extLst>
              </p:cNvPr>
              <p:cNvSpPr txBox="1"/>
              <p:nvPr/>
            </p:nvSpPr>
            <p:spPr>
              <a:xfrm>
                <a:off x="914400" y="6475319"/>
                <a:ext cx="9842500" cy="1951131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4000" b="0" i="1" smtClean="0">
                          <a:solidFill>
                            <a:srgbClr val="0B3048"/>
                          </a:solidFill>
                          <a:latin typeface="Cambria Math"/>
                        </a:rPr>
                        <m:t>𝜈</m:t>
                      </m:r>
                      <m:r>
                        <a:rPr lang="it-IT" sz="4000" b="0" i="1" smtClean="0">
                          <a:solidFill>
                            <a:srgbClr val="0B3048"/>
                          </a:solidFill>
                          <a:latin typeface="Cambria Math"/>
                        </a:rPr>
                        <m:t>ₘ = </m:t>
                      </m:r>
                      <m:r>
                        <a:rPr lang="it-IT" sz="4000" b="0" i="1" smtClean="0">
                          <a:solidFill>
                            <a:srgbClr val="0B3048"/>
                          </a:solidFill>
                          <a:latin typeface="Cambria Math"/>
                        </a:rPr>
                        <m:t>𝑧</m:t>
                      </m:r>
                      <m:r>
                        <a:rPr lang="it-IT" sz="4000" b="0" i="1" smtClean="0">
                          <a:solidFill>
                            <a:srgbClr val="0B3048"/>
                          </a:solidFill>
                          <a:latin typeface="Cambria Math"/>
                        </a:rPr>
                        <m:t>ₘ − </m:t>
                      </m:r>
                      <m:r>
                        <a:rPr lang="it-IT" sz="4000" b="0" i="1" smtClean="0">
                          <a:solidFill>
                            <a:srgbClr val="0B3048"/>
                          </a:solidFill>
                          <a:latin typeface="Cambria Math"/>
                        </a:rPr>
                        <m:t>ℎ</m:t>
                      </m:r>
                      <m:r>
                        <a:rPr lang="it-IT" sz="4000" b="0" i="1" smtClean="0">
                          <a:solidFill>
                            <a:srgbClr val="0B3048"/>
                          </a:solidFill>
                          <a:latin typeface="Cambria Math"/>
                        </a:rPr>
                        <m:t>ₘ</m:t>
                      </m:r>
                      <m:d>
                        <m:dPr>
                          <m:ctrlPr>
                            <a:rPr lang="it-IT" sz="4000" b="0" i="1">
                              <a:solidFill>
                                <a:srgbClr val="0B3048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it-IT" sz="4000" b="0" i="1">
                                  <a:solidFill>
                                    <a:srgbClr val="0B3048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it-IT" sz="4000" b="0" i="1">
                                  <a:solidFill>
                                    <a:srgbClr val="0B3048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it-IT" sz="4000" b="1">
                  <a:solidFill>
                    <a:srgbClr val="0B3048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it-IT" sz="4000" b="1">
                          <a:solidFill>
                            <a:srgbClr val="0B3048"/>
                          </a:solidFill>
                          <a:latin typeface="Cambria Math"/>
                        </a:rPr>
                        <m:t>𝐻</m:t>
                      </m:r>
                      <m:r>
                        <a:rPr lang="it-IT" sz="4000" b="1">
                          <a:solidFill>
                            <a:srgbClr val="0B3048"/>
                          </a:solidFill>
                          <a:latin typeface="Cambria Math"/>
                        </a:rPr>
                        <m:t>ₘ = [ </m:t>
                      </m:r>
                      <m:sSub>
                        <m:sSubPr>
                          <m:ctrlPr>
                            <a:rPr lang="it-IT" sz="4000" b="1" i="1">
                              <a:solidFill>
                                <a:srgbClr val="0B3048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sz="4000" b="1">
                                  <a:solidFill>
                                    <a:srgbClr val="0B3048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it-IT" sz="4000" b="1">
                                  <a:solidFill>
                                    <a:srgbClr val="0B3048"/>
                                  </a:solidFill>
                                  <a:latin typeface="Cambria Math"/>
                                </a:rPr>
                                <m:t>ℎ</m:t>
                              </m:r>
                              <m:r>
                                <a:rPr lang="it-IT" sz="4000" b="1">
                                  <a:solidFill>
                                    <a:srgbClr val="0B3048"/>
                                  </a:solidFill>
                                  <a:latin typeface="Cambria Math"/>
                                </a:rPr>
                                <m:t>ₘ</m:t>
                              </m:r>
                            </m:e>
                          </m:d>
                        </m:e>
                        <m:sub>
                          <m:r>
                            <a:rPr lang="it-IT" sz="4000" b="1" i="0" smtClean="0">
                              <a:solidFill>
                                <a:srgbClr val="0B3048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b>
                      </m:sSub>
                      <m:r>
                        <a:rPr lang="it-IT" sz="4000" b="1">
                          <a:solidFill>
                            <a:srgbClr val="0B3048"/>
                          </a:solidFill>
                          <a:latin typeface="Cambria Math"/>
                        </a:rPr>
                        <m:t>   </m:t>
                      </m:r>
                      <m:sSub>
                        <m:sSubPr>
                          <m:ctrlPr>
                            <a:rPr lang="it-IT" sz="4000" b="1">
                              <a:solidFill>
                                <a:srgbClr val="0B3048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it-IT" sz="4000" b="1">
                              <a:solidFill>
                                <a:srgbClr val="0B3048"/>
                              </a:solidFill>
                              <a:latin typeface="Cambria Math"/>
                            </a:rPr>
                            <m:t>0</m:t>
                          </m:r>
                        </m:e>
                        <m:sub>
                          <m:r>
                            <a:rPr lang="it-IT" sz="4000" b="1" i="0" smtClean="0">
                              <a:solidFill>
                                <a:srgbClr val="0B3048"/>
                              </a:solidFill>
                              <a:latin typeface="Cambria Math" panose="02040503050406030204" pitchFamily="18" charset="0"/>
                            </a:rPr>
                            <m:t>𝟑𝐱𝟑</m:t>
                          </m:r>
                        </m:sub>
                      </m:sSub>
                      <m:r>
                        <a:rPr lang="it-IT" sz="4000" b="1">
                          <a:solidFill>
                            <a:srgbClr val="0B3048"/>
                          </a:solidFill>
                          <a:latin typeface="Cambria Math"/>
                        </a:rPr>
                        <m:t> ]</m:t>
                      </m:r>
                    </m:oMath>
                  </m:oMathPara>
                </a14:m>
                <a:endParaRPr lang="it-IT" sz="4000"/>
              </a:p>
              <a:p>
                <a:pPr algn="l"/>
                <a:endParaRPr sz="4000"/>
              </a:p>
            </p:txBody>
          </p:sp>
        </mc:Choice>
        <mc:Fallback xmlns="">
          <p:sp>
            <p:nvSpPr>
              <p:cNvPr id="158" name="TextBox 23">
                <a:extLst>
                  <a:ext uri="{FF2B5EF4-FFF2-40B4-BE49-F238E27FC236}">
                    <a16:creationId xmlns:a16="http://schemas.microsoft.com/office/drawing/2014/main" id="{69A99F9C-F1A6-4C8E-43C9-71A1D23B8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6475319"/>
                <a:ext cx="9842500" cy="19511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2896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1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A72F9AE-D51E-45C4-9C23-3B7DD836CBC4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649F98-9F4E-4E6F-B9DD-27FD00CAF605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Estimation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EA6922-8AB6-47AB-846F-C484DCFD5015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4250" b="1">
                <a:solidFill>
                  <a:srgbClr val="FF5A00"/>
                </a:solidFill>
                <a:latin typeface="Aptos"/>
              </a:rPr>
              <a:t>UNCERTAINTY PRODUCES THE KALMAN CORRECTION</a:t>
            </a:r>
            <a:endParaRPr lang="it-IT" sz="6924" b="1">
              <a:solidFill>
                <a:srgbClr val="FF5A00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0" name="Attitude lab covariance assumptions"/>
              <p:cNvGraphicFramePr/>
              <p:nvPr>
                <p:extLst>
                  <p:ext uri="{D42A27DB-BD31-4B8C-83A1-F6EECF244321}">
                    <p14:modId xmlns:p14="http://schemas.microsoft.com/office/powerpoint/2010/main" val="252388723"/>
                  </p:ext>
                </p:extLst>
              </p:nvPr>
            </p:nvGraphicFramePr>
            <p:xfrm>
              <a:off x="889000" y="5041900"/>
              <a:ext cx="16484600" cy="3289300"/>
            </p:xfrm>
            <a:graphic>
              <a:graphicData uri="http://schemas.openxmlformats.org/drawingml/2006/table">
                <a:tbl>
                  <a:tblPr firstRow="1"/>
                  <a:tblGrid>
                    <a:gridCol w="32385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1247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121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9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MATRIX</a:t>
                          </a:r>
                        </a:p>
                      </a:txBody>
                      <a:tcPr marL="177800" marR="101600" marT="25400" marB="25400">
                        <a:solidFill>
                          <a:srgbClr val="10395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CURRENT ASSUMPTION</a:t>
                          </a:r>
                        </a:p>
                      </a:txBody>
                      <a:tcPr marL="177800" marR="101600" marT="25400" marB="25400">
                        <a:solidFill>
                          <a:srgbClr val="10395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1">
                              <a:solidFill>
                                <a:srgbClr val="FFFFFF"/>
                              </a:solidFill>
                              <a:latin typeface="Consolas"/>
                            </a:rPr>
                            <a:t>ROLE</a:t>
                          </a:r>
                        </a:p>
                      </a:txBody>
                      <a:tcPr marL="177800" marR="101600" marT="25400" marB="25400">
                        <a:solidFill>
                          <a:srgbClr val="10395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990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500" b="1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𝑃</m:t>
                                </m:r>
                                <m:r>
                                  <a:rPr lang="en-US" sz="2500" b="1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₀,</m:t>
                                </m:r>
                                <m:r>
                                  <a:rPr lang="en-US" sz="1800" b="1" smtClean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0.15² 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₃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0">
                              <a:solidFill>
                                <a:srgbClr val="0B3048"/>
                              </a:solidFill>
                              <a:latin typeface="Consolas"/>
                            </a:rPr>
                            <a:t>initial rotation error</a:t>
                          </a:r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990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500" b="1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𝑃</m:t>
                                </m:r>
                                <m:r>
                                  <a:rPr lang="en-US" sz="2500" b="1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₀,</m:t>
                                </m:r>
                                <m:r>
                                  <a:rPr lang="en-US" sz="2500" b="1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0.04² 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₃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0">
                              <a:solidFill>
                                <a:srgbClr val="0B3048"/>
                              </a:solidFill>
                              <a:latin typeface="Consolas"/>
                            </a:rPr>
                            <a:t>initial gyro-bias error</a:t>
                          </a:r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75662"/>
                      </a:ext>
                    </a:extLst>
                  </a:tr>
                  <a:tr h="46990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500" b="1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𝑄</m:t>
                                </m:r>
                                <m:r>
                                  <a:rPr lang="en-US" sz="2500" b="1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0.02² 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𝛥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₃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0">
                              <a:solidFill>
                                <a:srgbClr val="0B3048"/>
                              </a:solidFill>
                              <a:latin typeface="Consolas"/>
                            </a:rPr>
                            <a:t>process / rotation</a:t>
                          </a:r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6252652"/>
                      </a:ext>
                    </a:extLst>
                  </a:tr>
                  <a:tr h="46990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500" b="1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𝑄𝑏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0.002² 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𝛥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₃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0">
                              <a:solidFill>
                                <a:srgbClr val="0B3048"/>
                              </a:solidFill>
                              <a:latin typeface="Consolas"/>
                            </a:rPr>
                            <a:t>process / gyro bias</a:t>
                          </a:r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7194139"/>
                      </a:ext>
                    </a:extLst>
                  </a:tr>
                  <a:tr h="46990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500" b="1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  <m:r>
                                  <a:rPr lang="en-US" sz="2500" b="1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ₐ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0.07² 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₃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0">
                              <a:solidFill>
                                <a:srgbClr val="0B3048"/>
                              </a:solidFill>
                              <a:latin typeface="Consolas"/>
                            </a:rPr>
                            <a:t>normalized acceleration</a:t>
                          </a:r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9256986"/>
                      </a:ext>
                    </a:extLst>
                  </a:tr>
                  <a:tr h="46990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500" b="1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𝑅</m:t>
                                </m:r>
                                <m:r>
                                  <a:rPr lang="en-US" sz="2500" b="1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ₘ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0.08² 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US" sz="2500" b="0">
                                    <a:solidFill>
                                      <a:srgbClr val="0B3048"/>
                                    </a:solidFill>
                                    <a:latin typeface="Cambria Math"/>
                                  </a:rPr>
                                  <m:t>₃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0">
                              <a:solidFill>
                                <a:srgbClr val="0B3048"/>
                              </a:solidFill>
                              <a:latin typeface="Consolas"/>
                            </a:rPr>
                            <a:t>normalized magnetic field</a:t>
                          </a:r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372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0" name="Attitude lab covariance assumptions"/>
              <p:cNvGraphicFramePr/>
              <p:nvPr>
                <p:extLst>
                  <p:ext uri="{D42A27DB-BD31-4B8C-83A1-F6EECF244321}">
                    <p14:modId xmlns:p14="http://schemas.microsoft.com/office/powerpoint/2010/main" val="252388723"/>
                  </p:ext>
                </p:extLst>
              </p:nvPr>
            </p:nvGraphicFramePr>
            <p:xfrm>
              <a:off x="889000" y="5041900"/>
              <a:ext cx="16484600" cy="3289300"/>
            </p:xfrm>
            <a:graphic>
              <a:graphicData uri="http://schemas.openxmlformats.org/drawingml/2006/table">
                <a:tbl>
                  <a:tblPr firstRow="1"/>
                  <a:tblGrid>
                    <a:gridCol w="32385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1247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121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99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MATRIX</a:t>
                          </a:r>
                        </a:p>
                      </a:txBody>
                      <a:tcPr marL="177800" marR="101600" marT="25400" marB="25400">
                        <a:solidFill>
                          <a:srgbClr val="10395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CURRENT ASSUMPTION</a:t>
                          </a:r>
                        </a:p>
                      </a:txBody>
                      <a:tcPr marL="177800" marR="101600" marT="25400" marB="25400">
                        <a:solidFill>
                          <a:srgbClr val="10395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1">
                              <a:solidFill>
                                <a:srgbClr val="FFFFFF"/>
                              </a:solidFill>
                              <a:latin typeface="Consolas"/>
                            </a:rPr>
                            <a:t>ROLE</a:t>
                          </a:r>
                        </a:p>
                      </a:txBody>
                      <a:tcPr marL="177800" marR="101600" marT="25400" marB="25400">
                        <a:solidFill>
                          <a:srgbClr val="10395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9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0" marR="101600" marT="25400" marB="25400">
                        <a:blipFill>
                          <a:blip r:embed="rId4"/>
                          <a:stretch>
                            <a:fillRect l="-188" t="-115584" r="-409981" b="-5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0" marR="101600" marT="25400" marB="25400">
                        <a:blipFill>
                          <a:blip r:embed="rId4"/>
                          <a:stretch>
                            <a:fillRect l="-45470" t="-115584" r="-86068" b="-5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0">
                              <a:solidFill>
                                <a:srgbClr val="0B3048"/>
                              </a:solidFill>
                              <a:latin typeface="Consolas"/>
                            </a:rPr>
                            <a:t>initial rotation error</a:t>
                          </a:r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9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0" marR="101600" marT="25400" marB="25400">
                        <a:blipFill>
                          <a:blip r:embed="rId4"/>
                          <a:stretch>
                            <a:fillRect l="-188" t="-215584" r="-409981" b="-4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0" marR="101600" marT="25400" marB="25400">
                        <a:blipFill>
                          <a:blip r:embed="rId4"/>
                          <a:stretch>
                            <a:fillRect l="-45470" t="-215584" r="-86068" b="-4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0">
                              <a:solidFill>
                                <a:srgbClr val="0B3048"/>
                              </a:solidFill>
                              <a:latin typeface="Consolas"/>
                            </a:rPr>
                            <a:t>initial gyro-bias error</a:t>
                          </a:r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75662"/>
                      </a:ext>
                    </a:extLst>
                  </a:tr>
                  <a:tr h="469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0" marR="101600" marT="25400" marB="25400">
                        <a:blipFill>
                          <a:blip r:embed="rId4"/>
                          <a:stretch>
                            <a:fillRect l="-188" t="-311538" r="-409981" b="-3217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0" marR="101600" marT="25400" marB="25400">
                        <a:blipFill>
                          <a:blip r:embed="rId4"/>
                          <a:stretch>
                            <a:fillRect l="-45470" t="-311538" r="-86068" b="-3217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0">
                              <a:solidFill>
                                <a:srgbClr val="0B3048"/>
                              </a:solidFill>
                              <a:latin typeface="Consolas"/>
                            </a:rPr>
                            <a:t>process / rotation</a:t>
                          </a:r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6252652"/>
                      </a:ext>
                    </a:extLst>
                  </a:tr>
                  <a:tr h="469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0" marR="101600" marT="25400" marB="25400">
                        <a:blipFill>
                          <a:blip r:embed="rId4"/>
                          <a:stretch>
                            <a:fillRect l="-188" t="-416883" r="-409981" b="-2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0" marR="101600" marT="25400" marB="25400">
                        <a:blipFill>
                          <a:blip r:embed="rId4"/>
                          <a:stretch>
                            <a:fillRect l="-45470" t="-416883" r="-86068" b="-2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0">
                              <a:solidFill>
                                <a:srgbClr val="0B3048"/>
                              </a:solidFill>
                              <a:latin typeface="Consolas"/>
                            </a:rPr>
                            <a:t>process / gyro bias</a:t>
                          </a:r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7194139"/>
                      </a:ext>
                    </a:extLst>
                  </a:tr>
                  <a:tr h="469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0" marR="101600" marT="25400" marB="25400">
                        <a:blipFill>
                          <a:blip r:embed="rId4"/>
                          <a:stretch>
                            <a:fillRect l="-188" t="-516883" r="-409981" b="-1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0" marR="101600" marT="25400" marB="25400">
                        <a:blipFill>
                          <a:blip r:embed="rId4"/>
                          <a:stretch>
                            <a:fillRect l="-45470" t="-516883" r="-86068" b="-1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0">
                              <a:solidFill>
                                <a:srgbClr val="0B3048"/>
                              </a:solidFill>
                              <a:latin typeface="Consolas"/>
                            </a:rPr>
                            <a:t>normalized acceleration</a:t>
                          </a:r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9256986"/>
                      </a:ext>
                    </a:extLst>
                  </a:tr>
                  <a:tr h="4699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0" marR="101600" marT="25400" marB="25400">
                        <a:blipFill>
                          <a:blip r:embed="rId4"/>
                          <a:stretch>
                            <a:fillRect l="-188" t="-616883" r="-409981" b="-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7800" marR="101600" marT="25400" marB="25400">
                        <a:blipFill>
                          <a:blip r:embed="rId4"/>
                          <a:stretch>
                            <a:fillRect l="-45470" t="-616883" r="-86068" b="-25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500" b="0">
                              <a:solidFill>
                                <a:srgbClr val="0B3048"/>
                              </a:solidFill>
                              <a:latin typeface="Consolas"/>
                            </a:rPr>
                            <a:t>normalized magnetic field</a:t>
                          </a:r>
                        </a:p>
                      </a:txBody>
                      <a:tcPr marL="177800" marR="101600" marT="25400" marB="25400">
                        <a:solidFill>
                          <a:srgbClr val="F4F7F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372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0" name="Rectangle 29">
            <a:extLst>
              <a:ext uri="{FF2B5EF4-FFF2-40B4-BE49-F238E27FC236}">
                <a16:creationId xmlns:a16="http://schemas.microsoft.com/office/drawing/2014/main" id="{E3BE3A60-ED9A-4A13-B1D6-2AC1EB1FD40D}"/>
              </a:ext>
            </a:extLst>
          </p:cNvPr>
          <p:cNvSpPr/>
          <p:nvPr/>
        </p:nvSpPr>
        <p:spPr>
          <a:xfrm>
            <a:off x="889000" y="3327400"/>
            <a:ext cx="16484600" cy="1625600"/>
          </a:xfrm>
          <a:prstGeom prst="rect">
            <a:avLst/>
          </a:prstGeom>
          <a:solidFill>
            <a:srgbClr val="153F5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1" name="Rectangle 22">
            <a:extLst>
              <a:ext uri="{FF2B5EF4-FFF2-40B4-BE49-F238E27FC236}">
                <a16:creationId xmlns:a16="http://schemas.microsoft.com/office/drawing/2014/main" id="{4CAA28B5-32B9-4AED-AEF8-E459E5BB726F}"/>
              </a:ext>
            </a:extLst>
          </p:cNvPr>
          <p:cNvSpPr/>
          <p:nvPr/>
        </p:nvSpPr>
        <p:spPr>
          <a:xfrm>
            <a:off x="889000" y="3327400"/>
            <a:ext cx="16484600" cy="1016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2" name="TextBox 23">
            <a:extLst>
              <a:ext uri="{FF2B5EF4-FFF2-40B4-BE49-F238E27FC236}">
                <a16:creationId xmlns:a16="http://schemas.microsoft.com/office/drawing/2014/main" id="{7239974F-2E06-42E0-B698-165785252019}"/>
              </a:ext>
            </a:extLst>
          </p:cNvPr>
          <p:cNvSpPr txBox="1"/>
          <p:nvPr/>
        </p:nvSpPr>
        <p:spPr>
          <a:xfrm>
            <a:off x="1092200" y="3454400"/>
            <a:ext cx="3670300" cy="419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2500" b="1">
                <a:solidFill>
                  <a:srgbClr val="A6DF66"/>
                </a:solidFill>
                <a:latin typeface="Aptos"/>
              </a:rPr>
              <a:t>INNOVATION</a:t>
            </a:r>
          </a:p>
        </p:txBody>
      </p:sp>
      <p:sp>
        <p:nvSpPr>
          <p:cNvPr id="153" name="TextBox 23">
            <a:extLst>
              <a:ext uri="{FF2B5EF4-FFF2-40B4-BE49-F238E27FC236}">
                <a16:creationId xmlns:a16="http://schemas.microsoft.com/office/drawing/2014/main" id="{7239974F-2E06-42E0-B698-165785252019}"/>
              </a:ext>
            </a:extLst>
          </p:cNvPr>
          <p:cNvSpPr txBox="1"/>
          <p:nvPr/>
        </p:nvSpPr>
        <p:spPr>
          <a:xfrm>
            <a:off x="5054600" y="3454400"/>
            <a:ext cx="3568700" cy="419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2500" b="1">
                <a:solidFill>
                  <a:srgbClr val="A6DF66"/>
                </a:solidFill>
                <a:latin typeface="Aptos"/>
              </a:rPr>
              <a:t>UNCERTAINTY</a:t>
            </a:r>
          </a:p>
        </p:txBody>
      </p:sp>
      <p:sp>
        <p:nvSpPr>
          <p:cNvPr id="154" name="TextBox 23">
            <a:extLst>
              <a:ext uri="{FF2B5EF4-FFF2-40B4-BE49-F238E27FC236}">
                <a16:creationId xmlns:a16="http://schemas.microsoft.com/office/drawing/2014/main" id="{7239974F-2E06-42E0-B698-165785252019}"/>
              </a:ext>
            </a:extLst>
          </p:cNvPr>
          <p:cNvSpPr txBox="1"/>
          <p:nvPr/>
        </p:nvSpPr>
        <p:spPr>
          <a:xfrm>
            <a:off x="9486900" y="3454400"/>
            <a:ext cx="2743200" cy="419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2500" b="1">
                <a:solidFill>
                  <a:srgbClr val="A6DF66"/>
                </a:solidFill>
                <a:latin typeface="Aptos"/>
              </a:rPr>
              <a:t>GAIN</a:t>
            </a:r>
          </a:p>
        </p:txBody>
      </p:sp>
      <p:sp>
        <p:nvSpPr>
          <p:cNvPr id="155" name="TextBox 23">
            <a:extLst>
              <a:ext uri="{FF2B5EF4-FFF2-40B4-BE49-F238E27FC236}">
                <a16:creationId xmlns:a16="http://schemas.microsoft.com/office/drawing/2014/main" id="{7239974F-2E06-42E0-B698-165785252019}"/>
              </a:ext>
            </a:extLst>
          </p:cNvPr>
          <p:cNvSpPr txBox="1"/>
          <p:nvPr/>
        </p:nvSpPr>
        <p:spPr>
          <a:xfrm>
            <a:off x="13055600" y="3454400"/>
            <a:ext cx="3949700" cy="419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2500" b="1">
                <a:solidFill>
                  <a:srgbClr val="A6DF66"/>
                </a:solidFill>
                <a:latin typeface="Aptos"/>
              </a:rPr>
              <a:t>ERROR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/>
              <p:nvPr/>
            </p:nvSpPr>
            <p:spPr>
              <a:xfrm>
                <a:off x="1092200" y="3898900"/>
                <a:ext cx="37338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𝜈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 = 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𝑧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 − 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ℎ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(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𝑥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̂⁻)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6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3898900"/>
                <a:ext cx="3733800" cy="508000"/>
              </a:xfrm>
              <a:prstGeom prst="rect">
                <a:avLst/>
              </a:prstGeom>
              <a:blipFill>
                <a:blip r:embed="rId5"/>
                <a:stretch>
                  <a:fillRect b="-13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/>
              <p:nvPr/>
            </p:nvSpPr>
            <p:spPr>
              <a:xfrm>
                <a:off x="5054600" y="3898900"/>
                <a:ext cx="4064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𝑆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 = 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𝐻𝑃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⁻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𝐻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ᵀ + 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7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600" y="3898900"/>
                <a:ext cx="4064000" cy="508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/>
              <p:nvPr/>
            </p:nvSpPr>
            <p:spPr>
              <a:xfrm>
                <a:off x="9486900" y="3898900"/>
                <a:ext cx="33528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𝐾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 = 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𝑃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⁻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𝐻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ᵀ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𝑆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⁻¹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8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6900" y="3898900"/>
                <a:ext cx="3352800" cy="508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/>
              <p:nvPr/>
            </p:nvSpPr>
            <p:spPr>
              <a:xfrm>
                <a:off x="13055600" y="3898900"/>
                <a:ext cx="39243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𝛿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𝑥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̂ = 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𝐾</m:t>
                      </m:r>
                      <m:r>
                        <a:rPr lang="it-IT" sz="2500" b="1">
                          <a:solidFill>
                            <a:srgbClr val="FFFFFF"/>
                          </a:solidFill>
                          <a:latin typeface="Cambria Math"/>
                        </a:rPr>
                        <m:t>𝜈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9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5600" y="3898900"/>
                <a:ext cx="3924300" cy="508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/>
              <p:nvPr/>
            </p:nvSpPr>
            <p:spPr>
              <a:xfrm>
                <a:off x="1104900" y="4483100"/>
                <a:ext cx="15633700" cy="444500"/>
              </a:xfrm>
              <a:prstGeom prst="rect">
                <a:avLst/>
              </a:prstGeom>
              <a:noFill/>
            </p:spPr>
            <p:txBody>
              <a:bodyPr vertOverflow="overflow" vert="horz" wrap="square" lIns="0" tIns="0" rIns="0" bIns="0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𝑞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̂⁺ = 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𝑞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̂⁻ ⊗ 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𝛿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𝑞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(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𝛿𝜃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̂)       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𝑏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̂_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𝑔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⁺ = 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𝑏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̂_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𝑔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⁻ + 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𝛿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𝑏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̂_</m:t>
                      </m:r>
                      <m:r>
                        <a:rPr lang="it-IT" sz="2500" b="1">
                          <a:solidFill>
                            <a:srgbClr val="17C1CC"/>
                          </a:solidFill>
                          <a:latin typeface="Cambria Math"/>
                        </a:rPr>
                        <m:t>𝑔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0" name="TextBox 23">
                <a:extLst>
                  <a:ext uri="{FF2B5EF4-FFF2-40B4-BE49-F238E27FC236}">
                    <a16:creationId xmlns:a16="http://schemas.microsoft.com/office/drawing/2014/main" id="{7239974F-2E06-42E0-B698-165785252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4483100"/>
                <a:ext cx="15633700" cy="444500"/>
              </a:xfrm>
              <a:prstGeom prst="rect">
                <a:avLst/>
              </a:prstGeom>
              <a:blipFill>
                <a:blip r:embed="rId9"/>
                <a:stretch>
                  <a:fillRect b="-23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TextBox 23">
            <a:extLst>
              <a:ext uri="{FF2B5EF4-FFF2-40B4-BE49-F238E27FC236}">
                <a16:creationId xmlns:a16="http://schemas.microsoft.com/office/drawing/2014/main" id="{7239974F-2E06-42E0-B698-165785252019}"/>
              </a:ext>
            </a:extLst>
          </p:cNvPr>
          <p:cNvSpPr txBox="1"/>
          <p:nvPr/>
        </p:nvSpPr>
        <p:spPr>
          <a:xfrm>
            <a:off x="889000" y="9023350"/>
            <a:ext cx="16319500" cy="571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it-IT" sz="2500" b="1">
                <a:solidFill>
                  <a:srgbClr val="FF5A00"/>
                </a:solidFill>
                <a:latin typeface="Aptos"/>
              </a:rPr>
              <a:t>The Kalman gain </a:t>
            </a:r>
            <a:r>
              <a:rPr lang="it-IT" sz="2500" b="1" err="1">
                <a:solidFill>
                  <a:srgbClr val="FF5A00"/>
                </a:solidFill>
                <a:latin typeface="Aptos"/>
              </a:rPr>
              <a:t>is</a:t>
            </a:r>
            <a:r>
              <a:rPr lang="it-IT" sz="2500" b="1">
                <a:solidFill>
                  <a:srgbClr val="FF5A00"/>
                </a:solidFill>
                <a:latin typeface="Aptos"/>
              </a:rPr>
              <a:t> </a:t>
            </a:r>
            <a:r>
              <a:rPr lang="it-IT" sz="2500" b="1" err="1">
                <a:solidFill>
                  <a:srgbClr val="FF5A00"/>
                </a:solidFill>
                <a:latin typeface="Aptos"/>
              </a:rPr>
              <a:t>not</a:t>
            </a:r>
            <a:r>
              <a:rPr lang="it-IT" sz="2500" b="1">
                <a:solidFill>
                  <a:srgbClr val="FF5A00"/>
                </a:solidFill>
                <a:latin typeface="Aptos"/>
              </a:rPr>
              <a:t> </a:t>
            </a:r>
            <a:r>
              <a:rPr lang="it-IT" sz="2500" b="1" err="1">
                <a:solidFill>
                  <a:srgbClr val="FF5A00"/>
                </a:solidFill>
                <a:latin typeface="Aptos"/>
              </a:rPr>
              <a:t>manually</a:t>
            </a:r>
            <a:r>
              <a:rPr lang="it-IT" sz="2500" b="1">
                <a:solidFill>
                  <a:srgbClr val="FF5A00"/>
                </a:solidFill>
                <a:latin typeface="Aptos"/>
              </a:rPr>
              <a:t> </a:t>
            </a:r>
            <a:r>
              <a:rPr lang="it-IT" sz="2500" b="1" err="1">
                <a:solidFill>
                  <a:srgbClr val="FF5A00"/>
                </a:solidFill>
                <a:latin typeface="Aptos"/>
              </a:rPr>
              <a:t>tuned</a:t>
            </a:r>
            <a:r>
              <a:rPr lang="it-IT" sz="2500" b="1">
                <a:solidFill>
                  <a:srgbClr val="FF5A00"/>
                </a:solidFill>
                <a:latin typeface="Aptos"/>
              </a:rPr>
              <a:t>: </a:t>
            </a:r>
            <a:r>
              <a:rPr lang="it-IT" sz="2500" b="1" err="1">
                <a:solidFill>
                  <a:srgbClr val="FF5A00"/>
                </a:solidFill>
                <a:latin typeface="Aptos"/>
              </a:rPr>
              <a:t>it</a:t>
            </a:r>
            <a:r>
              <a:rPr lang="it-IT" sz="2500" b="1">
                <a:solidFill>
                  <a:srgbClr val="FF5A00"/>
                </a:solidFill>
                <a:latin typeface="Aptos"/>
              </a:rPr>
              <a:t> </a:t>
            </a:r>
            <a:r>
              <a:rPr lang="it-IT" sz="2500" b="1" err="1">
                <a:solidFill>
                  <a:srgbClr val="FF5A00"/>
                </a:solidFill>
                <a:latin typeface="Aptos"/>
              </a:rPr>
              <a:t>emerges</a:t>
            </a:r>
            <a:r>
              <a:rPr lang="it-IT" sz="2500" b="1">
                <a:solidFill>
                  <a:srgbClr val="FF5A00"/>
                </a:solidFill>
                <a:latin typeface="Aptos"/>
              </a:rPr>
              <a:t> from </a:t>
            </a:r>
            <a:r>
              <a:rPr lang="it-IT" sz="2500" b="1" err="1">
                <a:solidFill>
                  <a:srgbClr val="FF5A00"/>
                </a:solidFill>
                <a:latin typeface="Aptos"/>
              </a:rPr>
              <a:t>our</a:t>
            </a:r>
            <a:r>
              <a:rPr lang="it-IT" sz="2500" b="1">
                <a:solidFill>
                  <a:srgbClr val="FF5A00"/>
                </a:solidFill>
                <a:latin typeface="Aptos"/>
              </a:rPr>
              <a:t> </a:t>
            </a:r>
            <a:r>
              <a:rPr lang="it-IT" sz="2500" b="1" err="1">
                <a:solidFill>
                  <a:srgbClr val="FF5A00"/>
                </a:solidFill>
                <a:latin typeface="Aptos"/>
              </a:rPr>
              <a:t>uncertainty</a:t>
            </a:r>
            <a:r>
              <a:rPr lang="it-IT" sz="2500" b="1">
                <a:solidFill>
                  <a:srgbClr val="FF5A00"/>
                </a:solidFill>
                <a:latin typeface="Aptos"/>
              </a:rPr>
              <a:t> models.</a:t>
            </a:r>
          </a:p>
        </p:txBody>
      </p:sp>
    </p:spTree>
    <p:extLst>
      <p:ext uri="{BB962C8B-B14F-4D97-AF65-F5344CB8AC3E}">
        <p14:creationId xmlns:p14="http://schemas.microsoft.com/office/powerpoint/2010/main" val="4799962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1689A-7A9C-B0D9-2945-41CCA0958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237AFC6-E75E-FBF3-8D49-CFFFE7EB5BB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A3AB2B1-9663-8081-08FD-FAC812DF55B5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C419753-2990-17F8-11C3-08C19B7BF312}"/>
              </a:ext>
            </a:extLst>
          </p:cNvPr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74BAA1F-E30A-0210-AD03-56AE24C5F019}"/>
                </a:ext>
              </a:extLst>
            </p:cNvPr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E84A02C-D659-1858-9DAC-1F77703ECB05}"/>
              </a:ext>
            </a:extLst>
          </p:cNvPr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F446A1F-F54C-BA6A-1EF0-9F12EA56A84F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55DD2B1-8115-DCB5-AD87-25AD4E8ED76C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FA7FE014-AC67-82DC-1E05-1977060DA7D3}"/>
              </a:ext>
            </a:extLst>
          </p:cNvPr>
          <p:cNvSpPr txBox="1"/>
          <p:nvPr/>
        </p:nvSpPr>
        <p:spPr>
          <a:xfrm>
            <a:off x="228600" y="428758"/>
            <a:ext cx="7848600" cy="1426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Material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63A37B-5F0B-A882-6DD0-45D103083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325" y="3660722"/>
            <a:ext cx="3027338" cy="2965555"/>
          </a:xfrm>
          <a:prstGeom prst="rect">
            <a:avLst/>
          </a:prstGeom>
        </p:spPr>
      </p:pic>
      <p:sp>
        <p:nvSpPr>
          <p:cNvPr id="17" name="TextBox 9">
            <a:extLst>
              <a:ext uri="{FF2B5EF4-FFF2-40B4-BE49-F238E27FC236}">
                <a16:creationId xmlns:a16="http://schemas.microsoft.com/office/drawing/2014/main" id="{3EE327D9-C1E3-7DE9-57FB-FA1E789AB13E}"/>
              </a:ext>
            </a:extLst>
          </p:cNvPr>
          <p:cNvSpPr txBox="1"/>
          <p:nvPr/>
        </p:nvSpPr>
        <p:spPr>
          <a:xfrm>
            <a:off x="1038981" y="7129029"/>
            <a:ext cx="16210027" cy="1426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 b="1" err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FedericoDD</a:t>
            </a:r>
            <a:r>
              <a:rPr lang="en-US" sz="8600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/workshop-PX4/</a:t>
            </a:r>
          </a:p>
        </p:txBody>
      </p:sp>
    </p:spTree>
    <p:extLst>
      <p:ext uri="{BB962C8B-B14F-4D97-AF65-F5344CB8AC3E}">
        <p14:creationId xmlns:p14="http://schemas.microsoft.com/office/powerpoint/2010/main" val="30787404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/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28600" y="428758"/>
            <a:ext cx="3484126" cy="1467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Recap</a:t>
            </a:r>
          </a:p>
        </p:txBody>
      </p:sp>
      <p:pic>
        <p:nvPicPr>
          <p:cNvPr id="12" name="Graphic 11" descr="Tick with solid fill">
            <a:extLst>
              <a:ext uri="{FF2B5EF4-FFF2-40B4-BE49-F238E27FC236}">
                <a16:creationId xmlns:a16="http://schemas.microsoft.com/office/drawing/2014/main" id="{BBDE4BBB-A393-578B-1957-0829829F8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01" y="2724394"/>
            <a:ext cx="1720072" cy="1720072"/>
          </a:xfrm>
          <a:prstGeom prst="rect">
            <a:avLst/>
          </a:prstGeom>
        </p:spPr>
      </p:pic>
      <p:pic>
        <p:nvPicPr>
          <p:cNvPr id="14" name="Graphic 13" descr="Tick with solid fill">
            <a:extLst>
              <a:ext uri="{FF2B5EF4-FFF2-40B4-BE49-F238E27FC236}">
                <a16:creationId xmlns:a16="http://schemas.microsoft.com/office/drawing/2014/main" id="{23D2014F-1D59-C9C1-BA0B-E0D31BA127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01" y="4557775"/>
            <a:ext cx="1720072" cy="1720072"/>
          </a:xfrm>
          <a:prstGeom prst="rect">
            <a:avLst/>
          </a:prstGeom>
        </p:spPr>
      </p:pic>
      <p:pic>
        <p:nvPicPr>
          <p:cNvPr id="16" name="Graphic 15" descr="Tick with solid fill">
            <a:extLst>
              <a:ext uri="{FF2B5EF4-FFF2-40B4-BE49-F238E27FC236}">
                <a16:creationId xmlns:a16="http://schemas.microsoft.com/office/drawing/2014/main" id="{4DAABB01-AA6E-732D-3515-82BF5E6064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732" y="6391156"/>
            <a:ext cx="1720072" cy="17200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F66613-0B4D-4500-903F-63EBC7D8E428}"/>
              </a:ext>
            </a:extLst>
          </p:cNvPr>
          <p:cNvSpPr txBox="1"/>
          <p:nvPr/>
        </p:nvSpPr>
        <p:spPr>
          <a:xfrm>
            <a:off x="2438400" y="3238500"/>
            <a:ext cx="14224000" cy="914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4000" b="1">
                <a:solidFill>
                  <a:srgbClr val="F5F6F7"/>
                </a:solidFill>
                <a:latin typeface="Aptos"/>
              </a:rPr>
              <a:t>UNDERSTAND WHAT IS A SENSOR</a:t>
            </a:r>
            <a:endParaRPr lang="it-IT" sz="4000" b="1">
              <a:solidFill>
                <a:srgbClr val="F5F6F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F6C16-D6A6-4354-9B4F-D7CEB3C33469}"/>
              </a:ext>
            </a:extLst>
          </p:cNvPr>
          <p:cNvSpPr txBox="1"/>
          <p:nvPr/>
        </p:nvSpPr>
        <p:spPr>
          <a:xfrm>
            <a:off x="2438400" y="5067300"/>
            <a:ext cx="14224000" cy="914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4000" b="1">
                <a:solidFill>
                  <a:srgbClr val="F5F6F7"/>
                </a:solidFill>
                <a:latin typeface="Aptos"/>
              </a:rPr>
              <a:t>BUILD THE PREDICT / CORRECT LOGIC</a:t>
            </a:r>
            <a:endParaRPr lang="it-IT" sz="4000" b="1">
              <a:solidFill>
                <a:srgbClr val="F5F6F7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D43745-CAB9-4C07-9487-0747A124CD3B}"/>
              </a:ext>
            </a:extLst>
          </p:cNvPr>
          <p:cNvSpPr txBox="1"/>
          <p:nvPr/>
        </p:nvSpPr>
        <p:spPr>
          <a:xfrm>
            <a:off x="2438400" y="6896100"/>
            <a:ext cx="14224000" cy="914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4000" b="1">
                <a:solidFill>
                  <a:srgbClr val="F5F6F7"/>
                </a:solidFill>
                <a:latin typeface="Aptos"/>
              </a:rPr>
              <a:t>EXPLAIN WHY WE NEED SENSOR FUSION</a:t>
            </a:r>
            <a:endParaRPr lang="it-IT" sz="4000" b="1">
              <a:solidFill>
                <a:srgbClr val="F5F6F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798704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5B7FE-AD56-1D7F-F10A-056DE00A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5AB2F2-E637-F754-830A-3DD9E45DA3FD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F0EEF97-9267-C5E6-D39E-283181491684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5D35C8E-3CF0-644C-1F24-1C695FAC7D72}"/>
              </a:ext>
            </a:extLst>
          </p:cNvPr>
          <p:cNvGrpSpPr/>
          <p:nvPr/>
        </p:nvGrpSpPr>
        <p:grpSpPr>
          <a:xfrm>
            <a:off x="0" y="-25121"/>
            <a:ext cx="18288000" cy="2118431"/>
            <a:chOff x="0" y="0"/>
            <a:chExt cx="4816593" cy="55794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36017B-DEBE-D093-428A-2D49D033104E}"/>
                </a:ext>
              </a:extLst>
            </p:cNvPr>
            <p:cNvSpPr/>
            <p:nvPr/>
          </p:nvSpPr>
          <p:spPr>
            <a:xfrm>
              <a:off x="0" y="0"/>
              <a:ext cx="4816592" cy="557941"/>
            </a:xfrm>
            <a:custGeom>
              <a:avLst/>
              <a:gdLst/>
              <a:ahLst/>
              <a:cxnLst/>
              <a:rect l="l" t="t" r="r" b="b"/>
              <a:pathLst>
                <a:path w="4816592" h="557941">
                  <a:moveTo>
                    <a:pt x="0" y="0"/>
                  </a:moveTo>
                  <a:lnTo>
                    <a:pt x="4816592" y="0"/>
                  </a:lnTo>
                  <a:lnTo>
                    <a:pt x="4816592" y="557941"/>
                  </a:lnTo>
                  <a:lnTo>
                    <a:pt x="0" y="557941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720395D-43AD-46C4-3A49-C52A3CF31A48}"/>
                </a:ext>
              </a:extLst>
            </p:cNvPr>
            <p:cNvSpPr txBox="1"/>
            <p:nvPr/>
          </p:nvSpPr>
          <p:spPr>
            <a:xfrm>
              <a:off x="0" y="-38100"/>
              <a:ext cx="4816593" cy="596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2E51B43-7874-A5EE-3FCD-5FFF45BD864D}"/>
              </a:ext>
            </a:extLst>
          </p:cNvPr>
          <p:cNvGrpSpPr/>
          <p:nvPr/>
        </p:nvGrpSpPr>
        <p:grpSpPr>
          <a:xfrm>
            <a:off x="965177" y="3459531"/>
            <a:ext cx="4659691" cy="4918041"/>
            <a:chOff x="0" y="0"/>
            <a:chExt cx="1227244" cy="12952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CE398E9-5697-3029-9110-C297C3DA689F}"/>
                </a:ext>
              </a:extLst>
            </p:cNvPr>
            <p:cNvSpPr/>
            <p:nvPr/>
          </p:nvSpPr>
          <p:spPr>
            <a:xfrm>
              <a:off x="0" y="0"/>
              <a:ext cx="1227244" cy="1295287"/>
            </a:xfrm>
            <a:custGeom>
              <a:avLst/>
              <a:gdLst/>
              <a:ahLst/>
              <a:cxnLst/>
              <a:rect l="l" t="t" r="r" b="b"/>
              <a:pathLst>
                <a:path w="1227244" h="1295287">
                  <a:moveTo>
                    <a:pt x="84735" y="0"/>
                  </a:moveTo>
                  <a:lnTo>
                    <a:pt x="1142509" y="0"/>
                  </a:lnTo>
                  <a:cubicBezTo>
                    <a:pt x="1164982" y="0"/>
                    <a:pt x="1186534" y="8927"/>
                    <a:pt x="1202425" y="24818"/>
                  </a:cubicBezTo>
                  <a:cubicBezTo>
                    <a:pt x="1218316" y="40709"/>
                    <a:pt x="1227244" y="62262"/>
                    <a:pt x="1227244" y="84735"/>
                  </a:cubicBezTo>
                  <a:lnTo>
                    <a:pt x="1227244" y="1210552"/>
                  </a:lnTo>
                  <a:cubicBezTo>
                    <a:pt x="1227244" y="1257350"/>
                    <a:pt x="1189307" y="1295287"/>
                    <a:pt x="1142509" y="1295287"/>
                  </a:cubicBezTo>
                  <a:lnTo>
                    <a:pt x="84735" y="1295287"/>
                  </a:lnTo>
                  <a:cubicBezTo>
                    <a:pt x="37937" y="1295287"/>
                    <a:pt x="0" y="1257350"/>
                    <a:pt x="0" y="1210552"/>
                  </a:cubicBezTo>
                  <a:lnTo>
                    <a:pt x="0" y="84735"/>
                  </a:lnTo>
                  <a:cubicBezTo>
                    <a:pt x="0" y="37937"/>
                    <a:pt x="37937" y="0"/>
                    <a:pt x="847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9C35A1C-7580-EB3E-F2B8-9DAD79859988}"/>
                </a:ext>
              </a:extLst>
            </p:cNvPr>
            <p:cNvSpPr txBox="1"/>
            <p:nvPr/>
          </p:nvSpPr>
          <p:spPr>
            <a:xfrm>
              <a:off x="0" y="-38100"/>
              <a:ext cx="1227244" cy="1333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F60BB1F-CDAA-BA09-2D6D-B8168085A5C7}"/>
              </a:ext>
            </a:extLst>
          </p:cNvPr>
          <p:cNvGrpSpPr/>
          <p:nvPr/>
        </p:nvGrpSpPr>
        <p:grpSpPr>
          <a:xfrm>
            <a:off x="12599609" y="3459531"/>
            <a:ext cx="4659691" cy="4918041"/>
            <a:chOff x="0" y="0"/>
            <a:chExt cx="1227244" cy="1295287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BBB157A-053B-5559-307B-32FEEB8971F1}"/>
                </a:ext>
              </a:extLst>
            </p:cNvPr>
            <p:cNvSpPr/>
            <p:nvPr/>
          </p:nvSpPr>
          <p:spPr>
            <a:xfrm>
              <a:off x="0" y="0"/>
              <a:ext cx="1227244" cy="1295287"/>
            </a:xfrm>
            <a:custGeom>
              <a:avLst/>
              <a:gdLst/>
              <a:ahLst/>
              <a:cxnLst/>
              <a:rect l="l" t="t" r="r" b="b"/>
              <a:pathLst>
                <a:path w="1227244" h="1295287">
                  <a:moveTo>
                    <a:pt x="84735" y="0"/>
                  </a:moveTo>
                  <a:lnTo>
                    <a:pt x="1142509" y="0"/>
                  </a:lnTo>
                  <a:cubicBezTo>
                    <a:pt x="1164982" y="0"/>
                    <a:pt x="1186534" y="8927"/>
                    <a:pt x="1202425" y="24818"/>
                  </a:cubicBezTo>
                  <a:cubicBezTo>
                    <a:pt x="1218316" y="40709"/>
                    <a:pt x="1227244" y="62262"/>
                    <a:pt x="1227244" y="84735"/>
                  </a:cubicBezTo>
                  <a:lnTo>
                    <a:pt x="1227244" y="1210552"/>
                  </a:lnTo>
                  <a:cubicBezTo>
                    <a:pt x="1227244" y="1257350"/>
                    <a:pt x="1189307" y="1295287"/>
                    <a:pt x="1142509" y="1295287"/>
                  </a:cubicBezTo>
                  <a:lnTo>
                    <a:pt x="84735" y="1295287"/>
                  </a:lnTo>
                  <a:cubicBezTo>
                    <a:pt x="37937" y="1295287"/>
                    <a:pt x="0" y="1257350"/>
                    <a:pt x="0" y="1210552"/>
                  </a:cubicBezTo>
                  <a:lnTo>
                    <a:pt x="0" y="84735"/>
                  </a:lnTo>
                  <a:cubicBezTo>
                    <a:pt x="0" y="37937"/>
                    <a:pt x="37937" y="0"/>
                    <a:pt x="847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B49B667-E0C0-916E-4154-A9B89147D892}"/>
                </a:ext>
              </a:extLst>
            </p:cNvPr>
            <p:cNvSpPr txBox="1"/>
            <p:nvPr/>
          </p:nvSpPr>
          <p:spPr>
            <a:xfrm>
              <a:off x="0" y="-38100"/>
              <a:ext cx="1227244" cy="1333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9C9E486-F361-60EC-57CD-9BEB748DDC49}"/>
              </a:ext>
            </a:extLst>
          </p:cNvPr>
          <p:cNvGrpSpPr/>
          <p:nvPr/>
        </p:nvGrpSpPr>
        <p:grpSpPr>
          <a:xfrm>
            <a:off x="6782393" y="3459531"/>
            <a:ext cx="4659691" cy="4918041"/>
            <a:chOff x="0" y="0"/>
            <a:chExt cx="1227244" cy="1295287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07CD29D-AB5D-00BD-0A8B-16CB1E017C10}"/>
                </a:ext>
              </a:extLst>
            </p:cNvPr>
            <p:cNvSpPr/>
            <p:nvPr/>
          </p:nvSpPr>
          <p:spPr>
            <a:xfrm>
              <a:off x="0" y="0"/>
              <a:ext cx="1227244" cy="1295287"/>
            </a:xfrm>
            <a:custGeom>
              <a:avLst/>
              <a:gdLst/>
              <a:ahLst/>
              <a:cxnLst/>
              <a:rect l="l" t="t" r="r" b="b"/>
              <a:pathLst>
                <a:path w="1227244" h="1295287">
                  <a:moveTo>
                    <a:pt x="84735" y="0"/>
                  </a:moveTo>
                  <a:lnTo>
                    <a:pt x="1142509" y="0"/>
                  </a:lnTo>
                  <a:cubicBezTo>
                    <a:pt x="1164982" y="0"/>
                    <a:pt x="1186534" y="8927"/>
                    <a:pt x="1202425" y="24818"/>
                  </a:cubicBezTo>
                  <a:cubicBezTo>
                    <a:pt x="1218316" y="40709"/>
                    <a:pt x="1227244" y="62262"/>
                    <a:pt x="1227244" y="84735"/>
                  </a:cubicBezTo>
                  <a:lnTo>
                    <a:pt x="1227244" y="1210552"/>
                  </a:lnTo>
                  <a:cubicBezTo>
                    <a:pt x="1227244" y="1257350"/>
                    <a:pt x="1189307" y="1295287"/>
                    <a:pt x="1142509" y="1295287"/>
                  </a:cubicBezTo>
                  <a:lnTo>
                    <a:pt x="84735" y="1295287"/>
                  </a:lnTo>
                  <a:cubicBezTo>
                    <a:pt x="37937" y="1295287"/>
                    <a:pt x="0" y="1257350"/>
                    <a:pt x="0" y="1210552"/>
                  </a:cubicBezTo>
                  <a:lnTo>
                    <a:pt x="0" y="84735"/>
                  </a:lnTo>
                  <a:cubicBezTo>
                    <a:pt x="0" y="37937"/>
                    <a:pt x="37937" y="0"/>
                    <a:pt x="847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DA9C48E-E872-92AD-7BF7-D61C468B8BFB}"/>
                </a:ext>
              </a:extLst>
            </p:cNvPr>
            <p:cNvSpPr txBox="1"/>
            <p:nvPr/>
          </p:nvSpPr>
          <p:spPr>
            <a:xfrm>
              <a:off x="0" y="-38100"/>
              <a:ext cx="1227244" cy="1333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AutoShape 16">
            <a:extLst>
              <a:ext uri="{FF2B5EF4-FFF2-40B4-BE49-F238E27FC236}">
                <a16:creationId xmlns:a16="http://schemas.microsoft.com/office/drawing/2014/main" id="{DA9BE683-8C2E-B2BE-9E03-3EFEF77F7178}"/>
              </a:ext>
            </a:extLst>
          </p:cNvPr>
          <p:cNvSpPr/>
          <p:nvPr/>
        </p:nvSpPr>
        <p:spPr>
          <a:xfrm>
            <a:off x="5916800" y="5918552"/>
            <a:ext cx="573661" cy="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B80011B0-C735-61B2-E497-DF09AB93ABE2}"/>
              </a:ext>
            </a:extLst>
          </p:cNvPr>
          <p:cNvSpPr/>
          <p:nvPr/>
        </p:nvSpPr>
        <p:spPr>
          <a:xfrm>
            <a:off x="11737359" y="5899502"/>
            <a:ext cx="573661" cy="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E405539A-4D4E-85E6-3529-52E08D175F3B}"/>
              </a:ext>
            </a:extLst>
          </p:cNvPr>
          <p:cNvSpPr/>
          <p:nvPr/>
        </p:nvSpPr>
        <p:spPr>
          <a:xfrm>
            <a:off x="965177" y="4821209"/>
            <a:ext cx="4659691" cy="1905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A537611B-3251-4559-B680-805114565B64}"/>
              </a:ext>
            </a:extLst>
          </p:cNvPr>
          <p:cNvSpPr/>
          <p:nvPr/>
        </p:nvSpPr>
        <p:spPr>
          <a:xfrm flipV="1">
            <a:off x="6814155" y="4840259"/>
            <a:ext cx="4595925" cy="1905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CA23CD50-FA23-D973-2CB7-481967C798A8}"/>
              </a:ext>
            </a:extLst>
          </p:cNvPr>
          <p:cNvSpPr/>
          <p:nvPr/>
        </p:nvSpPr>
        <p:spPr>
          <a:xfrm>
            <a:off x="12599532" y="4811684"/>
            <a:ext cx="4659691" cy="1905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58A6809-D4FC-27F6-F6B1-016CDE9F641A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3DA1D12-CAED-4AC7-F601-784F0D0BCE47}"/>
              </a:ext>
            </a:extLst>
          </p:cNvPr>
          <p:cNvSpPr txBox="1"/>
          <p:nvPr/>
        </p:nvSpPr>
        <p:spPr>
          <a:xfrm>
            <a:off x="281837" y="284523"/>
            <a:ext cx="18288000" cy="146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40"/>
              </a:lnSpc>
            </a:pPr>
            <a:r>
              <a:rPr lang="en-US" sz="8800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Next time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B306BB1-F039-67A2-E735-A915B50796EF}"/>
              </a:ext>
            </a:extLst>
          </p:cNvPr>
          <p:cNvSpPr txBox="1"/>
          <p:nvPr/>
        </p:nvSpPr>
        <p:spPr>
          <a:xfrm>
            <a:off x="1370139" y="3826519"/>
            <a:ext cx="1940662" cy="62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000000"/>
                </a:solidFill>
                <a:latin typeface="Montserrat 1"/>
                <a:ea typeface="Montserrat 1"/>
                <a:cs typeface="Montserrat 1"/>
                <a:sym typeface="Montserrat 1"/>
              </a:rPr>
              <a:t>Lesson 1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B2FE38E-7A14-45D7-8053-74FB93B892AA}"/>
              </a:ext>
            </a:extLst>
          </p:cNvPr>
          <p:cNvSpPr txBox="1"/>
          <p:nvPr/>
        </p:nvSpPr>
        <p:spPr>
          <a:xfrm>
            <a:off x="12956826" y="3826519"/>
            <a:ext cx="2206973" cy="62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000000"/>
                </a:solidFill>
                <a:latin typeface="Montserrat 1"/>
                <a:ea typeface="Montserrat 1"/>
                <a:cs typeface="Montserrat 1"/>
                <a:sym typeface="Montserrat 1"/>
              </a:rPr>
              <a:t>Lesson 3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E3A2027-D05D-100B-97AA-2CF5B112A6AB}"/>
              </a:ext>
            </a:extLst>
          </p:cNvPr>
          <p:cNvSpPr txBox="1"/>
          <p:nvPr/>
        </p:nvSpPr>
        <p:spPr>
          <a:xfrm>
            <a:off x="7138658" y="3826519"/>
            <a:ext cx="2157742" cy="62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000000"/>
                </a:solidFill>
                <a:latin typeface="Montserrat 1"/>
                <a:ea typeface="Montserrat 1"/>
                <a:cs typeface="Montserrat 1"/>
                <a:sym typeface="Montserrat 1"/>
              </a:rPr>
              <a:t>Lesson 2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73D6B2C-7905-576E-A899-8061762764A4}"/>
              </a:ext>
            </a:extLst>
          </p:cNvPr>
          <p:cNvSpPr txBox="1"/>
          <p:nvPr/>
        </p:nvSpPr>
        <p:spPr>
          <a:xfrm>
            <a:off x="7293660" y="4978629"/>
            <a:ext cx="3734549" cy="99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ESTIMATE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F589CFD-2B16-28C2-393B-889C9EAB0F9A}"/>
              </a:ext>
            </a:extLst>
          </p:cNvPr>
          <p:cNvSpPr txBox="1"/>
          <p:nvPr/>
        </p:nvSpPr>
        <p:spPr>
          <a:xfrm>
            <a:off x="13079887" y="4927327"/>
            <a:ext cx="3797014" cy="99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PERCEIVE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F5FE1D4-CE3A-D32A-580A-201565490BDE}"/>
              </a:ext>
            </a:extLst>
          </p:cNvPr>
          <p:cNvSpPr txBox="1"/>
          <p:nvPr/>
        </p:nvSpPr>
        <p:spPr>
          <a:xfrm>
            <a:off x="2034140" y="5029200"/>
            <a:ext cx="2406546" cy="99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BUILD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D6C47E5-2817-0D63-66D8-FD46D4214EB5}"/>
              </a:ext>
            </a:extLst>
          </p:cNvPr>
          <p:cNvSpPr txBox="1"/>
          <p:nvPr/>
        </p:nvSpPr>
        <p:spPr>
          <a:xfrm>
            <a:off x="1370219" y="6630025"/>
            <a:ext cx="3882628" cy="703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61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Hardware, PX4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60335B6-F11D-6199-C4BE-36CFDF5C0349}"/>
              </a:ext>
            </a:extLst>
          </p:cNvPr>
          <p:cNvSpPr txBox="1"/>
          <p:nvPr/>
        </p:nvSpPr>
        <p:spPr>
          <a:xfrm>
            <a:off x="7780139" y="6630025"/>
            <a:ext cx="2727722" cy="703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61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IMU + EKF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2675256-231D-AE30-F990-DEA440FC7C7D}"/>
              </a:ext>
            </a:extLst>
          </p:cNvPr>
          <p:cNvSpPr txBox="1"/>
          <p:nvPr/>
        </p:nvSpPr>
        <p:spPr>
          <a:xfrm>
            <a:off x="11737359" y="6482939"/>
            <a:ext cx="6350718" cy="1437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61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Camera + Visual Odometry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1DC9D448-6CD6-8449-EA70-CD8143135C94}"/>
              </a:ext>
            </a:extLst>
          </p:cNvPr>
          <p:cNvSpPr txBox="1"/>
          <p:nvPr/>
        </p:nvSpPr>
        <p:spPr>
          <a:xfrm>
            <a:off x="2386944" y="8466710"/>
            <a:ext cx="1880255" cy="920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  <a:spcBef>
                <a:spcPct val="0"/>
              </a:spcBef>
            </a:pPr>
            <a:r>
              <a:rPr lang="en-US" sz="5378">
                <a:solidFill>
                  <a:srgbClr val="FF6300"/>
                </a:solidFill>
                <a:latin typeface="Montserrat 1"/>
                <a:ea typeface="Montserrat 1"/>
                <a:cs typeface="Montserrat 1"/>
                <a:sym typeface="Montserrat 1"/>
              </a:rPr>
              <a:t>07/10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162B1A80-6264-E556-AC17-30B7FED73733}"/>
              </a:ext>
            </a:extLst>
          </p:cNvPr>
          <p:cNvSpPr txBox="1"/>
          <p:nvPr/>
        </p:nvSpPr>
        <p:spPr>
          <a:xfrm>
            <a:off x="8252071" y="8405750"/>
            <a:ext cx="1893927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  <a:spcBef>
                <a:spcPct val="0"/>
              </a:spcBef>
            </a:pPr>
            <a:r>
              <a:rPr lang="en-US" sz="5378">
                <a:solidFill>
                  <a:srgbClr val="FF6300"/>
                </a:solidFill>
                <a:latin typeface="Montserrat 1"/>
                <a:ea typeface="Montserrat 1"/>
                <a:cs typeface="Montserrat 1"/>
                <a:sym typeface="Montserrat 1"/>
              </a:rPr>
              <a:t>14/10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695DFE0-EF10-07C3-D723-B960623885DB}"/>
              </a:ext>
            </a:extLst>
          </p:cNvPr>
          <p:cNvSpPr txBox="1"/>
          <p:nvPr/>
        </p:nvSpPr>
        <p:spPr>
          <a:xfrm>
            <a:off x="14077146" y="8420990"/>
            <a:ext cx="1811298" cy="905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  <a:spcBef>
                <a:spcPct val="0"/>
              </a:spcBef>
            </a:pPr>
            <a:r>
              <a:rPr lang="en-US" sz="5378">
                <a:solidFill>
                  <a:srgbClr val="FF6300"/>
                </a:solidFill>
                <a:latin typeface="Montserrat 1"/>
                <a:ea typeface="Montserrat 1"/>
                <a:cs typeface="Montserrat 1"/>
                <a:sym typeface="Montserrat 1"/>
              </a:rPr>
              <a:t>21/10</a:t>
            </a:r>
          </a:p>
        </p:txBody>
      </p:sp>
      <p:pic>
        <p:nvPicPr>
          <p:cNvPr id="37" name="Graphic 36" descr="Tick with solid fill">
            <a:extLst>
              <a:ext uri="{FF2B5EF4-FFF2-40B4-BE49-F238E27FC236}">
                <a16:creationId xmlns:a16="http://schemas.microsoft.com/office/drawing/2014/main" id="{3B1224FF-EF20-59B3-DF6E-F567125FC0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1824" y="2945925"/>
            <a:ext cx="1720072" cy="1720072"/>
          </a:xfrm>
          <a:prstGeom prst="rect">
            <a:avLst/>
          </a:prstGeom>
        </p:spPr>
      </p:pic>
      <p:pic>
        <p:nvPicPr>
          <p:cNvPr id="36" name="Graphic 35" descr="Tick with solid fill">
            <a:extLst>
              <a:ext uri="{FF2B5EF4-FFF2-40B4-BE49-F238E27FC236}">
                <a16:creationId xmlns:a16="http://schemas.microsoft.com/office/drawing/2014/main" id="{DF8B6838-852D-B9C2-FCD5-6947060830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207" y="2945925"/>
            <a:ext cx="1720072" cy="172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390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DE56B-6319-65E1-8E3F-6D632CA9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99EFBB-4083-B8DE-0295-4B4FA8AD349F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68A7C7B-AAC4-B8DB-6A49-8A0EB1E7B93F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895408F-F124-DBFD-786F-1439416441DF}"/>
              </a:ext>
            </a:extLst>
          </p:cNvPr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1F97944-AB3E-AE3E-9280-4480718CAB54}"/>
                </a:ext>
              </a:extLst>
            </p:cNvPr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12DE72-3145-6C68-63DC-FC331034AFB0}"/>
                </a:ext>
              </a:extLst>
            </p:cNvPr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DCA5306C-4E62-107B-7383-C6C02A4B70C5}"/>
              </a:ext>
            </a:extLst>
          </p:cNvPr>
          <p:cNvSpPr txBox="1"/>
          <p:nvPr/>
        </p:nvSpPr>
        <p:spPr>
          <a:xfrm>
            <a:off x="423362" y="3451504"/>
            <a:ext cx="18552543" cy="171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Thank you!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D14A502-3E66-8029-2813-E8683B585711}"/>
              </a:ext>
            </a:extLst>
          </p:cNvPr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DCEA302-A21A-6F96-4883-771DD81843E9}"/>
                </a:ext>
              </a:extLst>
            </p:cNvPr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E2A99F7-D2DE-9651-73BE-BD8DB0DBB5F7}"/>
                </a:ext>
              </a:extLst>
            </p:cNvPr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46C2D0DF-B06F-4A34-1C0B-5B0FA4F12BB2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53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45CFBE-3847-4FC5-892C-60F0C3B13F7F}">
  <we:reference id="WA200010215" version="2.0.0.1" store="Omex" storeType="OMEX"/>
  <we:alternateReferences>
    <we:reference id="WA200010215" version="2.0.0.1" store="WA200010215" storeType="OMEX"/>
  </we:alternateReferences>
  <we:properties>
    <we:property name="bps.codex_control.document_id" value="&quot;d810b34a-a91b-4bc9-8529-fe0b2556399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5116</Words>
  <Application>Microsoft Office PowerPoint</Application>
  <PresentationFormat>Personalizzato</PresentationFormat>
  <Paragraphs>696</Paragraphs>
  <Slides>68</Slides>
  <Notes>4</Notes>
  <HiddenSlides>2</HiddenSlides>
  <MMClips>0</MMClips>
  <ScaleCrop>false</ScaleCrop>
  <HeadingPairs>
    <vt:vector size="6" baseType="variant">
      <vt:variant>
        <vt:lpstr>Caratteri utilizzati</vt:lpstr>
      </vt:variant>
      <vt:variant>
        <vt:i4>14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68</vt:i4>
      </vt:variant>
    </vt:vector>
  </HeadingPairs>
  <TitlesOfParts>
    <vt:vector size="83" baseType="lpstr">
      <vt:lpstr>Montserrat 1</vt:lpstr>
      <vt:lpstr>Calibri</vt:lpstr>
      <vt:lpstr>Montserrat 2 Bold Italics</vt:lpstr>
      <vt:lpstr>Roboto Bold</vt:lpstr>
      <vt:lpstr>Montserrat 2 Medium</vt:lpstr>
      <vt:lpstr>Roboto Mono Bold</vt:lpstr>
      <vt:lpstr>Montserrat 2 Bold</vt:lpstr>
      <vt:lpstr>Aptos</vt:lpstr>
      <vt:lpstr>Consolas</vt:lpstr>
      <vt:lpstr>Montserrat 1 Bold</vt:lpstr>
      <vt:lpstr>Cambria Math</vt:lpstr>
      <vt:lpstr>Phoenix Square</vt:lpstr>
      <vt:lpstr>Montserrat 2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Drones and Perception</dc:title>
  <dc:creator>Luca Attorrese</dc:creator>
  <cp:lastModifiedBy>Luca Attorrese</cp:lastModifiedBy>
  <cp:revision>1</cp:revision>
  <dcterms:created xsi:type="dcterms:W3CDTF">2006-08-16T00:00:00Z</dcterms:created>
  <dcterms:modified xsi:type="dcterms:W3CDTF">2026-10-18T14:16:37Z</dcterms:modified>
  <dc:identifier>DAHXK88N3co</dc:identifier>
</cp:coreProperties>
</file>